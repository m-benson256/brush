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52" r:id="rId1"/>
  </p:sldMasterIdLst>
  <p:notesMasterIdLst>
    <p:notesMasterId r:id="rId86"/>
  </p:notesMasterIdLst>
  <p:handoutMasterIdLst>
    <p:handoutMasterId r:id="rId87"/>
  </p:handoutMasterIdLst>
  <p:sldIdLst>
    <p:sldId id="276" r:id="rId2"/>
    <p:sldId id="333" r:id="rId3"/>
    <p:sldId id="335" r:id="rId4"/>
    <p:sldId id="337" r:id="rId5"/>
    <p:sldId id="470" r:id="rId6"/>
    <p:sldId id="474" r:id="rId7"/>
    <p:sldId id="259" r:id="rId8"/>
    <p:sldId id="471" r:id="rId9"/>
    <p:sldId id="260" r:id="rId10"/>
    <p:sldId id="261" r:id="rId11"/>
    <p:sldId id="481" r:id="rId12"/>
    <p:sldId id="472" r:id="rId13"/>
    <p:sldId id="478" r:id="rId14"/>
    <p:sldId id="359" r:id="rId15"/>
    <p:sldId id="479" r:id="rId16"/>
    <p:sldId id="339" r:id="rId17"/>
    <p:sldId id="340" r:id="rId18"/>
    <p:sldId id="341" r:id="rId19"/>
    <p:sldId id="362" r:id="rId20"/>
    <p:sldId id="344" r:id="rId21"/>
    <p:sldId id="345" r:id="rId22"/>
    <p:sldId id="353" r:id="rId23"/>
    <p:sldId id="356" r:id="rId24"/>
    <p:sldId id="365" r:id="rId25"/>
    <p:sldId id="367" r:id="rId26"/>
    <p:sldId id="368" r:id="rId27"/>
    <p:sldId id="484" r:id="rId28"/>
    <p:sldId id="369" r:id="rId29"/>
    <p:sldId id="371" r:id="rId30"/>
    <p:sldId id="483" r:id="rId31"/>
    <p:sldId id="372" r:id="rId32"/>
    <p:sldId id="373" r:id="rId33"/>
    <p:sldId id="374" r:id="rId34"/>
    <p:sldId id="375" r:id="rId35"/>
    <p:sldId id="403" r:id="rId36"/>
    <p:sldId id="407" r:id="rId37"/>
    <p:sldId id="408" r:id="rId38"/>
    <p:sldId id="409" r:id="rId39"/>
    <p:sldId id="410" r:id="rId40"/>
    <p:sldId id="411" r:id="rId41"/>
    <p:sldId id="412" r:id="rId42"/>
    <p:sldId id="413" r:id="rId43"/>
    <p:sldId id="414" r:id="rId44"/>
    <p:sldId id="415" r:id="rId45"/>
    <p:sldId id="416" r:id="rId46"/>
    <p:sldId id="417" r:id="rId47"/>
    <p:sldId id="475" r:id="rId48"/>
    <p:sldId id="476" r:id="rId49"/>
    <p:sldId id="421" r:id="rId50"/>
    <p:sldId id="422" r:id="rId51"/>
    <p:sldId id="423" r:id="rId52"/>
    <p:sldId id="424" r:id="rId53"/>
    <p:sldId id="425" r:id="rId54"/>
    <p:sldId id="426" r:id="rId55"/>
    <p:sldId id="427" r:id="rId56"/>
    <p:sldId id="477" r:id="rId57"/>
    <p:sldId id="428" r:id="rId58"/>
    <p:sldId id="430" r:id="rId59"/>
    <p:sldId id="432" r:id="rId60"/>
    <p:sldId id="433" r:id="rId61"/>
    <p:sldId id="434" r:id="rId62"/>
    <p:sldId id="436" r:id="rId63"/>
    <p:sldId id="437" r:id="rId64"/>
    <p:sldId id="438" r:id="rId65"/>
    <p:sldId id="439" r:id="rId66"/>
    <p:sldId id="440" r:id="rId67"/>
    <p:sldId id="441" r:id="rId68"/>
    <p:sldId id="442" r:id="rId69"/>
    <p:sldId id="445" r:id="rId70"/>
    <p:sldId id="448" r:id="rId71"/>
    <p:sldId id="450" r:id="rId72"/>
    <p:sldId id="452" r:id="rId73"/>
    <p:sldId id="457" r:id="rId74"/>
    <p:sldId id="458" r:id="rId75"/>
    <p:sldId id="459" r:id="rId76"/>
    <p:sldId id="460" r:id="rId77"/>
    <p:sldId id="461" r:id="rId78"/>
    <p:sldId id="462" r:id="rId79"/>
    <p:sldId id="463" r:id="rId80"/>
    <p:sldId id="464" r:id="rId81"/>
    <p:sldId id="466" r:id="rId82"/>
    <p:sldId id="467" r:id="rId83"/>
    <p:sldId id="468" r:id="rId84"/>
    <p:sldId id="469" r:id="rId85"/>
  </p:sldIdLst>
  <p:sldSz cx="9144000" cy="6858000" type="screen4x3"/>
  <p:notesSz cx="6881813" cy="9296400"/>
  <p:defaultTextStyle>
    <a:defPPr>
      <a:defRPr lang="en-GB"/>
    </a:defPPr>
    <a:lvl1pPr algn="l" rtl="0" fontAlgn="base">
      <a:spcBef>
        <a:spcPct val="0"/>
      </a:spcBef>
      <a:spcAft>
        <a:spcPct val="0"/>
      </a:spcAft>
      <a:defRPr sz="2400" kern="1200">
        <a:solidFill>
          <a:schemeClr val="tx1"/>
        </a:solidFill>
        <a:latin typeface="Tahoma"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Tahoma"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Tahoma"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Tahoma"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Tahoma" pitchFamily="34" charset="0"/>
        <a:ea typeface="ＭＳ Ｐゴシック" pitchFamily="34" charset="-128"/>
        <a:cs typeface="+mn-cs"/>
      </a:defRPr>
    </a:lvl5pPr>
    <a:lvl6pPr marL="2286000" algn="l" defTabSz="914400" rtl="0" eaLnBrk="1" latinLnBrk="0" hangingPunct="1">
      <a:defRPr sz="2400" kern="1200">
        <a:solidFill>
          <a:schemeClr val="tx1"/>
        </a:solidFill>
        <a:latin typeface="Tahoma" pitchFamily="34" charset="0"/>
        <a:ea typeface="ＭＳ Ｐゴシック" pitchFamily="34" charset="-128"/>
        <a:cs typeface="+mn-cs"/>
      </a:defRPr>
    </a:lvl6pPr>
    <a:lvl7pPr marL="2743200" algn="l" defTabSz="914400" rtl="0" eaLnBrk="1" latinLnBrk="0" hangingPunct="1">
      <a:defRPr sz="2400" kern="1200">
        <a:solidFill>
          <a:schemeClr val="tx1"/>
        </a:solidFill>
        <a:latin typeface="Tahoma" pitchFamily="34" charset="0"/>
        <a:ea typeface="ＭＳ Ｐゴシック" pitchFamily="34" charset="-128"/>
        <a:cs typeface="+mn-cs"/>
      </a:defRPr>
    </a:lvl7pPr>
    <a:lvl8pPr marL="3200400" algn="l" defTabSz="914400" rtl="0" eaLnBrk="1" latinLnBrk="0" hangingPunct="1">
      <a:defRPr sz="2400" kern="1200">
        <a:solidFill>
          <a:schemeClr val="tx1"/>
        </a:solidFill>
        <a:latin typeface="Tahoma" pitchFamily="34" charset="0"/>
        <a:ea typeface="ＭＳ Ｐゴシック" pitchFamily="34" charset="-128"/>
        <a:cs typeface="+mn-cs"/>
      </a:defRPr>
    </a:lvl8pPr>
    <a:lvl9pPr marL="3657600" algn="l" defTabSz="914400" rtl="0" eaLnBrk="1" latinLnBrk="0" hangingPunct="1">
      <a:defRPr sz="2400" kern="1200">
        <a:solidFill>
          <a:schemeClr val="tx1"/>
        </a:solidFill>
        <a:latin typeface="Tahoma"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20" autoAdjust="0"/>
  </p:normalViewPr>
  <p:slideViewPr>
    <p:cSldViewPr>
      <p:cViewPr varScale="1">
        <p:scale>
          <a:sx n="40" d="100"/>
          <a:sy n="40" d="100"/>
        </p:scale>
        <p:origin x="1224" y="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572" y="-102"/>
      </p:cViewPr>
      <p:guideLst>
        <p:guide orient="horz" pos="2928"/>
        <p:guide pos="216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sz="1200" kern="1200">
        <a:solidFill>
          <a:schemeClr val="tx1"/>
        </a:solidFill>
        <a:latin typeface="Times New Roman" charset="0"/>
        <a:ea typeface="ＭＳ Ｐゴシック" pitchFamily="-105" charset="-128"/>
        <a:cs typeface="ＭＳ Ｐゴシック" pitchFamily="-105" charset="-128"/>
      </a:defRPr>
    </a:lvl1pPr>
    <a:lvl2pPr marL="457200" algn="l" defTabSz="762000" rtl="0" eaLnBrk="0" fontAlgn="base" hangingPunct="0">
      <a:spcBef>
        <a:spcPct val="30000"/>
      </a:spcBef>
      <a:spcAft>
        <a:spcPct val="0"/>
      </a:spcAft>
      <a:defRPr sz="1200" kern="1200">
        <a:solidFill>
          <a:schemeClr val="tx1"/>
        </a:solidFill>
        <a:latin typeface="Times New Roman" charset="0"/>
        <a:ea typeface="ＭＳ Ｐゴシック" pitchFamily="-105" charset="-128"/>
        <a:cs typeface="+mn-cs"/>
      </a:defRPr>
    </a:lvl2pPr>
    <a:lvl3pPr marL="914400" algn="l" defTabSz="762000" rtl="0" eaLnBrk="0" fontAlgn="base" hangingPunct="0">
      <a:spcBef>
        <a:spcPct val="30000"/>
      </a:spcBef>
      <a:spcAft>
        <a:spcPct val="0"/>
      </a:spcAft>
      <a:defRPr sz="1200" kern="1200">
        <a:solidFill>
          <a:schemeClr val="tx1"/>
        </a:solidFill>
        <a:latin typeface="Times New Roman" charset="0"/>
        <a:ea typeface="ＭＳ Ｐゴシック" pitchFamily="-105" charset="-128"/>
        <a:cs typeface="+mn-cs"/>
      </a:defRPr>
    </a:lvl3pPr>
    <a:lvl4pPr marL="1371600" algn="l" defTabSz="762000" rtl="0" eaLnBrk="0" fontAlgn="base" hangingPunct="0">
      <a:spcBef>
        <a:spcPct val="30000"/>
      </a:spcBef>
      <a:spcAft>
        <a:spcPct val="0"/>
      </a:spcAft>
      <a:defRPr sz="1200" kern="1200">
        <a:solidFill>
          <a:schemeClr val="tx1"/>
        </a:solidFill>
        <a:latin typeface="Times New Roman" charset="0"/>
        <a:ea typeface="ＭＳ Ｐゴシック" pitchFamily="-105" charset="-128"/>
        <a:cs typeface="+mn-cs"/>
      </a:defRPr>
    </a:lvl4pPr>
    <a:lvl5pPr marL="1828800" algn="l" defTabSz="762000" rtl="0" eaLnBrk="0" fontAlgn="base" hangingPunct="0">
      <a:spcBef>
        <a:spcPct val="30000"/>
      </a:spcBef>
      <a:spcAft>
        <a:spcPct val="0"/>
      </a:spcAft>
      <a:defRPr sz="1200" kern="1200">
        <a:solidFill>
          <a:schemeClr val="tx1"/>
        </a:solidFill>
        <a:latin typeface="Times New Roman" charset="0"/>
        <a:ea typeface="ＭＳ Ｐゴシック" pitchFamily="-10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xfrm>
            <a:off x="1117600" y="698500"/>
            <a:ext cx="4646613" cy="3486150"/>
          </a:xfrm>
          <a:prstGeom prst="rect">
            <a:avLst/>
          </a:prstGeom>
          <a:noFill/>
          <a:ln>
            <a:solidFill>
              <a:srgbClr val="000000"/>
            </a:solidFill>
            <a:miter lim="800000"/>
            <a:headEnd/>
            <a:tailEnd/>
          </a:ln>
        </p:spPr>
      </p:sp>
      <p:sp>
        <p:nvSpPr>
          <p:cNvPr id="81923" name="Rectangle 3"/>
          <p:cNvSpPr>
            <a:spLocks noGrp="1" noChangeArrowheads="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a:latin typeface="Times New Roman" pitchFamily="18" charset="0"/>
              <a:ea typeface="ＭＳ Ｐゴシック"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7600" y="696913"/>
            <a:ext cx="4648200" cy="3486150"/>
          </a:xfrm>
          <a:prstGeom prst="rect">
            <a:avLst/>
          </a:prstGeom>
          <a:noFill/>
          <a:ln w="12700">
            <a:solidFill>
              <a:prstClr val="black"/>
            </a:solidFill>
          </a:ln>
        </p:spPr>
      </p:sp>
      <p:sp>
        <p:nvSpPr>
          <p:cNvPr id="3" name="Notes Placeholder 2"/>
          <p:cNvSpPr>
            <a:spLocks noGrp="1"/>
          </p:cNvSpPr>
          <p:nvPr>
            <p:ph type="body" idx="1"/>
          </p:nvPr>
        </p:nvSpPr>
        <p:spPr>
          <a:xfrm>
            <a:off x="688975" y="4416425"/>
            <a:ext cx="5505450" cy="4183063"/>
          </a:xfrm>
          <a:prstGeom prst="rect">
            <a:avLst/>
          </a:prstGeom>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4294967295"/>
          </p:nvPr>
        </p:nvSpPr>
        <p:spPr bwMode="auto">
          <a:xfrm>
            <a:off x="3897902" y="8830659"/>
            <a:ext cx="2982418" cy="464205"/>
          </a:xfrm>
          <a:prstGeom prst="rect">
            <a:avLst/>
          </a:prstGeom>
          <a:noFill/>
          <a:ln>
            <a:miter lim="800000"/>
            <a:headEnd/>
            <a:tailEnd/>
          </a:ln>
        </p:spPr>
        <p:txBody>
          <a:bodyPr lIns="87444" tIns="43722" rIns="87444" bIns="43722"/>
          <a:lstStyle/>
          <a:p>
            <a:fld id="{372138FC-31FD-4B27-9243-36BD44836C61}" type="slidenum">
              <a:rPr lang="en-US">
                <a:latin typeface="Arial" charset="0"/>
              </a:rPr>
              <a:pPr/>
              <a:t>6</a:t>
            </a:fld>
            <a:endParaRPr lang="en-US">
              <a:latin typeface="Arial" charset="0"/>
            </a:endParaRPr>
          </a:p>
        </p:txBody>
      </p:sp>
      <p:sp>
        <p:nvSpPr>
          <p:cNvPr id="40963" name="Slide Image Placeholder 1"/>
          <p:cNvSpPr>
            <a:spLocks noGrp="1" noRot="1" noChangeAspect="1" noTextEdit="1"/>
          </p:cNvSpPr>
          <p:nvPr>
            <p:ph type="sldImg"/>
          </p:nvPr>
        </p:nvSpPr>
        <p:spPr bwMode="auto">
          <a:xfrm>
            <a:off x="1119188" y="700088"/>
            <a:ext cx="4645025" cy="3484562"/>
          </a:xfrm>
          <a:prstGeom prst="rect">
            <a:avLst/>
          </a:prstGeom>
          <a:noFill/>
          <a:ln w="12700">
            <a:miter lim="800000"/>
            <a:headEnd/>
            <a:tailEnd/>
          </a:ln>
        </p:spPr>
      </p:sp>
      <p:sp>
        <p:nvSpPr>
          <p:cNvPr id="40964" name="Notes Placeholder 2"/>
          <p:cNvSpPr>
            <a:spLocks noGrp="1"/>
          </p:cNvSpPr>
          <p:nvPr>
            <p:ph type="body" idx="1"/>
          </p:nvPr>
        </p:nvSpPr>
        <p:spPr bwMode="auto">
          <a:xfrm>
            <a:off x="688481" y="4416099"/>
            <a:ext cx="5504853" cy="4182457"/>
          </a:xfrm>
          <a:prstGeom prst="rect">
            <a:avLst/>
          </a:prstGeom>
          <a:noFill/>
          <a:ln>
            <a:miter lim="800000"/>
            <a:headEnd/>
            <a:tailEnd/>
          </a:ln>
        </p:spPr>
        <p:txBody>
          <a:bodyPr lIns="87444" tIns="43722" rIns="87444" bIns="43722"/>
          <a:lstStyle/>
          <a:p>
            <a:pPr marL="469900" lvl="1" indent="-469900">
              <a:buClr>
                <a:schemeClr val="bg2"/>
              </a:buClr>
              <a:buSzPct val="70000"/>
              <a:buFont typeface="Wingdings" pitchFamily="2" charset="2"/>
              <a:buChar char="o"/>
            </a:pPr>
            <a:r>
              <a:rPr lang="en-GB" dirty="0">
                <a:latin typeface="Times" pitchFamily="18" charset="0"/>
                <a:ea typeface="ＭＳ Ｐゴシック" pitchFamily="34" charset="-128"/>
                <a:sym typeface="Wingdings" pitchFamily="2" charset="2"/>
              </a:rPr>
              <a:t>A manual file is set up to hold all external and internal correspondence about a given subject e.g. bills, project. Files are kept in cabinets which are locked to ensure security. </a:t>
            </a:r>
          </a:p>
          <a:p>
            <a:r>
              <a:rPr lang="en-GB" dirty="0">
                <a:latin typeface="Times" pitchFamily="18" charset="0"/>
                <a:ea typeface="ＭＳ Ｐゴシック" pitchFamily="34" charset="-128"/>
                <a:sym typeface="Wingdings" pitchFamily="2" charset="2"/>
              </a:rPr>
              <a:t>It works well when the data or number of items to be stored is small; as numbers increase, labels are utilized. </a:t>
            </a:r>
          </a:p>
          <a:p>
            <a:r>
              <a:rPr lang="en-GB" dirty="0">
                <a:latin typeface="Times" pitchFamily="18" charset="0"/>
                <a:ea typeface="ＭＳ Ｐゴシック" pitchFamily="34" charset="-128"/>
                <a:sym typeface="Wingdings" pitchFamily="2" charset="2"/>
              </a:rPr>
              <a:t>Works well on a large number of items which only require storage and retrieval. </a:t>
            </a:r>
          </a:p>
          <a:p>
            <a:r>
              <a:rPr lang="en-GB" dirty="0">
                <a:latin typeface="Times" pitchFamily="18" charset="0"/>
                <a:ea typeface="ＭＳ Ｐゴシック" pitchFamily="34" charset="-128"/>
                <a:sym typeface="Wingdings" pitchFamily="2" charset="2"/>
              </a:rPr>
              <a:t>Retrieval of data; is mainly sequential i.e. search begins from first entry or through an indexing system.</a:t>
            </a:r>
          </a:p>
          <a:p>
            <a:r>
              <a:rPr lang="en-GB" dirty="0">
                <a:latin typeface="Times" pitchFamily="18" charset="0"/>
                <a:ea typeface="ＭＳ Ｐゴシック" pitchFamily="34" charset="-128"/>
                <a:sym typeface="Wingdings" pitchFamily="2" charset="2"/>
              </a:rPr>
              <a:t>Limited processing of data i.e. answering complex queries that require data from different sources e.g. annual reports about sales was very difficult.</a:t>
            </a:r>
          </a:p>
          <a:p>
            <a:pPr eaLnBrk="1" hangingPunct="1"/>
            <a:endParaRPr lang="en-US" dirty="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17600" y="698500"/>
            <a:ext cx="4646613" cy="3486150"/>
          </a:xfrm>
          <a:prstGeom prst="rect">
            <a:avLst/>
          </a:prstGeom>
          <a:noFill/>
          <a:ln>
            <a:solidFill>
              <a:srgbClr val="000000"/>
            </a:solidFill>
            <a:miter lim="800000"/>
            <a:headEnd/>
            <a:tailEnd/>
          </a:ln>
        </p:spPr>
      </p:sp>
      <p:sp>
        <p:nvSpPr>
          <p:cNvPr id="82947" name="Rectangle 3"/>
          <p:cNvSpPr>
            <a:spLocks noGrp="1" noChangeArrowheads="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dirty="0">
              <a:latin typeface="Times New Roman" pitchFamily="18" charset="0"/>
              <a:ea typeface="ＭＳ Ｐゴシック"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7600" y="696913"/>
            <a:ext cx="4648200" cy="3486150"/>
          </a:xfrm>
          <a:prstGeom prst="rect">
            <a:avLst/>
          </a:prstGeom>
          <a:noFill/>
          <a:ln w="12700">
            <a:solidFill>
              <a:prstClr val="black"/>
            </a:solidFill>
          </a:ln>
        </p:spPr>
      </p:sp>
      <p:sp>
        <p:nvSpPr>
          <p:cNvPr id="3" name="Notes Placeholder 2"/>
          <p:cNvSpPr>
            <a:spLocks noGrp="1"/>
          </p:cNvSpPr>
          <p:nvPr>
            <p:ph type="body" idx="1"/>
          </p:nvPr>
        </p:nvSpPr>
        <p:spPr>
          <a:xfrm>
            <a:off x="688975" y="4416425"/>
            <a:ext cx="5505450" cy="4183063"/>
          </a:xfrm>
          <a:prstGeom prst="rect">
            <a:avLst/>
          </a:prstGeom>
        </p:spPr>
        <p:txBody>
          <a:bodyPr>
            <a:normAutofit/>
          </a:bodyPr>
          <a:lstStyle/>
          <a:p>
            <a:r>
              <a:rPr lang="en-US" dirty="0"/>
              <a:t>With a file based approach each user defines and creates with a specific software the files he needs for a specific </a:t>
            </a:r>
            <a:r>
              <a:rPr lang="en-US" dirty="0" smtClean="0"/>
              <a:t>application</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xfrm>
            <a:off x="1117600" y="698500"/>
            <a:ext cx="4646613" cy="3486150"/>
          </a:xfrm>
          <a:prstGeom prst="rect">
            <a:avLst/>
          </a:prstGeom>
          <a:noFill/>
          <a:ln>
            <a:solidFill>
              <a:srgbClr val="000000"/>
            </a:solidFill>
            <a:miter lim="800000"/>
            <a:headEnd/>
            <a:tailEnd/>
          </a:ln>
        </p:spPr>
      </p:sp>
      <p:sp>
        <p:nvSpPr>
          <p:cNvPr id="83971" name="Rectangle 3"/>
          <p:cNvSpPr>
            <a:spLocks noGrp="1" noChangeArrowheads="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a:latin typeface="Times New Roman" pitchFamily="18" charset="0"/>
              <a:ea typeface="ＭＳ Ｐゴシック"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bwMode="auto">
          <a:xfrm>
            <a:off x="1117600" y="698500"/>
            <a:ext cx="4646613" cy="3486150"/>
          </a:xfrm>
          <a:prstGeom prst="rect">
            <a:avLst/>
          </a:prstGeom>
          <a:noFill/>
          <a:ln>
            <a:solidFill>
              <a:srgbClr val="000000"/>
            </a:solidFill>
            <a:miter lim="800000"/>
            <a:headEnd/>
            <a:tailEnd/>
          </a:ln>
        </p:spPr>
      </p:sp>
      <p:sp>
        <p:nvSpPr>
          <p:cNvPr id="84995" name="Rectangle 3"/>
          <p:cNvSpPr>
            <a:spLocks noGrp="1" noChangeArrowheads="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a:latin typeface="Times New Roman" pitchFamily="18" charset="0"/>
              <a:ea typeface="ＭＳ Ｐゴシック"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bwMode="auto">
          <a:xfrm>
            <a:off x="1117600" y="698500"/>
            <a:ext cx="4646613" cy="3486150"/>
          </a:xfrm>
          <a:prstGeom prst="rect">
            <a:avLst/>
          </a:prstGeom>
          <a:noFill/>
          <a:ln>
            <a:solidFill>
              <a:srgbClr val="000000"/>
            </a:solidFill>
            <a:miter lim="800000"/>
            <a:headEnd/>
            <a:tailEnd/>
          </a:ln>
        </p:spPr>
      </p:sp>
      <p:sp>
        <p:nvSpPr>
          <p:cNvPr id="81923" name="Rectangle 3"/>
          <p:cNvSpPr>
            <a:spLocks noGrp="1" noChangeArrowheads="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a:latin typeface="Times New Roman" pitchFamily="18" charset="0"/>
              <a:ea typeface="ＭＳ Ｐゴシック"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4294967295"/>
          </p:nvPr>
        </p:nvSpPr>
        <p:spPr bwMode="auto">
          <a:xfrm>
            <a:off x="3897902" y="8829121"/>
            <a:ext cx="2982418" cy="465743"/>
          </a:xfrm>
          <a:prstGeom prst="rect">
            <a:avLst/>
          </a:prstGeom>
          <a:noFill/>
          <a:ln>
            <a:miter lim="800000"/>
            <a:headEnd/>
            <a:tailEnd/>
          </a:ln>
        </p:spPr>
        <p:txBody>
          <a:bodyPr lIns="91563" tIns="45781" rIns="91563" bIns="45781"/>
          <a:lstStyle/>
          <a:p>
            <a:fld id="{3E9943A6-EBD1-4343-846C-A482CF49D839}" type="slidenum">
              <a:rPr lang="en-US"/>
              <a:pPr/>
              <a:t>12</a:t>
            </a:fld>
            <a:endParaRPr lang="en-US"/>
          </a:p>
        </p:txBody>
      </p:sp>
      <p:sp>
        <p:nvSpPr>
          <p:cNvPr id="48131" name="Rectangle 2"/>
          <p:cNvSpPr>
            <a:spLocks noGrp="1" noChangeArrowheads="1"/>
          </p:cNvSpPr>
          <p:nvPr>
            <p:ph type="body" idx="1"/>
          </p:nvPr>
        </p:nvSpPr>
        <p:spPr bwMode="auto">
          <a:xfrm>
            <a:off x="916978" y="4419172"/>
            <a:ext cx="5047858" cy="3913465"/>
          </a:xfrm>
          <a:prstGeom prst="rect">
            <a:avLst/>
          </a:prstGeom>
          <a:noFill/>
          <a:ln>
            <a:miter lim="800000"/>
            <a:headEnd/>
            <a:tailEnd/>
          </a:ln>
        </p:spPr>
        <p:txBody>
          <a:bodyPr lIns="90609" tIns="44510" rIns="90609" bIns="44510"/>
          <a:lstStyle/>
          <a:p>
            <a:pPr eaLnBrk="1" hangingPunct="1"/>
            <a:r>
              <a:rPr lang="en-US" dirty="0">
                <a:latin typeface="Times New Roman" pitchFamily="-105" charset="0"/>
              </a:rPr>
              <a:t>Shared collection of logically</a:t>
            </a:r>
            <a:r>
              <a:rPr lang="en-US" baseline="0" dirty="0">
                <a:latin typeface="Times New Roman" pitchFamily="-105" charset="0"/>
              </a:rPr>
              <a:t> related data</a:t>
            </a:r>
            <a:endParaRPr lang="en-US" dirty="0">
              <a:latin typeface="Times New Roman" pitchFamily="-105" charset="0"/>
            </a:endParaRPr>
          </a:p>
        </p:txBody>
      </p:sp>
      <p:sp>
        <p:nvSpPr>
          <p:cNvPr id="48132" name="Rectangle 3"/>
          <p:cNvSpPr>
            <a:spLocks noGrp="1" noRot="1" noChangeAspect="1" noChangeArrowheads="1" noTextEdit="1"/>
          </p:cNvSpPr>
          <p:nvPr>
            <p:ph type="sldImg"/>
          </p:nvPr>
        </p:nvSpPr>
        <p:spPr bwMode="auto">
          <a:xfrm>
            <a:off x="1268413" y="809625"/>
            <a:ext cx="4344987" cy="3259138"/>
          </a:xfrm>
          <a:prstGeom prst="rect">
            <a:avLst/>
          </a:prstGeom>
          <a:noFill/>
          <a:ln w="12700">
            <a:solidFill>
              <a:schemeClr val="tx1"/>
            </a:solidFill>
            <a:miter lim="800000"/>
            <a:headEnd/>
            <a:tailEnd/>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52227" name="Notes Placeholder 2"/>
          <p:cNvSpPr>
            <a:spLocks noGrp="1"/>
          </p:cNvSpPr>
          <p:nvPr>
            <p:ph type="body" idx="1"/>
          </p:nvPr>
        </p:nvSpPr>
        <p:spPr bwMode="auto">
          <a:xfrm>
            <a:off x="688481" y="4416098"/>
            <a:ext cx="5504853" cy="4183995"/>
          </a:xfrm>
          <a:prstGeom prst="rect">
            <a:avLst/>
          </a:prstGeom>
          <a:noFill/>
          <a:ln>
            <a:miter lim="800000"/>
            <a:headEnd/>
            <a:tailEnd/>
          </a:ln>
        </p:spPr>
        <p:txBody>
          <a:bodyPr lIns="87444" tIns="43722" rIns="87444" bIns="43722"/>
          <a:lstStyle/>
          <a:p>
            <a:endParaRPr lang="en-US">
              <a:latin typeface="Times New Roman" pitchFamily="-105"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87043"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pPr eaLnBrk="1" hangingPunct="1"/>
            <a:endParaRPr lang="en-US" dirty="0">
              <a:latin typeface="Times New Roman" pitchFamily="18" charset="0"/>
              <a:ea typeface="ＭＳ Ｐゴシック"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88067"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a:latin typeface="Times New Roman" pitchFamily="18" charset="0"/>
              <a:ea typeface="ＭＳ Ｐゴシック"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89091"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pPr eaLnBrk="1" hangingPunct="1"/>
            <a:endParaRPr lang="en-US">
              <a:latin typeface="Times New Roman" pitchFamily="18" charset="0"/>
              <a:ea typeface="ＭＳ Ｐゴシック"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1117600" y="698500"/>
            <a:ext cx="4646613" cy="3486150"/>
          </a:xfrm>
          <a:prstGeom prst="rect">
            <a:avLst/>
          </a:prstGeom>
          <a:noFill/>
          <a:ln>
            <a:solidFill>
              <a:srgbClr val="000000"/>
            </a:solidFill>
            <a:miter lim="800000"/>
            <a:headEnd/>
            <a:tailEnd/>
          </a:ln>
        </p:spPr>
      </p:sp>
      <p:sp>
        <p:nvSpPr>
          <p:cNvPr id="90115" name="Rectangle 3"/>
          <p:cNvSpPr>
            <a:spLocks noGrp="1" noChangeArrowheads="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endParaRPr lang="en-US">
              <a:latin typeface="Times New Roman" pitchFamily="18" charset="0"/>
              <a:ea typeface="ＭＳ Ｐゴシック"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91139"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pPr eaLnBrk="1" hangingPunct="1"/>
            <a:endParaRPr lang="en-US">
              <a:latin typeface="Times New Roman" pitchFamily="18" charset="0"/>
              <a:ea typeface="ＭＳ Ｐゴシック"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92163"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pPr eaLnBrk="1" hangingPunct="1"/>
            <a:endParaRPr lang="en-US">
              <a:latin typeface="Times New Roman" pitchFamily="18" charset="0"/>
              <a:ea typeface="ＭＳ Ｐゴシック"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1100138" y="722313"/>
            <a:ext cx="4621212" cy="3467100"/>
          </a:xfrm>
          <a:prstGeom prst="rect">
            <a:avLst/>
          </a:prstGeom>
          <a:noFill/>
          <a:ln>
            <a:solidFill>
              <a:srgbClr val="000000"/>
            </a:solidFill>
            <a:miter lim="800000"/>
            <a:headEnd/>
            <a:tailEnd/>
          </a:ln>
        </p:spPr>
      </p:sp>
      <p:sp>
        <p:nvSpPr>
          <p:cNvPr id="93187" name="Rectangle 3"/>
          <p:cNvSpPr>
            <a:spLocks noGrp="1" noChangeArrowheads="1"/>
          </p:cNvSpPr>
          <p:nvPr>
            <p:ph type="body" idx="1"/>
          </p:nvPr>
        </p:nvSpPr>
        <p:spPr bwMode="auto">
          <a:xfrm>
            <a:off x="950913" y="4403725"/>
            <a:ext cx="4992687" cy="4187825"/>
          </a:xfrm>
          <a:prstGeom prst="rect">
            <a:avLst/>
          </a:prstGeom>
          <a:noFill/>
          <a:ln>
            <a:miter lim="800000"/>
            <a:headEnd/>
            <a:tailEnd/>
          </a:ln>
        </p:spPr>
        <p:txBody>
          <a:bodyPr lIns="87444" tIns="43722" rIns="87444" bIns="43722"/>
          <a:lstStyle/>
          <a:p>
            <a:pPr eaLnBrk="1" hangingPunct="1"/>
            <a:endParaRPr lang="en-US">
              <a:latin typeface="Times New Roman" pitchFamily="18" charset="0"/>
              <a:ea typeface="ＭＳ Ｐゴシック"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p:cNvSpPr>
          <p:nvPr>
            <p:ph type="sldImg"/>
          </p:nvPr>
        </p:nvSpPr>
        <p:spPr bwMode="auto">
          <a:xfrm>
            <a:off x="1117600" y="698500"/>
            <a:ext cx="4646613" cy="3486150"/>
          </a:xfrm>
          <a:prstGeom prst="rect">
            <a:avLst/>
          </a:prstGeom>
          <a:noFill/>
          <a:ln w="12700">
            <a:solidFill>
              <a:srgbClr val="000000"/>
            </a:solidFill>
            <a:miter lim="800000"/>
            <a:headEnd/>
            <a:tailEnd/>
          </a:ln>
        </p:spPr>
      </p:sp>
      <p:sp>
        <p:nvSpPr>
          <p:cNvPr id="94211"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lIns="87444" tIns="43722" rIns="87444" bIns="43722"/>
          <a:lstStyle/>
          <a:p>
            <a:pPr eaLnBrk="1" hangingPunct="1"/>
            <a:endParaRPr lang="en-US">
              <a:latin typeface="Times New Roman" pitchFamily="18" charset="0"/>
              <a:ea typeface="ＭＳ Ｐゴシック"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xfrm>
            <a:off x="1116013" y="696913"/>
            <a:ext cx="4649787" cy="3486150"/>
          </a:xfrm>
          <a:prstGeom prst="rect">
            <a:avLst/>
          </a:prstGeom>
          <a:noFill/>
          <a:ln>
            <a:miter lim="800000"/>
            <a:headEnd/>
            <a:tailEnd/>
          </a:ln>
        </p:spPr>
      </p:sp>
      <p:sp>
        <p:nvSpPr>
          <p:cNvPr id="95235"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a:lstStyle/>
          <a:p>
            <a:r>
              <a:rPr lang="en-US" dirty="0">
                <a:latin typeface="Arial" pitchFamily="34" charset="0"/>
                <a:ea typeface="ＭＳ Ｐゴシック" pitchFamily="34" charset="-128"/>
                <a:cs typeface="Arial" pitchFamily="34" charset="0"/>
              </a:rPr>
              <a:t>Architecture</a:t>
            </a:r>
            <a:r>
              <a:rPr lang="en-US" baseline="0" dirty="0">
                <a:latin typeface="Arial" pitchFamily="34" charset="0"/>
                <a:ea typeface="ＭＳ Ｐゴシック" pitchFamily="34" charset="-128"/>
                <a:cs typeface="Arial" pitchFamily="34" charset="0"/>
              </a:rPr>
              <a:t> = structural design</a:t>
            </a:r>
            <a:endParaRPr lang="en-US" dirty="0">
              <a:latin typeface="Arial" pitchFamily="34" charset="0"/>
              <a:ea typeface="ＭＳ Ｐゴシック" pitchFamily="34" charset="-128"/>
              <a:cs typeface="Arial" pitchFamily="34" charset="0"/>
            </a:endParaRPr>
          </a:p>
        </p:txBody>
      </p:sp>
      <p:sp>
        <p:nvSpPr>
          <p:cNvPr id="95236" name="Slide Number Placeholder 3"/>
          <p:cNvSpPr>
            <a:spLocks noGrp="1"/>
          </p:cNvSpPr>
          <p:nvPr>
            <p:ph type="sldNum" sz="quarter" idx="4294967295"/>
          </p:nvPr>
        </p:nvSpPr>
        <p:spPr bwMode="auto">
          <a:xfrm>
            <a:off x="3898900" y="8829675"/>
            <a:ext cx="2981325" cy="465138"/>
          </a:xfrm>
          <a:prstGeom prst="rect">
            <a:avLst/>
          </a:prstGeom>
          <a:noFill/>
          <a:ln>
            <a:miter lim="800000"/>
            <a:headEnd/>
            <a:tailEnd/>
          </a:ln>
        </p:spPr>
        <p:txBody>
          <a:bodyPr/>
          <a:lstStyle/>
          <a:p>
            <a:fld id="{9FAAC967-F07E-44A7-847F-B3450EEF81DB}" type="slidenum">
              <a:rPr lang="en-US">
                <a:latin typeface="Arial" pitchFamily="34" charset="0"/>
              </a:rPr>
              <a:pPr/>
              <a:t>24</a:t>
            </a:fld>
            <a:endParaRPr lang="en-US">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7600" y="696913"/>
            <a:ext cx="4648200" cy="3486150"/>
          </a:xfrm>
          <a:prstGeom prst="rect">
            <a:avLst/>
          </a:prstGeom>
          <a:noFill/>
          <a:ln w="12700">
            <a:solidFill>
              <a:prstClr val="black"/>
            </a:solidFill>
          </a:ln>
        </p:spPr>
      </p:sp>
      <p:sp>
        <p:nvSpPr>
          <p:cNvPr id="3" name="Notes Placeholder 2"/>
          <p:cNvSpPr>
            <a:spLocks noGrp="1"/>
          </p:cNvSpPr>
          <p:nvPr>
            <p:ph type="body" idx="1"/>
          </p:nvPr>
        </p:nvSpPr>
        <p:spPr>
          <a:xfrm>
            <a:off x="688975" y="4416425"/>
            <a:ext cx="5505450" cy="4183063"/>
          </a:xfrm>
          <a:prstGeom prst="rect">
            <a:avLst/>
          </a:prstGeom>
        </p:spPr>
        <p:txBody>
          <a:bodyPr>
            <a:normAutofit/>
          </a:bodyPr>
          <a:lstStyle/>
          <a:p>
            <a:r>
              <a:rPr lang="en-US" sz="1200" kern="1200" baseline="0" dirty="0">
                <a:solidFill>
                  <a:schemeClr val="tx1"/>
                </a:solidFill>
                <a:latin typeface="Times New Roman" charset="0"/>
                <a:ea typeface="ＭＳ Ｐゴシック" pitchFamily="-105" charset="-128"/>
                <a:cs typeface="ＭＳ Ｐゴシック" pitchFamily="-105" charset="-128"/>
              </a:rPr>
              <a:t>For our purposes, the fundamental point of these and later reports is the identification</a:t>
            </a:r>
          </a:p>
          <a:p>
            <a:r>
              <a:rPr lang="en-US" sz="1200" kern="1200" baseline="0" dirty="0">
                <a:solidFill>
                  <a:schemeClr val="tx1"/>
                </a:solidFill>
                <a:latin typeface="Times New Roman" charset="0"/>
                <a:ea typeface="ＭＳ Ｐゴシック" pitchFamily="-105" charset="-128"/>
                <a:cs typeface="ＭＳ Ｐゴシック" pitchFamily="-105" charset="-128"/>
              </a:rPr>
              <a:t>of three levels of abstraction, that is, three distinct levels at which data items can be</a:t>
            </a:r>
          </a:p>
          <a:p>
            <a:r>
              <a:rPr lang="en-US" sz="1200" kern="1200" baseline="0" dirty="0">
                <a:solidFill>
                  <a:schemeClr val="tx1"/>
                </a:solidFill>
                <a:latin typeface="Times New Roman" charset="0"/>
                <a:ea typeface="ＭＳ Ｐゴシック" pitchFamily="-105" charset="-128"/>
                <a:cs typeface="ＭＳ Ｐゴシック" pitchFamily="-105" charset="-128"/>
              </a:rPr>
              <a:t>described</a:t>
            </a:r>
            <a:endParaRPr lang="en-US" sz="1200" kern="1200" baseline="0" dirty="0">
              <a:solidFill>
                <a:schemeClr val="tx1"/>
              </a:solidFill>
              <a:latin typeface="Times New Roman" charset="0"/>
              <a:ea typeface="ＭＳ Ｐゴシック" pitchFamily="-105" charset="-128"/>
            </a:endParaRPr>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p:cNvSpPr>
          <p:nvPr>
            <p:ph type="sldImg"/>
          </p:nvPr>
        </p:nvSpPr>
        <p:spPr bwMode="auto">
          <a:xfrm>
            <a:off x="1117600" y="698500"/>
            <a:ext cx="4646613" cy="3484563"/>
          </a:xfrm>
          <a:prstGeom prst="rect">
            <a:avLst/>
          </a:prstGeom>
          <a:noFill/>
          <a:ln w="12700">
            <a:solidFill>
              <a:srgbClr val="000000"/>
            </a:solidFill>
            <a:miter lim="800000"/>
            <a:headEnd/>
            <a:tailEnd/>
          </a:ln>
        </p:spPr>
      </p:sp>
      <p:sp>
        <p:nvSpPr>
          <p:cNvPr id="96259"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7600" y="698500"/>
            <a:ext cx="4646613" cy="3484563"/>
          </a:xfrm>
          <a:prstGeom prst="rect">
            <a:avLst/>
          </a:prstGeom>
          <a:noFill/>
          <a:ln w="12700">
            <a:solidFill>
              <a:prstClr val="black"/>
            </a:solidFill>
          </a:ln>
        </p:spPr>
      </p:sp>
      <p:sp>
        <p:nvSpPr>
          <p:cNvPr id="3" name="Notes Placeholder 2"/>
          <p:cNvSpPr>
            <a:spLocks noGrp="1"/>
          </p:cNvSpPr>
          <p:nvPr>
            <p:ph type="body" idx="1"/>
          </p:nvPr>
        </p:nvSpPr>
        <p:spPr>
          <a:xfrm>
            <a:off x="688513" y="4416542"/>
            <a:ext cx="5504790" cy="4183380"/>
          </a:xfrm>
          <a:prstGeom prst="rect">
            <a:avLst/>
          </a:prstGeom>
        </p:spPr>
        <p:txBody>
          <a:bodyPr>
            <a:normAutofit/>
          </a:bodyPr>
          <a:lstStyle/>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p:cNvSpPr>
          <p:nvPr>
            <p:ph type="sldImg"/>
          </p:nvPr>
        </p:nvSpPr>
        <p:spPr bwMode="auto">
          <a:xfrm>
            <a:off x="1117600" y="698500"/>
            <a:ext cx="4646613" cy="3484563"/>
          </a:xfrm>
          <a:prstGeom prst="rect">
            <a:avLst/>
          </a:prstGeom>
          <a:noFill/>
          <a:ln w="12700">
            <a:solidFill>
              <a:srgbClr val="000000"/>
            </a:solidFill>
            <a:miter lim="800000"/>
            <a:headEnd/>
            <a:tailEnd/>
          </a:ln>
        </p:spPr>
      </p:sp>
      <p:sp>
        <p:nvSpPr>
          <p:cNvPr id="98307" name="Notes Placeholder 2"/>
          <p:cNvSpPr>
            <a:spLocks noGrp="1"/>
          </p:cNvSpPr>
          <p:nvPr>
            <p:ph type="body" idx="1"/>
          </p:nvPr>
        </p:nvSpPr>
        <p:spPr bwMode="auto">
          <a:xfrm>
            <a:off x="688975" y="4416425"/>
            <a:ext cx="5503863" cy="4183063"/>
          </a:xfrm>
          <a:prstGeom prst="rect">
            <a:avLst/>
          </a:prstGeom>
          <a:noFill/>
          <a:ln>
            <a:miter lim="800000"/>
            <a:headEnd/>
            <a:tailEnd/>
          </a:ln>
        </p:spPr>
        <p:txBody>
          <a:bodyPr/>
          <a:lstStyle/>
          <a:p>
            <a:endParaRPr lang="en-US">
              <a:latin typeface="Times New Roman" pitchFamily="18" charset="0"/>
              <a:ea typeface="ＭＳ Ｐゴシック"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Grp="1" noChangeArrowheads="1"/>
          </p:cNvSpPr>
          <p:nvPr>
            <p:ph type="sldNum" sz="quarter" idx="4294967295"/>
          </p:nvPr>
        </p:nvSpPr>
        <p:spPr bwMode="auto">
          <a:xfrm>
            <a:off x="3897313" y="8829675"/>
            <a:ext cx="2982912" cy="465138"/>
          </a:xfrm>
          <a:prstGeom prst="rect">
            <a:avLst/>
          </a:prstGeom>
          <a:noFill/>
          <a:ln>
            <a:miter lim="800000"/>
            <a:headEnd/>
            <a:tailEnd/>
          </a:ln>
        </p:spPr>
        <p:txBody>
          <a:bodyPr lIns="92446" tIns="46223" rIns="92446" bIns="46223"/>
          <a:lstStyle/>
          <a:p>
            <a:fld id="{DE83BAC2-8060-47BF-A042-2750C09665FF}" type="slidenum">
              <a:rPr lang="en-GB">
                <a:latin typeface="Times New Roman" pitchFamily="18" charset="0"/>
              </a:rPr>
              <a:pPr/>
              <a:t>35</a:t>
            </a:fld>
            <a:endParaRPr lang="en-GB">
              <a:latin typeface="Times New Roman" pitchFamily="18" charset="0"/>
            </a:endParaRPr>
          </a:p>
        </p:txBody>
      </p:sp>
      <p:sp>
        <p:nvSpPr>
          <p:cNvPr id="99331" name="Rectangle 2"/>
          <p:cNvSpPr>
            <a:spLocks noChangeArrowheads="1"/>
          </p:cNvSpPr>
          <p:nvPr/>
        </p:nvSpPr>
        <p:spPr bwMode="auto">
          <a:xfrm>
            <a:off x="3881438" y="0"/>
            <a:ext cx="3013075" cy="431800"/>
          </a:xfrm>
          <a:prstGeom prst="rect">
            <a:avLst/>
          </a:prstGeom>
          <a:noFill/>
          <a:ln w="12700">
            <a:noFill/>
            <a:miter lim="800000"/>
            <a:headEnd/>
            <a:tailEnd/>
          </a:ln>
        </p:spPr>
        <p:txBody>
          <a:bodyPr lIns="91483" tIns="44939" rIns="91483" bIns="44939"/>
          <a:lstStyle/>
          <a:p>
            <a:pPr algn="r" eaLnBrk="0" hangingPunct="0"/>
            <a:r>
              <a:rPr lang="en-GB" sz="1200" b="1">
                <a:latin typeface="Times New Roman" pitchFamily="18" charset="0"/>
              </a:rPr>
              <a:t>September 98</a:t>
            </a:r>
          </a:p>
        </p:txBody>
      </p:sp>
      <p:sp>
        <p:nvSpPr>
          <p:cNvPr id="99332" name="Rectangle 3"/>
          <p:cNvSpPr>
            <a:spLocks noChangeArrowheads="1"/>
          </p:cNvSpPr>
          <p:nvPr/>
        </p:nvSpPr>
        <p:spPr bwMode="auto">
          <a:xfrm>
            <a:off x="3881438" y="8809038"/>
            <a:ext cx="3013075" cy="504825"/>
          </a:xfrm>
          <a:prstGeom prst="rect">
            <a:avLst/>
          </a:prstGeom>
          <a:noFill/>
          <a:ln w="12700">
            <a:noFill/>
            <a:miter lim="800000"/>
            <a:headEnd/>
            <a:tailEnd/>
          </a:ln>
        </p:spPr>
        <p:txBody>
          <a:bodyPr lIns="91483" tIns="44939" rIns="91483" bIns="44939" anchor="b"/>
          <a:lstStyle/>
          <a:p>
            <a:pPr algn="r" eaLnBrk="0" hangingPunct="0"/>
            <a:r>
              <a:rPr lang="en-GB" sz="1200" b="1">
                <a:latin typeface="Times New Roman" pitchFamily="18" charset="0"/>
              </a:rPr>
              <a:t>1</a:t>
            </a:r>
          </a:p>
        </p:txBody>
      </p:sp>
      <p:sp>
        <p:nvSpPr>
          <p:cNvPr id="99333" name="Rectangle 4"/>
          <p:cNvSpPr>
            <a:spLocks noChangeArrowheads="1"/>
          </p:cNvSpPr>
          <p:nvPr/>
        </p:nvSpPr>
        <p:spPr bwMode="auto">
          <a:xfrm>
            <a:off x="0" y="8809038"/>
            <a:ext cx="3011488" cy="504825"/>
          </a:xfrm>
          <a:prstGeom prst="rect">
            <a:avLst/>
          </a:prstGeom>
          <a:noFill/>
          <a:ln w="12700">
            <a:noFill/>
            <a:miter lim="800000"/>
            <a:headEnd/>
            <a:tailEnd/>
          </a:ln>
        </p:spPr>
        <p:txBody>
          <a:bodyPr wrap="none" lIns="92446" tIns="46223" rIns="92446" bIns="46223" anchor="ctr"/>
          <a:lstStyle/>
          <a:p>
            <a:endParaRPr lang="en-US">
              <a:latin typeface="Calibri" pitchFamily="34" charset="0"/>
            </a:endParaRPr>
          </a:p>
        </p:txBody>
      </p:sp>
      <p:sp>
        <p:nvSpPr>
          <p:cNvPr id="99334" name="Rectangle 5"/>
          <p:cNvSpPr>
            <a:spLocks noChangeArrowheads="1"/>
          </p:cNvSpPr>
          <p:nvPr/>
        </p:nvSpPr>
        <p:spPr bwMode="auto">
          <a:xfrm>
            <a:off x="0" y="0"/>
            <a:ext cx="3011488" cy="431800"/>
          </a:xfrm>
          <a:prstGeom prst="rect">
            <a:avLst/>
          </a:prstGeom>
          <a:noFill/>
          <a:ln w="12700">
            <a:noFill/>
            <a:miter lim="800000"/>
            <a:headEnd/>
            <a:tailEnd/>
          </a:ln>
        </p:spPr>
        <p:txBody>
          <a:bodyPr lIns="91483" tIns="44939" rIns="91483" bIns="44939"/>
          <a:lstStyle/>
          <a:p>
            <a:pPr eaLnBrk="0" hangingPunct="0"/>
            <a:r>
              <a:rPr lang="en-GB" sz="1200" b="1">
                <a:latin typeface="Times New Roman" pitchFamily="18" charset="0"/>
              </a:rPr>
              <a:t>Chapter Name</a:t>
            </a:r>
          </a:p>
        </p:txBody>
      </p:sp>
      <p:sp>
        <p:nvSpPr>
          <p:cNvPr id="99335" name="Rectangle 6"/>
          <p:cNvSpPr>
            <a:spLocks noGrp="1" noRot="1" noChangeAspect="1" noChangeArrowheads="1" noTextEdit="1"/>
          </p:cNvSpPr>
          <p:nvPr>
            <p:ph type="sldImg"/>
          </p:nvPr>
        </p:nvSpPr>
        <p:spPr bwMode="auto">
          <a:xfrm>
            <a:off x="1117600" y="696913"/>
            <a:ext cx="4648200" cy="3486150"/>
          </a:xfrm>
          <a:prstGeom prst="rect">
            <a:avLst/>
          </a:prstGeom>
          <a:noFill/>
          <a:ln>
            <a:solidFill>
              <a:srgbClr val="000000"/>
            </a:solidFill>
            <a:miter lim="800000"/>
            <a:headEnd/>
            <a:tailEnd/>
          </a:ln>
        </p:spPr>
      </p:sp>
      <p:sp>
        <p:nvSpPr>
          <p:cNvPr id="99336" name="Rectangle 7"/>
          <p:cNvSpPr>
            <a:spLocks noGrp="1" noChangeArrowheads="1"/>
          </p:cNvSpPr>
          <p:nvPr>
            <p:ph type="body" idx="1"/>
          </p:nvPr>
        </p:nvSpPr>
        <p:spPr bwMode="auto">
          <a:xfrm>
            <a:off x="688975" y="4416425"/>
            <a:ext cx="5505450" cy="4183063"/>
          </a:xfrm>
          <a:prstGeom prst="rect">
            <a:avLst/>
          </a:prstGeom>
          <a:noFill/>
          <a:ln>
            <a:miter lim="800000"/>
            <a:headEnd/>
            <a:tailEnd/>
          </a:ln>
        </p:spPr>
        <p:txBody>
          <a:bodyPr lIns="92446" tIns="46223" rIns="92446" bIns="46223"/>
          <a:lstStyle/>
          <a:p>
            <a:pPr eaLnBrk="1" hangingPunct="1">
              <a:spcBef>
                <a:spcPct val="0"/>
              </a:spcBef>
            </a:pPr>
            <a:endParaRPr lang="en-US">
              <a:latin typeface="Times New Roman" pitchFamily="18" charset="0"/>
              <a:ea typeface="ＭＳ Ｐゴシック"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7600" y="696913"/>
            <a:ext cx="4648200" cy="3486150"/>
          </a:xfrm>
          <a:prstGeom prst="rect">
            <a:avLst/>
          </a:prstGeom>
          <a:noFill/>
          <a:ln w="12700">
            <a:solidFill>
              <a:prstClr val="black"/>
            </a:solidFill>
          </a:ln>
        </p:spPr>
      </p:sp>
      <p:sp>
        <p:nvSpPr>
          <p:cNvPr id="3" name="Notes Placeholder 2"/>
          <p:cNvSpPr>
            <a:spLocks noGrp="1"/>
          </p:cNvSpPr>
          <p:nvPr>
            <p:ph type="body" idx="1"/>
          </p:nvPr>
        </p:nvSpPr>
        <p:spPr>
          <a:xfrm>
            <a:off x="688975" y="4416425"/>
            <a:ext cx="5505450" cy="4183063"/>
          </a:xfrm>
          <a:prstGeom prst="rect">
            <a:avLst/>
          </a:prstGeom>
        </p:spPr>
        <p:txBody>
          <a:bodyPr>
            <a:normAutofit/>
          </a:bodyPr>
          <a:lstStyle/>
          <a:p>
            <a:r>
              <a:rPr lang="en-US" dirty="0"/>
              <a:t>Development of a</a:t>
            </a:r>
            <a:r>
              <a:rPr lang="en-US" baseline="0" dirty="0"/>
              <a:t> database application that will enable centralized data management of internship coordination for </a:t>
            </a:r>
            <a:r>
              <a:rPr lang="en-US" baseline="0" dirty="0" err="1"/>
              <a:t>effeciency</a:t>
            </a:r>
            <a:r>
              <a:rPr lang="en-US" baseline="0" dirty="0"/>
              <a:t>.</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xfrm>
            <a:off x="1117600" y="696913"/>
            <a:ext cx="4648200" cy="3486150"/>
          </a:xfrm>
          <a:prstGeom prst="rect">
            <a:avLst/>
          </a:prstGeom>
          <a:noFill/>
          <a:ln>
            <a:solidFill>
              <a:srgbClr val="000000"/>
            </a:solidFill>
            <a:miter lim="800000"/>
            <a:headEnd/>
            <a:tailEnd/>
          </a:ln>
        </p:spPr>
      </p:sp>
      <p:sp>
        <p:nvSpPr>
          <p:cNvPr id="100355" name="Notes Placeholder 2"/>
          <p:cNvSpPr>
            <a:spLocks noGrp="1"/>
          </p:cNvSpPr>
          <p:nvPr>
            <p:ph type="body" idx="1"/>
          </p:nvPr>
        </p:nvSpPr>
        <p:spPr bwMode="auto">
          <a:xfrm>
            <a:off x="688975" y="4416425"/>
            <a:ext cx="5505450" cy="4183063"/>
          </a:xfrm>
          <a:prstGeom prst="rect">
            <a:avLst/>
          </a:prstGeom>
          <a:noFill/>
          <a:ln>
            <a:miter lim="800000"/>
            <a:headEnd/>
            <a:tailEnd/>
          </a:ln>
        </p:spPr>
        <p:txBody>
          <a:bodyPr lIns="92446" tIns="46223" rIns="92446" bIns="46223"/>
          <a:lstStyle/>
          <a:p>
            <a:pPr eaLnBrk="1" hangingPunct="1">
              <a:spcBef>
                <a:spcPct val="0"/>
              </a:spcBef>
            </a:pPr>
            <a:endParaRPr lang="en-US">
              <a:latin typeface="Times New Roman" pitchFamily="18" charset="0"/>
              <a:ea typeface="ＭＳ Ｐゴシック" pitchFamily="34" charset="-128"/>
            </a:endParaRPr>
          </a:p>
        </p:txBody>
      </p:sp>
      <p:sp>
        <p:nvSpPr>
          <p:cNvPr id="100356" name="Slide Number Placeholder 3"/>
          <p:cNvSpPr>
            <a:spLocks noGrp="1"/>
          </p:cNvSpPr>
          <p:nvPr>
            <p:ph type="sldNum" sz="quarter" idx="4294967295"/>
          </p:nvPr>
        </p:nvSpPr>
        <p:spPr bwMode="auto">
          <a:xfrm>
            <a:off x="3897313" y="8829675"/>
            <a:ext cx="2982912" cy="465138"/>
          </a:xfrm>
          <a:prstGeom prst="rect">
            <a:avLst/>
          </a:prstGeom>
          <a:noFill/>
          <a:ln>
            <a:miter lim="800000"/>
            <a:headEnd/>
            <a:tailEnd/>
          </a:ln>
        </p:spPr>
        <p:txBody>
          <a:bodyPr lIns="92446" tIns="46223" rIns="92446" bIns="46223"/>
          <a:lstStyle/>
          <a:p>
            <a:fld id="{633A847B-CEA8-441F-BEDC-3C890A57509A}" type="slidenum">
              <a:rPr lang="en-GB">
                <a:latin typeface="Times New Roman" pitchFamily="18" charset="0"/>
              </a:rPr>
              <a:pPr/>
              <a:t>41</a:t>
            </a:fld>
            <a:endParaRPr lang="en-GB">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xfrm>
            <a:off x="1117600" y="696913"/>
            <a:ext cx="4648200" cy="3486150"/>
          </a:xfrm>
          <a:prstGeom prst="rect">
            <a:avLst/>
          </a:prstGeom>
          <a:noFill/>
          <a:ln>
            <a:solidFill>
              <a:srgbClr val="000000"/>
            </a:solidFill>
            <a:miter lim="800000"/>
            <a:headEnd/>
            <a:tailEnd/>
          </a:ln>
        </p:spPr>
      </p:sp>
      <p:sp>
        <p:nvSpPr>
          <p:cNvPr id="101379" name="Notes Placeholder 2"/>
          <p:cNvSpPr>
            <a:spLocks noGrp="1"/>
          </p:cNvSpPr>
          <p:nvPr>
            <p:ph type="body" idx="1"/>
          </p:nvPr>
        </p:nvSpPr>
        <p:spPr bwMode="auto">
          <a:xfrm>
            <a:off x="688975" y="4416425"/>
            <a:ext cx="5505450" cy="4183063"/>
          </a:xfrm>
          <a:prstGeom prst="rect">
            <a:avLst/>
          </a:prstGeom>
          <a:noFill/>
          <a:ln>
            <a:miter lim="800000"/>
            <a:headEnd/>
            <a:tailEnd/>
          </a:ln>
        </p:spPr>
        <p:txBody>
          <a:bodyPr lIns="92446" tIns="46223" rIns="92446" bIns="46223"/>
          <a:lstStyle/>
          <a:p>
            <a:pPr eaLnBrk="1" hangingPunct="1">
              <a:spcBef>
                <a:spcPct val="0"/>
              </a:spcBef>
            </a:pPr>
            <a:endParaRPr lang="en-US">
              <a:latin typeface="Times New Roman" pitchFamily="18" charset="0"/>
              <a:ea typeface="ＭＳ Ｐゴシック" pitchFamily="34" charset="-128"/>
            </a:endParaRPr>
          </a:p>
        </p:txBody>
      </p:sp>
      <p:sp>
        <p:nvSpPr>
          <p:cNvPr id="101380" name="Slide Number Placeholder 3"/>
          <p:cNvSpPr>
            <a:spLocks noGrp="1"/>
          </p:cNvSpPr>
          <p:nvPr>
            <p:ph type="sldNum" sz="quarter" idx="4294967295"/>
          </p:nvPr>
        </p:nvSpPr>
        <p:spPr bwMode="auto">
          <a:xfrm>
            <a:off x="3897313" y="8829675"/>
            <a:ext cx="2982912" cy="465138"/>
          </a:xfrm>
          <a:prstGeom prst="rect">
            <a:avLst/>
          </a:prstGeom>
          <a:noFill/>
          <a:ln>
            <a:miter lim="800000"/>
            <a:headEnd/>
            <a:tailEnd/>
          </a:ln>
        </p:spPr>
        <p:txBody>
          <a:bodyPr lIns="92446" tIns="46223" rIns="92446" bIns="46223"/>
          <a:lstStyle/>
          <a:p>
            <a:fld id="{5E94C7E8-F576-433C-BEE2-805C237752F0}" type="slidenum">
              <a:rPr lang="en-GB">
                <a:latin typeface="Times New Roman" pitchFamily="18" charset="0"/>
              </a:rPr>
              <a:pPr/>
              <a:t>44</a:t>
            </a:fld>
            <a:endParaRPr lang="en-GB">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xfrm>
            <a:off x="1117600" y="696913"/>
            <a:ext cx="4648200" cy="3486150"/>
          </a:xfrm>
          <a:prstGeom prst="rect">
            <a:avLst/>
          </a:prstGeom>
          <a:ln/>
        </p:spPr>
      </p:sp>
      <p:sp>
        <p:nvSpPr>
          <p:cNvPr id="63491" name="Notes Placeholder 2"/>
          <p:cNvSpPr>
            <a:spLocks noGrp="1"/>
          </p:cNvSpPr>
          <p:nvPr>
            <p:ph type="body" idx="1"/>
          </p:nvPr>
        </p:nvSpPr>
        <p:spPr>
          <a:xfrm>
            <a:off x="688182" y="4415790"/>
            <a:ext cx="5505450" cy="4183380"/>
          </a:xfrm>
          <a:prstGeom prst="rect">
            <a:avLst/>
          </a:prstGeom>
          <a:noFill/>
          <a:ln w="9525"/>
        </p:spPr>
        <p:txBody>
          <a:bodyPr lIns="92446" tIns="46223" rIns="92446" bIns="46223"/>
          <a:lstStyle/>
          <a:p>
            <a:r>
              <a:rPr lang="en-US"/>
              <a:t>What us requirements collection, who do we collect requirements from and how?</a:t>
            </a:r>
          </a:p>
        </p:txBody>
      </p:sp>
      <p:sp>
        <p:nvSpPr>
          <p:cNvPr id="63492" name="Slide Number Placeholder 3"/>
          <p:cNvSpPr>
            <a:spLocks noGrp="1"/>
          </p:cNvSpPr>
          <p:nvPr>
            <p:ph type="sldNum" sz="quarter" idx="5"/>
          </p:nvPr>
        </p:nvSpPr>
        <p:spPr>
          <a:xfrm>
            <a:off x="3898102" y="8829967"/>
            <a:ext cx="2982119" cy="464820"/>
          </a:xfrm>
          <a:prstGeom prst="rect">
            <a:avLst/>
          </a:prstGeom>
          <a:noFill/>
        </p:spPr>
        <p:txBody>
          <a:bodyPr lIns="92446" tIns="46223" rIns="92446" bIns="46223"/>
          <a:lstStyle/>
          <a:p>
            <a:fld id="{1AB8139A-F956-494A-BE41-8DA04E87493B}" type="slidenum">
              <a:rPr lang="en-GB" smtClean="0"/>
              <a:pPr/>
              <a:t>47</a:t>
            </a:fld>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xfrm>
            <a:off x="1117600" y="696913"/>
            <a:ext cx="4648200" cy="3486150"/>
          </a:xfrm>
          <a:prstGeom prst="rect">
            <a:avLst/>
          </a:prstGeom>
          <a:noFill/>
          <a:ln>
            <a:solidFill>
              <a:srgbClr val="000000"/>
            </a:solidFill>
            <a:miter lim="800000"/>
            <a:headEnd/>
            <a:tailEnd/>
          </a:ln>
        </p:spPr>
      </p:sp>
      <p:sp>
        <p:nvSpPr>
          <p:cNvPr id="102403" name="Notes Placeholder 2"/>
          <p:cNvSpPr>
            <a:spLocks noGrp="1"/>
          </p:cNvSpPr>
          <p:nvPr>
            <p:ph type="body" idx="1"/>
          </p:nvPr>
        </p:nvSpPr>
        <p:spPr bwMode="auto">
          <a:xfrm>
            <a:off x="688975" y="4416425"/>
            <a:ext cx="5505450" cy="4183063"/>
          </a:xfrm>
          <a:prstGeom prst="rect">
            <a:avLst/>
          </a:prstGeom>
          <a:noFill/>
          <a:ln>
            <a:miter lim="800000"/>
            <a:headEnd/>
            <a:tailEnd/>
          </a:ln>
        </p:spPr>
        <p:txBody>
          <a:bodyPr lIns="92446" tIns="46223" rIns="92446" bIns="46223"/>
          <a:lstStyle/>
          <a:p>
            <a:pPr eaLnBrk="1" hangingPunct="1">
              <a:spcBef>
                <a:spcPct val="0"/>
              </a:spcBef>
            </a:pPr>
            <a:endParaRPr lang="en-US">
              <a:latin typeface="Times New Roman" pitchFamily="18" charset="0"/>
              <a:ea typeface="ＭＳ Ｐゴシック" pitchFamily="34" charset="-128"/>
            </a:endParaRPr>
          </a:p>
        </p:txBody>
      </p:sp>
      <p:sp>
        <p:nvSpPr>
          <p:cNvPr id="102404" name="Slide Number Placeholder 3"/>
          <p:cNvSpPr>
            <a:spLocks noGrp="1"/>
          </p:cNvSpPr>
          <p:nvPr>
            <p:ph type="sldNum" sz="quarter" idx="4294967295"/>
          </p:nvPr>
        </p:nvSpPr>
        <p:spPr bwMode="auto">
          <a:xfrm>
            <a:off x="3897313" y="8829675"/>
            <a:ext cx="2982912" cy="465138"/>
          </a:xfrm>
          <a:prstGeom prst="rect">
            <a:avLst/>
          </a:prstGeom>
          <a:noFill/>
          <a:ln>
            <a:miter lim="800000"/>
            <a:headEnd/>
            <a:tailEnd/>
          </a:ln>
        </p:spPr>
        <p:txBody>
          <a:bodyPr lIns="92446" tIns="46223" rIns="92446" bIns="46223"/>
          <a:lstStyle/>
          <a:p>
            <a:fld id="{DA1248AB-7186-4CA4-8C5E-3F68A47540FE}" type="slidenum">
              <a:rPr lang="en-GB">
                <a:latin typeface="Times New Roman" pitchFamily="18" charset="0"/>
              </a:rPr>
              <a:pPr/>
              <a:t>63</a:t>
            </a:fld>
            <a:endParaRPr lang="en-GB">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xfrm>
            <a:off x="1117600" y="696913"/>
            <a:ext cx="4648200" cy="3486150"/>
          </a:xfrm>
          <a:prstGeom prst="rect">
            <a:avLst/>
          </a:prstGeom>
          <a:noFill/>
          <a:ln>
            <a:solidFill>
              <a:srgbClr val="000000"/>
            </a:solidFill>
            <a:miter lim="800000"/>
            <a:headEnd/>
            <a:tailEnd/>
          </a:ln>
        </p:spPr>
      </p:sp>
      <p:sp>
        <p:nvSpPr>
          <p:cNvPr id="103427" name="Notes Placeholder 2"/>
          <p:cNvSpPr>
            <a:spLocks noGrp="1"/>
          </p:cNvSpPr>
          <p:nvPr>
            <p:ph type="body" idx="1"/>
          </p:nvPr>
        </p:nvSpPr>
        <p:spPr bwMode="auto">
          <a:xfrm>
            <a:off x="688975" y="4416425"/>
            <a:ext cx="5505450" cy="4183063"/>
          </a:xfrm>
          <a:prstGeom prst="rect">
            <a:avLst/>
          </a:prstGeom>
          <a:noFill/>
          <a:ln>
            <a:miter lim="800000"/>
            <a:headEnd/>
            <a:tailEnd/>
          </a:ln>
        </p:spPr>
        <p:txBody>
          <a:bodyPr lIns="92446" tIns="46223" rIns="92446" bIns="46223"/>
          <a:lstStyle/>
          <a:p>
            <a:pPr eaLnBrk="1" hangingPunct="1">
              <a:spcBef>
                <a:spcPct val="0"/>
              </a:spcBef>
            </a:pPr>
            <a:endParaRPr lang="en-US">
              <a:latin typeface="Times New Roman" pitchFamily="18" charset="0"/>
              <a:ea typeface="ＭＳ Ｐゴシック" pitchFamily="34" charset="-128"/>
            </a:endParaRPr>
          </a:p>
        </p:txBody>
      </p:sp>
      <p:sp>
        <p:nvSpPr>
          <p:cNvPr id="103428" name="Slide Number Placeholder 3"/>
          <p:cNvSpPr>
            <a:spLocks noGrp="1"/>
          </p:cNvSpPr>
          <p:nvPr>
            <p:ph type="sldNum" sz="quarter" idx="4294967295"/>
          </p:nvPr>
        </p:nvSpPr>
        <p:spPr bwMode="auto">
          <a:xfrm>
            <a:off x="3897313" y="8829675"/>
            <a:ext cx="2982912" cy="465138"/>
          </a:xfrm>
          <a:prstGeom prst="rect">
            <a:avLst/>
          </a:prstGeom>
          <a:noFill/>
          <a:ln>
            <a:miter lim="800000"/>
            <a:headEnd/>
            <a:tailEnd/>
          </a:ln>
        </p:spPr>
        <p:txBody>
          <a:bodyPr lIns="92446" tIns="46223" rIns="92446" bIns="46223"/>
          <a:lstStyle/>
          <a:p>
            <a:fld id="{6A01D4FA-C745-40D2-A2C2-DC9A6C1097E2}" type="slidenum">
              <a:rPr lang="en-GB">
                <a:latin typeface="Times New Roman" pitchFamily="18" charset="0"/>
              </a:rPr>
              <a:pPr/>
              <a:t>66</a:t>
            </a:fld>
            <a:endParaRPr lang="en-GB">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p:cNvSpPr>
            <a:spLocks noChangeArrowheads="1"/>
          </p:cNvSpPr>
          <p:nvPr/>
        </p:nvSpPr>
        <p:spPr bwMode="auto">
          <a:xfrm>
            <a:off x="381000" y="990600"/>
            <a:ext cx="76200" cy="5105400"/>
          </a:xfrm>
          <a:prstGeom prst="rect">
            <a:avLst/>
          </a:prstGeom>
          <a:solidFill>
            <a:schemeClr val="bg2"/>
          </a:solidFill>
          <a:ln w="12700">
            <a:noFill/>
            <a:miter lim="800000"/>
            <a:headEnd/>
            <a:tailEnd/>
          </a:ln>
        </p:spPr>
        <p:txBody>
          <a:bodyPr wrap="none" anchor="ctr"/>
          <a:lstStyle/>
          <a:p>
            <a:pPr algn="ctr"/>
            <a:endParaRPr lang="en-US">
              <a:latin typeface="Times New Roman" pitchFamily="18" charset="0"/>
            </a:endParaRPr>
          </a:p>
        </p:txBody>
      </p:sp>
      <p:grpSp>
        <p:nvGrpSpPr>
          <p:cNvPr id="5" name="Group 8"/>
          <p:cNvGrpSpPr>
            <a:grpSpLocks/>
          </p:cNvGrpSpPr>
          <p:nvPr/>
        </p:nvGrpSpPr>
        <p:grpSpPr bwMode="auto">
          <a:xfrm>
            <a:off x="381000" y="304800"/>
            <a:ext cx="8391525" cy="5791200"/>
            <a:chOff x="240" y="192"/>
            <a:chExt cx="5286" cy="3648"/>
          </a:xfrm>
        </p:grpSpPr>
        <p:sp>
          <p:nvSpPr>
            <p:cNvPr id="6" name="Rectangle 9"/>
            <p:cNvSpPr>
              <a:spLocks noChangeArrowheads="1"/>
            </p:cNvSpPr>
            <p:nvPr/>
          </p:nvSpPr>
          <p:spPr bwMode="auto">
            <a:xfrm flipV="1">
              <a:off x="5236" y="192"/>
              <a:ext cx="288" cy="288"/>
            </a:xfrm>
            <a:prstGeom prst="rect">
              <a:avLst/>
            </a:prstGeom>
            <a:solidFill>
              <a:schemeClr val="bg2"/>
            </a:solidFill>
            <a:ln w="12700">
              <a:solidFill>
                <a:schemeClr val="tx1"/>
              </a:solidFill>
              <a:miter lim="800000"/>
              <a:headEnd/>
              <a:tailEnd/>
            </a:ln>
          </p:spPr>
          <p:txBody>
            <a:bodyPr rot="10800000" wrap="none" anchor="ctr"/>
            <a:lstStyle/>
            <a:p>
              <a:pPr algn="ctr"/>
              <a:endParaRPr lang="en-US">
                <a:latin typeface="Times New Roman" pitchFamily="18" charset="0"/>
              </a:endParaRPr>
            </a:p>
          </p:txBody>
        </p:sp>
        <p:sp>
          <p:nvSpPr>
            <p:cNvPr id="7" name="Rectangle 10"/>
            <p:cNvSpPr>
              <a:spLocks noChangeArrowheads="1"/>
            </p:cNvSpPr>
            <p:nvPr/>
          </p:nvSpPr>
          <p:spPr bwMode="auto">
            <a:xfrm flipV="1">
              <a:off x="240" y="192"/>
              <a:ext cx="5004" cy="288"/>
            </a:xfrm>
            <a:prstGeom prst="rect">
              <a:avLst/>
            </a:prstGeom>
            <a:solidFill>
              <a:schemeClr val="accent2"/>
            </a:solid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8" name="Rectangle 11"/>
            <p:cNvSpPr>
              <a:spLocks noChangeArrowheads="1"/>
            </p:cNvSpPr>
            <p:nvPr/>
          </p:nvSpPr>
          <p:spPr bwMode="auto">
            <a:xfrm flipV="1">
              <a:off x="240" y="480"/>
              <a:ext cx="5004" cy="144"/>
            </a:xfrm>
            <a:prstGeom prst="rect">
              <a:avLst/>
            </a:prstGeom>
            <a:solidFill>
              <a:schemeClr val="bg2"/>
            </a:solidFill>
            <a:ln w="12700">
              <a:solidFill>
                <a:schemeClr val="tx1"/>
              </a:solidFill>
              <a:miter lim="800000"/>
              <a:headEnd/>
              <a:tailEnd/>
            </a:ln>
          </p:spPr>
          <p:txBody>
            <a:bodyPr rot="10800000" wrap="none" anchor="ctr"/>
            <a:lstStyle/>
            <a:p>
              <a:pPr algn="ctr"/>
              <a:endParaRPr lang="en-US">
                <a:latin typeface="Times New Roman" pitchFamily="18" charset="0"/>
              </a:endParaRPr>
            </a:p>
          </p:txBody>
        </p:sp>
        <p:sp>
          <p:nvSpPr>
            <p:cNvPr id="9" name="Rectangle 12"/>
            <p:cNvSpPr>
              <a:spLocks noChangeArrowheads="1"/>
            </p:cNvSpPr>
            <p:nvPr/>
          </p:nvSpPr>
          <p:spPr bwMode="auto">
            <a:xfrm flipV="1">
              <a:off x="5242" y="480"/>
              <a:ext cx="282" cy="144"/>
            </a:xfrm>
            <a:prstGeom prst="rect">
              <a:avLst/>
            </a:prstGeom>
            <a:solidFill>
              <a:schemeClr val="accent2"/>
            </a:solid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10" name="Line 13"/>
            <p:cNvSpPr>
              <a:spLocks noChangeShapeType="1"/>
            </p:cNvSpPr>
            <p:nvPr/>
          </p:nvSpPr>
          <p:spPr bwMode="auto">
            <a:xfrm flipH="1">
              <a:off x="480" y="2256"/>
              <a:ext cx="4848" cy="0"/>
            </a:xfrm>
            <a:prstGeom prst="line">
              <a:avLst/>
            </a:prstGeom>
            <a:noFill/>
            <a:ln w="12700">
              <a:solidFill>
                <a:schemeClr val="tx1"/>
              </a:solidFill>
              <a:round/>
              <a:headEnd/>
              <a:tailEnd/>
            </a:ln>
          </p:spPr>
          <p:txBody>
            <a:bodyPr/>
            <a:lstStyle/>
            <a:p>
              <a:endParaRPr lang="en-US"/>
            </a:p>
          </p:txBody>
        </p:sp>
        <p:sp>
          <p:nvSpPr>
            <p:cNvPr id="11" name="Rectangle 14"/>
            <p:cNvSpPr>
              <a:spLocks noChangeArrowheads="1"/>
            </p:cNvSpPr>
            <p:nvPr/>
          </p:nvSpPr>
          <p:spPr bwMode="auto">
            <a:xfrm>
              <a:off x="240" y="192"/>
              <a:ext cx="5286" cy="3648"/>
            </a:xfrm>
            <a:prstGeom prst="rect">
              <a:avLst/>
            </a:prstGeom>
            <a:noFill/>
            <a:ln w="12700">
              <a:solidFill>
                <a:schemeClr val="tx1"/>
              </a:solidFill>
              <a:miter lim="800000"/>
              <a:headEnd/>
              <a:tailEnd/>
            </a:ln>
          </p:spPr>
          <p:txBody>
            <a:bodyPr wrap="none" anchor="ctr"/>
            <a:lstStyle/>
            <a:p>
              <a:pPr algn="ctr"/>
              <a:endParaRPr lang="en-US">
                <a:latin typeface="Times New Roman" pitchFamily="18" charset="0"/>
              </a:endParaRPr>
            </a:p>
          </p:txBody>
        </p:sp>
      </p:grpSp>
      <p:sp>
        <p:nvSpPr>
          <p:cNvPr id="19459" name="Rectangle 3"/>
          <p:cNvSpPr>
            <a:spLocks noGrp="1" noChangeArrowheads="1"/>
          </p:cNvSpPr>
          <p:nvPr>
            <p:ph type="ctrTitle"/>
          </p:nvPr>
        </p:nvSpPr>
        <p:spPr>
          <a:xfrm>
            <a:off x="762000" y="1371600"/>
            <a:ext cx="7696200" cy="2057400"/>
          </a:xfrm>
        </p:spPr>
        <p:txBody>
          <a:bodyPr/>
          <a:lstStyle>
            <a:lvl1pPr>
              <a:defRPr sz="3600"/>
            </a:lvl1pPr>
          </a:lstStyle>
          <a:p>
            <a:r>
              <a:rPr lang="en-US"/>
              <a:t>Click to edit Master title style</a:t>
            </a:r>
            <a:endParaRPr lang="en-US" dirty="0"/>
          </a:p>
        </p:txBody>
      </p:sp>
      <p:sp>
        <p:nvSpPr>
          <p:cNvPr id="19460" name="Rectangle 4"/>
          <p:cNvSpPr>
            <a:spLocks noGrp="1" noChangeArrowheads="1"/>
          </p:cNvSpPr>
          <p:nvPr>
            <p:ph type="subTitle" idx="1"/>
          </p:nvPr>
        </p:nvSpPr>
        <p:spPr>
          <a:xfrm>
            <a:off x="762000" y="3765550"/>
            <a:ext cx="7696200" cy="2057400"/>
          </a:xfrm>
        </p:spPr>
        <p:txBody>
          <a:bodyPr/>
          <a:lstStyle>
            <a:lvl1pPr marL="0" indent="0">
              <a:buFont typeface="Wingdings" pitchFamily="2" charset="2"/>
              <a:buNone/>
              <a:defRPr sz="3200">
                <a:latin typeface="Arial" charset="0"/>
              </a:defRPr>
            </a:lvl1pPr>
          </a:lstStyle>
          <a:p>
            <a:r>
              <a:rPr lang="en-US"/>
              <a:t>Click to edit Master subtitle style</a:t>
            </a:r>
            <a:endParaRPr lang="en-US" dirty="0"/>
          </a:p>
        </p:txBody>
      </p:sp>
      <p:sp>
        <p:nvSpPr>
          <p:cNvPr id="12" name="Rectangle 5"/>
          <p:cNvSpPr>
            <a:spLocks noGrp="1" noChangeArrowheads="1"/>
          </p:cNvSpPr>
          <p:nvPr>
            <p:ph type="dt" sz="half" idx="10"/>
          </p:nvPr>
        </p:nvSpPr>
        <p:spPr>
          <a:xfrm>
            <a:off x="457200" y="6248400"/>
            <a:ext cx="2133600" cy="457200"/>
          </a:xfrm>
        </p:spPr>
        <p:txBody>
          <a:bodyPr/>
          <a:lstStyle>
            <a:lvl1pPr>
              <a:defRPr/>
            </a:lvl1pPr>
          </a:lstStyle>
          <a:p>
            <a:pPr>
              <a:defRPr/>
            </a:pPr>
            <a:fld id="{E874F589-C115-46F2-A969-B6DF2AB01E4E}" type="datetime1">
              <a:rPr lang="en-US" smtClean="0"/>
              <a:pPr>
                <a:defRPr/>
              </a:pPr>
              <a:t>5/30/2022</a:t>
            </a:fld>
            <a:endParaRPr lang="en-US"/>
          </a:p>
        </p:txBody>
      </p:sp>
      <p:sp>
        <p:nvSpPr>
          <p:cNvPr id="13" name="Rectangle 6"/>
          <p:cNvSpPr>
            <a:spLocks noGrp="1" noChangeArrowheads="1"/>
          </p:cNvSpPr>
          <p:nvPr>
            <p:ph type="ftr" sz="quarter" idx="11"/>
          </p:nvPr>
        </p:nvSpPr>
        <p:spPr/>
        <p:txBody>
          <a:bodyPr/>
          <a:lstStyle>
            <a:lvl1pPr>
              <a:defRPr/>
            </a:lvl1pPr>
          </a:lstStyle>
          <a:p>
            <a:pPr>
              <a:defRPr/>
            </a:pPr>
            <a:r>
              <a:rPr lang="en-US"/>
              <a:t>BIS1204</a:t>
            </a:r>
          </a:p>
        </p:txBody>
      </p:sp>
      <p:sp>
        <p:nvSpPr>
          <p:cNvPr id="14" name="Rectangle 7"/>
          <p:cNvSpPr>
            <a:spLocks noGrp="1" noChangeArrowheads="1"/>
          </p:cNvSpPr>
          <p:nvPr>
            <p:ph type="sldNum" sz="quarter" idx="12"/>
          </p:nvPr>
        </p:nvSpPr>
        <p:spPr>
          <a:xfrm>
            <a:off x="6553200" y="6248400"/>
            <a:ext cx="2133600" cy="457200"/>
          </a:xfrm>
        </p:spPr>
        <p:txBody>
          <a:bodyPr/>
          <a:lstStyle>
            <a:lvl1pPr>
              <a:defRPr b="1"/>
            </a:lvl1pPr>
          </a:lstStyle>
          <a:p>
            <a:pPr>
              <a:defRPr/>
            </a:pPr>
            <a:fld id="{CBD16A5B-238A-4A6C-BF38-058D68FB77C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fld id="{332C5AB1-45FC-4D1C-A38A-BB13668A6D24}" type="datetime1">
              <a:rPr lang="en-US" smtClean="0"/>
              <a:pPr>
                <a:defRPr/>
              </a:pPr>
              <a:t>5/30/2022</a:t>
            </a:fld>
            <a:endParaRPr lang="en-US"/>
          </a:p>
        </p:txBody>
      </p:sp>
      <p:sp>
        <p:nvSpPr>
          <p:cNvPr id="5" name="Rectangle 5"/>
          <p:cNvSpPr>
            <a:spLocks noGrp="1" noChangeArrowheads="1"/>
          </p:cNvSpPr>
          <p:nvPr>
            <p:ph type="ftr" sz="quarter" idx="11"/>
          </p:nvPr>
        </p:nvSpPr>
        <p:spPr/>
        <p:txBody>
          <a:bodyPr/>
          <a:lstStyle>
            <a:lvl1pPr>
              <a:defRPr/>
            </a:lvl1pPr>
          </a:lstStyle>
          <a:p>
            <a:pPr>
              <a:defRPr/>
            </a:pPr>
            <a:r>
              <a:rPr lang="en-US"/>
              <a:t>BIS1204</a:t>
            </a:r>
          </a:p>
        </p:txBody>
      </p:sp>
      <p:sp>
        <p:nvSpPr>
          <p:cNvPr id="6" name="Rectangle 6"/>
          <p:cNvSpPr>
            <a:spLocks noGrp="1" noChangeArrowheads="1"/>
          </p:cNvSpPr>
          <p:nvPr>
            <p:ph type="sldNum" sz="quarter" idx="12"/>
          </p:nvPr>
        </p:nvSpPr>
        <p:spPr/>
        <p:txBody>
          <a:bodyPr/>
          <a:lstStyle>
            <a:lvl1pPr>
              <a:defRPr/>
            </a:lvl1pPr>
          </a:lstStyle>
          <a:p>
            <a:pPr>
              <a:defRPr/>
            </a:pPr>
            <a:fld id="{70EFCDA5-C848-48A8-B81F-AE302B9463AB}"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ABA27D6-0915-4DB6-88EC-561C1ABC049C}" type="datetime1">
              <a:rPr lang="en-US" smtClean="0"/>
              <a:pPr>
                <a:defRPr/>
              </a:pPr>
              <a:t>5/30/2022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6" name="Rectangle 6"/>
          <p:cNvSpPr>
            <a:spLocks noGrp="1" noChangeArrowheads="1"/>
          </p:cNvSpPr>
          <p:nvPr>
            <p:ph type="sldNum" sz="quarter" idx="12"/>
          </p:nvPr>
        </p:nvSpPr>
        <p:spPr>
          <a:ln/>
        </p:spPr>
        <p:txBody>
          <a:bodyPr/>
          <a:lstStyle>
            <a:lvl1pPr>
              <a:defRPr/>
            </a:lvl1pPr>
          </a:lstStyle>
          <a:p>
            <a:pPr>
              <a:defRPr/>
            </a:pPr>
            <a:fld id="{2981954B-5138-4C79-922C-588B0268E901}"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828800"/>
            <a:ext cx="40386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8800"/>
            <a:ext cx="40386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5A89A0F6-CCCB-45BE-BA47-6A9119EF2588}" type="datetime1">
              <a:rPr lang="en-US" smtClean="0"/>
              <a:pPr>
                <a:defRPr/>
              </a:pPr>
              <a:t>5/30/2022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7" name="Rectangle 6"/>
          <p:cNvSpPr>
            <a:spLocks noGrp="1" noChangeArrowheads="1"/>
          </p:cNvSpPr>
          <p:nvPr>
            <p:ph type="sldNum" sz="quarter" idx="12"/>
          </p:nvPr>
        </p:nvSpPr>
        <p:spPr>
          <a:ln/>
        </p:spPr>
        <p:txBody>
          <a:bodyPr/>
          <a:lstStyle>
            <a:lvl1pPr>
              <a:defRPr/>
            </a:lvl1pPr>
          </a:lstStyle>
          <a:p>
            <a:pPr>
              <a:defRPr/>
            </a:pPr>
            <a:fld id="{E5E56B07-DAFA-44AE-9DD5-47ADB85ADE4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665D5A7-CFCF-4E52-A770-F9AA4710384D}" type="datetime1">
              <a:rPr lang="en-US" smtClean="0"/>
              <a:pPr>
                <a:defRPr/>
              </a:pPr>
              <a:t>5/30/2022</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9" name="Rectangle 6"/>
          <p:cNvSpPr>
            <a:spLocks noGrp="1" noChangeArrowheads="1"/>
          </p:cNvSpPr>
          <p:nvPr>
            <p:ph type="sldNum" sz="quarter" idx="12"/>
          </p:nvPr>
        </p:nvSpPr>
        <p:spPr>
          <a:ln/>
        </p:spPr>
        <p:txBody>
          <a:bodyPr/>
          <a:lstStyle>
            <a:lvl1pPr>
              <a:defRPr/>
            </a:lvl1pPr>
          </a:lstStyle>
          <a:p>
            <a:pPr>
              <a:defRPr/>
            </a:pPr>
            <a:fld id="{05C56842-E992-4ABA-B8F8-F66A09956DA7}"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E3CB5044-073C-4188-ABAD-EA49956BD6B3}" type="datetime1">
              <a:rPr lang="en-US" smtClean="0"/>
              <a:pPr>
                <a:defRPr/>
              </a:pPr>
              <a:t>5/30/2022</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5" name="Rectangle 6"/>
          <p:cNvSpPr>
            <a:spLocks noGrp="1" noChangeArrowheads="1"/>
          </p:cNvSpPr>
          <p:nvPr>
            <p:ph type="sldNum" sz="quarter" idx="12"/>
          </p:nvPr>
        </p:nvSpPr>
        <p:spPr>
          <a:ln/>
        </p:spPr>
        <p:txBody>
          <a:bodyPr/>
          <a:lstStyle>
            <a:lvl1pPr>
              <a:defRPr/>
            </a:lvl1pPr>
          </a:lstStyle>
          <a:p>
            <a:pPr>
              <a:defRPr/>
            </a:pPr>
            <a:fld id="{4AC14709-31BF-4C7C-A093-4CBC2ADB8EA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BA3424C-98AB-42AA-B327-417D6DC18C12}" type="datetime1">
              <a:rPr lang="en-US" smtClean="0"/>
              <a:pPr>
                <a:defRPr/>
              </a:pPr>
              <a:t>5/30/2022</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4" name="Rectangle 6"/>
          <p:cNvSpPr>
            <a:spLocks noGrp="1" noChangeArrowheads="1"/>
          </p:cNvSpPr>
          <p:nvPr>
            <p:ph type="sldNum" sz="quarter" idx="12"/>
          </p:nvPr>
        </p:nvSpPr>
        <p:spPr>
          <a:ln/>
        </p:spPr>
        <p:txBody>
          <a:bodyPr/>
          <a:lstStyle>
            <a:lvl1pPr>
              <a:defRPr/>
            </a:lvl1pPr>
          </a:lstStyle>
          <a:p>
            <a:pPr>
              <a:defRPr/>
            </a:pPr>
            <a:fld id="{346C6B8D-E3E9-40E8-A438-EA253BE9986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E7F7FF97-7D74-4891-8536-A328405B6E7B}" type="datetime1">
              <a:rPr lang="en-US" smtClean="0"/>
              <a:pPr>
                <a:defRPr/>
              </a:pPr>
              <a:t>5/30/2022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7" name="Rectangle 6"/>
          <p:cNvSpPr>
            <a:spLocks noGrp="1" noChangeArrowheads="1"/>
          </p:cNvSpPr>
          <p:nvPr>
            <p:ph type="sldNum" sz="quarter" idx="12"/>
          </p:nvPr>
        </p:nvSpPr>
        <p:spPr>
          <a:ln/>
        </p:spPr>
        <p:txBody>
          <a:bodyPr/>
          <a:lstStyle>
            <a:lvl1pPr>
              <a:defRPr/>
            </a:lvl1pPr>
          </a:lstStyle>
          <a:p>
            <a:pPr>
              <a:defRPr/>
            </a:pPr>
            <a:fld id="{74B4D033-D4EC-401A-8225-F72728ECE23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F6A9D2D-BCA2-40C2-BA4B-1496FB3595B4}" type="datetime1">
              <a:rPr lang="en-US" smtClean="0"/>
              <a:pPr>
                <a:defRPr/>
              </a:pPr>
              <a:t>5/30/2022</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7" name="Rectangle 6"/>
          <p:cNvSpPr>
            <a:spLocks noGrp="1" noChangeArrowheads="1"/>
          </p:cNvSpPr>
          <p:nvPr>
            <p:ph type="sldNum" sz="quarter" idx="12"/>
          </p:nvPr>
        </p:nvSpPr>
        <p:spPr>
          <a:ln/>
        </p:spPr>
        <p:txBody>
          <a:bodyPr/>
          <a:lstStyle>
            <a:lvl1pPr>
              <a:defRPr/>
            </a:lvl1pPr>
          </a:lstStyle>
          <a:p>
            <a:pPr>
              <a:defRPr/>
            </a:pPr>
            <a:fld id="{D0B29804-580C-4F26-BBEE-7207EF48EF6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0BF5FA44-4C67-4841-9381-2BABDCF0E6CD}" type="datetime1">
              <a:rPr lang="en-US" smtClean="0"/>
              <a:pPr>
                <a:defRPr/>
              </a:pPr>
              <a:t>5/30/2022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6" name="Rectangle 6"/>
          <p:cNvSpPr>
            <a:spLocks noGrp="1" noChangeArrowheads="1"/>
          </p:cNvSpPr>
          <p:nvPr>
            <p:ph type="sldNum" sz="quarter" idx="12"/>
          </p:nvPr>
        </p:nvSpPr>
        <p:spPr>
          <a:ln/>
        </p:spPr>
        <p:txBody>
          <a:bodyPr/>
          <a:lstStyle>
            <a:lvl1pPr>
              <a:defRPr/>
            </a:lvl1pPr>
          </a:lstStyle>
          <a:p>
            <a:pPr>
              <a:defRPr/>
            </a:pPr>
            <a:fld id="{4ADC3795-1C3D-4EF5-AAC4-1D75C2D17F7F}"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0"/>
            <a:ext cx="2057400" cy="5597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33400"/>
            <a:ext cx="6019800" cy="5597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58B9BA62-23DF-4F0E-B1FE-3DC9B862B960}" type="datetime1">
              <a:rPr lang="en-US" smtClean="0"/>
              <a:pPr>
                <a:defRPr/>
              </a:pPr>
              <a:t>5/30/2022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6" name="Rectangle 6"/>
          <p:cNvSpPr>
            <a:spLocks noGrp="1" noChangeArrowheads="1"/>
          </p:cNvSpPr>
          <p:nvPr>
            <p:ph type="sldNum" sz="quarter" idx="12"/>
          </p:nvPr>
        </p:nvSpPr>
        <p:spPr>
          <a:ln/>
        </p:spPr>
        <p:txBody>
          <a:bodyPr/>
          <a:lstStyle>
            <a:lvl1pPr>
              <a:defRPr/>
            </a:lvl1pPr>
          </a:lstStyle>
          <a:p>
            <a:pPr>
              <a:defRPr/>
            </a:pPr>
            <a:fld id="{44ED3D6C-FBE5-40B0-A995-594709E1245C}"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fld id="{011C4F69-3CE3-471D-8F74-8CD10A3DB2D7}" type="datetime1">
              <a:rPr lang="en-US" smtClean="0"/>
              <a:pPr>
                <a:defRPr/>
              </a:pPr>
              <a:t>5/30/2022</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BIS1204</a:t>
            </a:r>
          </a:p>
        </p:txBody>
      </p:sp>
      <p:sp>
        <p:nvSpPr>
          <p:cNvPr id="6" name="Rectangle 6"/>
          <p:cNvSpPr>
            <a:spLocks noGrp="1" noChangeArrowheads="1"/>
          </p:cNvSpPr>
          <p:nvPr>
            <p:ph type="sldNum" sz="quarter" idx="12"/>
          </p:nvPr>
        </p:nvSpPr>
        <p:spPr>
          <a:ln/>
        </p:spPr>
        <p:txBody>
          <a:bodyPr/>
          <a:lstStyle>
            <a:lvl1pPr>
              <a:defRPr/>
            </a:lvl1pPr>
          </a:lstStyle>
          <a:p>
            <a:pPr>
              <a:defRPr/>
            </a:pPr>
            <a:fld id="{74ED23CD-B649-4FC1-896C-BF37B18D815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533400"/>
            <a:ext cx="82296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828800"/>
            <a:ext cx="8229600" cy="43021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436" name="Rectangle 4"/>
          <p:cNvSpPr>
            <a:spLocks noGrp="1" noChangeArrowheads="1"/>
          </p:cNvSpPr>
          <p:nvPr>
            <p:ph type="dt" sz="half" idx="2"/>
          </p:nvPr>
        </p:nvSpPr>
        <p:spPr bwMode="auto">
          <a:xfrm>
            <a:off x="457200" y="6248400"/>
            <a:ext cx="1676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ea typeface="ＭＳ Ｐゴシック" pitchFamily="-105" charset="-128"/>
                <a:cs typeface="+mn-cs"/>
              </a:defRPr>
            </a:lvl1pPr>
          </a:lstStyle>
          <a:p>
            <a:pPr>
              <a:defRPr/>
            </a:pPr>
            <a:fld id="{B4B90299-21A2-4F20-8AA3-DDA43FCF52C6}" type="datetime1">
              <a:rPr lang="en-US" smtClean="0"/>
              <a:pPr>
                <a:defRPr/>
              </a:pPr>
              <a:t>5/30/2022</a:t>
            </a:fld>
            <a:endParaRPr lang="en-US"/>
          </a:p>
        </p:txBody>
      </p:sp>
      <p:sp>
        <p:nvSpPr>
          <p:cNvPr id="18437"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ea typeface="ＭＳ Ｐゴシック" pitchFamily="-105" charset="-128"/>
                <a:cs typeface="+mn-cs"/>
              </a:defRPr>
            </a:lvl1pPr>
          </a:lstStyle>
          <a:p>
            <a:pPr>
              <a:defRPr/>
            </a:pPr>
            <a:r>
              <a:rPr lang="en-US"/>
              <a:t>BIS1204</a:t>
            </a:r>
          </a:p>
        </p:txBody>
      </p:sp>
      <p:sp>
        <p:nvSpPr>
          <p:cNvPr id="18438" name="Rectangle 6"/>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Arial" charset="0"/>
                <a:ea typeface="ＭＳ Ｐゴシック" pitchFamily="-105" charset="-128"/>
                <a:cs typeface="+mn-cs"/>
              </a:defRPr>
            </a:lvl1pPr>
          </a:lstStyle>
          <a:p>
            <a:pPr>
              <a:defRPr/>
            </a:pPr>
            <a:fld id="{393990B9-7F71-42D4-9AF5-DB6CD3389721}" type="slidenum">
              <a:rPr lang="en-US"/>
              <a:pPr>
                <a:defRPr/>
              </a:pPr>
              <a:t>‹#›</a:t>
            </a:fld>
            <a:endParaRPr lang="en-US"/>
          </a:p>
        </p:txBody>
      </p:sp>
      <p:grpSp>
        <p:nvGrpSpPr>
          <p:cNvPr id="1031" name="Group 7"/>
          <p:cNvGrpSpPr>
            <a:grpSpLocks/>
          </p:cNvGrpSpPr>
          <p:nvPr/>
        </p:nvGrpSpPr>
        <p:grpSpPr bwMode="auto">
          <a:xfrm>
            <a:off x="279400" y="152400"/>
            <a:ext cx="8686800" cy="1600200"/>
            <a:chOff x="176" y="96"/>
            <a:chExt cx="5472" cy="1008"/>
          </a:xfrm>
        </p:grpSpPr>
        <p:sp>
          <p:nvSpPr>
            <p:cNvPr id="1032" name="Line 8"/>
            <p:cNvSpPr>
              <a:spLocks noChangeShapeType="1"/>
            </p:cNvSpPr>
            <p:nvPr/>
          </p:nvSpPr>
          <p:spPr bwMode="auto">
            <a:xfrm flipH="1">
              <a:off x="288" y="1104"/>
              <a:ext cx="5232" cy="0"/>
            </a:xfrm>
            <a:prstGeom prst="line">
              <a:avLst/>
            </a:prstGeom>
            <a:noFill/>
            <a:ln w="12700">
              <a:solidFill>
                <a:schemeClr val="tx1"/>
              </a:solidFill>
              <a:round/>
              <a:headEnd/>
              <a:tailEnd/>
            </a:ln>
          </p:spPr>
          <p:txBody>
            <a:bodyPr/>
            <a:lstStyle/>
            <a:p>
              <a:endParaRPr lang="en-US"/>
            </a:p>
          </p:txBody>
        </p:sp>
        <p:sp>
          <p:nvSpPr>
            <p:cNvPr id="1033" name="Rectangle 9"/>
            <p:cNvSpPr>
              <a:spLocks noChangeArrowheads="1"/>
            </p:cNvSpPr>
            <p:nvPr/>
          </p:nvSpPr>
          <p:spPr bwMode="auto">
            <a:xfrm>
              <a:off x="5504" y="96"/>
              <a:ext cx="144" cy="144"/>
            </a:xfrm>
            <a:prstGeom prst="rect">
              <a:avLst/>
            </a:prstGeom>
            <a:solidFill>
              <a:schemeClr val="bg2"/>
            </a:solid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1034" name="Rectangle 10"/>
            <p:cNvSpPr>
              <a:spLocks noChangeArrowheads="1"/>
            </p:cNvSpPr>
            <p:nvPr/>
          </p:nvSpPr>
          <p:spPr bwMode="auto">
            <a:xfrm>
              <a:off x="176" y="96"/>
              <a:ext cx="5326" cy="144"/>
            </a:xfrm>
            <a:prstGeom prst="rect">
              <a:avLst/>
            </a:prstGeom>
            <a:solidFill>
              <a:schemeClr val="accent2"/>
            </a:solid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1035" name="Rectangle 11"/>
            <p:cNvSpPr>
              <a:spLocks noChangeArrowheads="1"/>
            </p:cNvSpPr>
            <p:nvPr/>
          </p:nvSpPr>
          <p:spPr bwMode="auto">
            <a:xfrm>
              <a:off x="176" y="240"/>
              <a:ext cx="5326" cy="88"/>
            </a:xfrm>
            <a:prstGeom prst="rect">
              <a:avLst/>
            </a:prstGeom>
            <a:solidFill>
              <a:schemeClr val="bg2"/>
            </a:solidFill>
            <a:ln w="12700">
              <a:solidFill>
                <a:schemeClr val="tx1"/>
              </a:solidFill>
              <a:miter lim="800000"/>
              <a:headEnd/>
              <a:tailEnd/>
            </a:ln>
          </p:spPr>
          <p:txBody>
            <a:bodyPr wrap="none" anchor="ctr"/>
            <a:lstStyle/>
            <a:p>
              <a:pPr algn="ctr"/>
              <a:endParaRPr lang="en-US">
                <a:latin typeface="Times New Roman" pitchFamily="18" charset="0"/>
              </a:endParaRPr>
            </a:p>
          </p:txBody>
        </p:sp>
        <p:sp>
          <p:nvSpPr>
            <p:cNvPr id="1036" name="Rectangle 12"/>
            <p:cNvSpPr>
              <a:spLocks noChangeArrowheads="1"/>
            </p:cNvSpPr>
            <p:nvPr/>
          </p:nvSpPr>
          <p:spPr bwMode="auto">
            <a:xfrm>
              <a:off x="5504" y="241"/>
              <a:ext cx="144" cy="86"/>
            </a:xfrm>
            <a:prstGeom prst="rect">
              <a:avLst/>
            </a:prstGeom>
            <a:solidFill>
              <a:schemeClr val="accent2"/>
            </a:solidFill>
            <a:ln w="12700">
              <a:solidFill>
                <a:schemeClr val="tx1"/>
              </a:solidFill>
              <a:miter lim="800000"/>
              <a:headEnd/>
              <a:tailEnd/>
            </a:ln>
          </p:spPr>
          <p:txBody>
            <a:bodyPr wrap="none" anchor="ctr"/>
            <a:lstStyle/>
            <a:p>
              <a:pPr algn="ctr"/>
              <a:endParaRPr lang="en-US">
                <a:latin typeface="Times New Roman" pitchFamily="18" charset="0"/>
              </a:endParaRPr>
            </a:p>
          </p:txBody>
        </p:sp>
      </p:grpSp>
    </p:spTree>
  </p:cSld>
  <p:clrMap bg1="lt1" tx1="dk1" bg2="lt2" tx2="dk2" accent1="accent1" accent2="accent2" accent3="accent3" accent4="accent4" accent5="accent5" accent6="accent6" hlink="hlink" folHlink="folHlink"/>
  <p:sldLayoutIdLst>
    <p:sldLayoutId id="2147484056" r:id="rId1"/>
    <p:sldLayoutId id="2147484057"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 id="2147484055" r:id="rId12"/>
  </p:sldLayoutIdLst>
  <p:hf hdr="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imes New Roman" pitchFamily="18" charset="0"/>
          <a:cs typeface="Arial" charset="0"/>
        </a:defRPr>
      </a:lvl2pPr>
      <a:lvl3pPr algn="l" rtl="0" eaLnBrk="0" fontAlgn="base" hangingPunct="0">
        <a:spcBef>
          <a:spcPct val="0"/>
        </a:spcBef>
        <a:spcAft>
          <a:spcPct val="0"/>
        </a:spcAft>
        <a:defRPr sz="3600">
          <a:solidFill>
            <a:schemeClr val="tx2"/>
          </a:solidFill>
          <a:latin typeface="Times New Roman" pitchFamily="18" charset="0"/>
          <a:cs typeface="Arial" charset="0"/>
        </a:defRPr>
      </a:lvl3pPr>
      <a:lvl4pPr algn="l" rtl="0" eaLnBrk="0" fontAlgn="base" hangingPunct="0">
        <a:spcBef>
          <a:spcPct val="0"/>
        </a:spcBef>
        <a:spcAft>
          <a:spcPct val="0"/>
        </a:spcAft>
        <a:defRPr sz="3600">
          <a:solidFill>
            <a:schemeClr val="tx2"/>
          </a:solidFill>
          <a:latin typeface="Times New Roman" pitchFamily="18" charset="0"/>
          <a:cs typeface="Arial" charset="0"/>
        </a:defRPr>
      </a:lvl4pPr>
      <a:lvl5pPr algn="l" rtl="0" eaLnBrk="0" fontAlgn="base" hangingPunct="0">
        <a:spcBef>
          <a:spcPct val="0"/>
        </a:spcBef>
        <a:spcAft>
          <a:spcPct val="0"/>
        </a:spcAft>
        <a:defRPr sz="3600">
          <a:solidFill>
            <a:schemeClr val="tx2"/>
          </a:solidFill>
          <a:latin typeface="Times New Roman" pitchFamily="18" charset="0"/>
          <a:cs typeface="Arial" charset="0"/>
        </a:defRPr>
      </a:lvl5pPr>
      <a:lvl6pPr marL="457200" algn="l" rtl="0" eaLnBrk="1" fontAlgn="base" hangingPunct="1">
        <a:spcBef>
          <a:spcPct val="0"/>
        </a:spcBef>
        <a:spcAft>
          <a:spcPct val="0"/>
        </a:spcAft>
        <a:defRPr sz="4400">
          <a:solidFill>
            <a:schemeClr val="tx2"/>
          </a:solidFill>
          <a:latin typeface="Times New Roman" pitchFamily="18" charset="0"/>
          <a:cs typeface="Arial" charset="0"/>
        </a:defRPr>
      </a:lvl6pPr>
      <a:lvl7pPr marL="914400" algn="l" rtl="0" eaLnBrk="1" fontAlgn="base" hangingPunct="1">
        <a:spcBef>
          <a:spcPct val="0"/>
        </a:spcBef>
        <a:spcAft>
          <a:spcPct val="0"/>
        </a:spcAft>
        <a:defRPr sz="4400">
          <a:solidFill>
            <a:schemeClr val="tx2"/>
          </a:solidFill>
          <a:latin typeface="Times New Roman" pitchFamily="18" charset="0"/>
          <a:cs typeface="Arial" charset="0"/>
        </a:defRPr>
      </a:lvl7pPr>
      <a:lvl8pPr marL="1371600" algn="l" rtl="0" eaLnBrk="1" fontAlgn="base" hangingPunct="1">
        <a:spcBef>
          <a:spcPct val="0"/>
        </a:spcBef>
        <a:spcAft>
          <a:spcPct val="0"/>
        </a:spcAft>
        <a:defRPr sz="4400">
          <a:solidFill>
            <a:schemeClr val="tx2"/>
          </a:solidFill>
          <a:latin typeface="Times New Roman" pitchFamily="18" charset="0"/>
          <a:cs typeface="Arial" charset="0"/>
        </a:defRPr>
      </a:lvl8pPr>
      <a:lvl9pPr marL="1828800" algn="l" rtl="0" eaLnBrk="1" fontAlgn="base" hangingPunct="1">
        <a:spcBef>
          <a:spcPct val="0"/>
        </a:spcBef>
        <a:spcAft>
          <a:spcPct val="0"/>
        </a:spcAft>
        <a:defRPr sz="4400">
          <a:solidFill>
            <a:schemeClr val="tx2"/>
          </a:solidFill>
          <a:latin typeface="Times New Roman" pitchFamily="18" charset="0"/>
          <a:cs typeface="Arial" charset="0"/>
        </a:defRPr>
      </a:lvl9pPr>
    </p:titleStyle>
    <p:bodyStyle>
      <a:lvl1pPr marL="469900" indent="-469900" algn="l" rtl="0" eaLnBrk="0" fontAlgn="base" hangingPunct="0">
        <a:spcBef>
          <a:spcPct val="20000"/>
        </a:spcBef>
        <a:spcAft>
          <a:spcPct val="0"/>
        </a:spcAft>
        <a:buClr>
          <a:schemeClr val="bg2"/>
        </a:buClr>
        <a:buSzPct val="70000"/>
        <a:buFont typeface="Wingdings" pitchFamily="2" charset="2"/>
        <a:buChar char="o"/>
        <a:defRPr sz="24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400">
          <a:solidFill>
            <a:schemeClr val="tx1"/>
          </a:solidFill>
          <a:latin typeface="+mn-lt"/>
          <a:cs typeface="+mn-cs"/>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000">
          <a:solidFill>
            <a:schemeClr val="tx1"/>
          </a:solidFill>
          <a:latin typeface="+mn-lt"/>
          <a:cs typeface="+mn-cs"/>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chemeClr val="tx1"/>
          </a:solidFill>
          <a:latin typeface="+mn-lt"/>
          <a:cs typeface="+mn-cs"/>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chemeClr val="tx1"/>
          </a:solidFill>
          <a:latin typeface="+mn-lt"/>
          <a:cs typeface="+mn-cs"/>
        </a:defRPr>
      </a:lvl5pPr>
      <a:lvl6pPr marL="27543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cs typeface="+mn-cs"/>
        </a:defRPr>
      </a:lvl6pPr>
      <a:lvl7pPr marL="32115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cs typeface="+mn-cs"/>
        </a:defRPr>
      </a:lvl7pPr>
      <a:lvl8pPr marL="36687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cs typeface="+mn-cs"/>
        </a:defRPr>
      </a:lvl8pPr>
      <a:lvl9pPr marL="4125913" indent="-468313" algn="l" rtl="0" eaLnBrk="1" fontAlgn="base" hangingPunct="1">
        <a:spcBef>
          <a:spcPct val="20000"/>
        </a:spcBef>
        <a:spcAft>
          <a:spcPct val="0"/>
        </a:spcAft>
        <a:buClr>
          <a:schemeClr val="accent1"/>
        </a:buClr>
        <a:buSzPct val="50000"/>
        <a:buFont typeface="Wingdings" pitchFamily="2" charset="2"/>
        <a:buChar char="o"/>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eaLnBrk="1" hangingPunct="1"/>
            <a:r>
              <a:rPr lang="en-GB" b="1">
                <a:latin typeface="Times" pitchFamily="18" charset="0"/>
              </a:rPr>
              <a:t>LECTURE I</a:t>
            </a:r>
            <a:r>
              <a:rPr lang="en-GB">
                <a:latin typeface="Times" pitchFamily="18" charset="0"/>
              </a:rPr>
              <a:t/>
            </a:r>
            <a:br>
              <a:rPr lang="en-GB">
                <a:latin typeface="Times" pitchFamily="18" charset="0"/>
              </a:rPr>
            </a:br>
            <a:endParaRPr lang="en-GB">
              <a:solidFill>
                <a:schemeClr val="tx1"/>
              </a:solidFill>
              <a:latin typeface="Times" pitchFamily="18" charset="0"/>
            </a:endParaRPr>
          </a:p>
        </p:txBody>
      </p:sp>
      <p:sp>
        <p:nvSpPr>
          <p:cNvPr id="4099" name="Rectangle 3" descr="Rectangle: Click to edit Master text styles&#10;Second level&#10;Third level&#10;Fourth level&#10;Fifth level"/>
          <p:cNvSpPr>
            <a:spLocks noGrp="1" noChangeArrowheads="1"/>
          </p:cNvSpPr>
          <p:nvPr>
            <p:ph type="subTitle" idx="1"/>
          </p:nvPr>
        </p:nvSpPr>
        <p:spPr>
          <a:xfrm>
            <a:off x="762000" y="3571876"/>
            <a:ext cx="7696200" cy="2057400"/>
          </a:xfrm>
        </p:spPr>
        <p:txBody>
          <a:bodyPr/>
          <a:lstStyle/>
          <a:p>
            <a:pPr algn="ctr"/>
            <a:r>
              <a:rPr lang="en-US" sz="4000" b="1" dirty="0">
                <a:latin typeface="Times" pitchFamily="18" charset="0"/>
              </a:rPr>
              <a:t>Introduction to Data and Information Management 1</a:t>
            </a:r>
            <a:endParaRPr lang="en-US" sz="4000" dirty="0">
              <a:latin typeface="Times" pitchFamily="18" charset="0"/>
            </a:endParaRPr>
          </a:p>
          <a:p>
            <a:pPr eaLnBrk="1" hangingPunct="1"/>
            <a:endParaRPr lang="en-GB" dirty="0">
              <a:latin typeface="Times" pitchFamily="18" charset="0"/>
            </a:endParaRPr>
          </a:p>
        </p:txBody>
      </p:sp>
      <p:sp>
        <p:nvSpPr>
          <p:cNvPr id="4100" name="Slide Number Placeholder 8"/>
          <p:cNvSpPr>
            <a:spLocks noGrp="1"/>
          </p:cNvSpPr>
          <p:nvPr>
            <p:ph type="sldNum" sz="quarter" idx="12"/>
          </p:nvPr>
        </p:nvSpPr>
        <p:spPr>
          <a:noFill/>
        </p:spPr>
        <p:txBody>
          <a:bodyPr/>
          <a:lstStyle/>
          <a:p>
            <a:fld id="{C99580E0-5858-46E9-8602-FB1596EEA70A}" type="slidenum">
              <a:rPr lang="en-US" smtClean="0">
                <a:latin typeface="Arial" pitchFamily="34" charset="0"/>
                <a:ea typeface="ＭＳ Ｐゴシック" pitchFamily="34" charset="-128"/>
              </a:rPr>
              <a:pPr/>
              <a:t>1</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909293E-C071-4749-BA12-BDF1FC6CF362}"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b="1">
                <a:latin typeface="Times" pitchFamily="18" charset="0"/>
              </a:rPr>
              <a:t>Objectives</a:t>
            </a:r>
          </a:p>
        </p:txBody>
      </p:sp>
      <p:sp>
        <p:nvSpPr>
          <p:cNvPr id="4099" name="Content Placeholder 2"/>
          <p:cNvSpPr>
            <a:spLocks noGrp="1"/>
          </p:cNvSpPr>
          <p:nvPr>
            <p:ph idx="1"/>
          </p:nvPr>
        </p:nvSpPr>
        <p:spPr>
          <a:xfrm>
            <a:off x="468313" y="1773238"/>
            <a:ext cx="8245475" cy="4870450"/>
          </a:xfrm>
        </p:spPr>
        <p:txBody>
          <a:bodyPr/>
          <a:lstStyle/>
          <a:p>
            <a:pPr>
              <a:defRPr/>
            </a:pPr>
            <a:r>
              <a:rPr lang="en-US" sz="2800" dirty="0">
                <a:latin typeface="Times" pitchFamily="18" charset="0"/>
              </a:rPr>
              <a:t>Data, Information and its relevance</a:t>
            </a:r>
          </a:p>
          <a:p>
            <a:pPr>
              <a:defRPr/>
            </a:pPr>
            <a:r>
              <a:rPr lang="en-US" sz="2800" dirty="0">
                <a:latin typeface="Times" pitchFamily="18" charset="0"/>
              </a:rPr>
              <a:t>Review earlier data management approach </a:t>
            </a:r>
          </a:p>
          <a:p>
            <a:pPr lvl="1" indent="-277813">
              <a:buClr>
                <a:schemeClr val="bg2"/>
              </a:buClr>
              <a:buFont typeface="Wingdings" pitchFamily="2" charset="2"/>
              <a:buChar char="ü"/>
              <a:defRPr/>
            </a:pPr>
            <a:r>
              <a:rPr lang="en-US" sz="2800" dirty="0">
                <a:latin typeface="Times" pitchFamily="18" charset="0"/>
              </a:rPr>
              <a:t>File based systems and their challenges</a:t>
            </a:r>
          </a:p>
          <a:p>
            <a:pPr>
              <a:defRPr/>
            </a:pPr>
            <a:r>
              <a:rPr lang="en-US" sz="2800" dirty="0">
                <a:latin typeface="Times" pitchFamily="18" charset="0"/>
              </a:rPr>
              <a:t>Examine the database approach</a:t>
            </a:r>
          </a:p>
          <a:p>
            <a:pPr lvl="1" indent="-338138">
              <a:buClr>
                <a:schemeClr val="bg2"/>
              </a:buClr>
              <a:buFont typeface="Wingdings" pitchFamily="2" charset="2"/>
              <a:buChar char="ü"/>
              <a:defRPr/>
            </a:pPr>
            <a:r>
              <a:rPr lang="en-US" sz="2800" dirty="0">
                <a:latin typeface="Times" pitchFamily="18" charset="0"/>
              </a:rPr>
              <a:t>Major components of DBMS.</a:t>
            </a:r>
          </a:p>
          <a:p>
            <a:pPr lvl="1" indent="-338138">
              <a:buClr>
                <a:schemeClr val="bg2"/>
              </a:buClr>
              <a:buFont typeface="Wingdings" pitchFamily="2" charset="2"/>
              <a:buChar char="ü"/>
              <a:defRPr/>
            </a:pPr>
            <a:r>
              <a:rPr lang="en-US" sz="2800" dirty="0">
                <a:latin typeface="Times" pitchFamily="18" charset="0"/>
              </a:rPr>
              <a:t>Advantages and disadvantages of DBMS’s</a:t>
            </a:r>
          </a:p>
          <a:p>
            <a:pPr lvl="1" indent="-338138">
              <a:buClr>
                <a:schemeClr val="bg2"/>
              </a:buClr>
              <a:buFont typeface="Wingdings" pitchFamily="2" charset="2"/>
              <a:buChar char="ü"/>
              <a:defRPr/>
            </a:pPr>
            <a:r>
              <a:rPr lang="en-US" sz="2800" dirty="0">
                <a:latin typeface="Times" pitchFamily="18" charset="0"/>
              </a:rPr>
              <a:t>ANSI-SPARC 3 Level Database Architecture</a:t>
            </a:r>
          </a:p>
          <a:p>
            <a:pPr lvl="1" indent="-338138">
              <a:buClr>
                <a:schemeClr val="bg2"/>
              </a:buClr>
              <a:buFont typeface="Wingdings" pitchFamily="2" charset="2"/>
              <a:buChar char="ü"/>
              <a:defRPr/>
            </a:pPr>
            <a:r>
              <a:rPr lang="en-US" sz="2800" dirty="0">
                <a:latin typeface="Times" pitchFamily="18" charset="0"/>
              </a:rPr>
              <a:t>Data Model</a:t>
            </a:r>
          </a:p>
          <a:p>
            <a:pPr>
              <a:defRPr/>
            </a:pPr>
            <a:r>
              <a:rPr lang="en-US" sz="2800" dirty="0">
                <a:latin typeface="Times" pitchFamily="18" charset="0"/>
              </a:rPr>
              <a:t>Database System Development Lifecycle</a:t>
            </a:r>
          </a:p>
          <a:p>
            <a:pPr>
              <a:defRPr/>
            </a:pPr>
            <a:endParaRPr lang="en-US" dirty="0">
              <a:latin typeface="Times" pitchFamily="18" charset="0"/>
            </a:endParaRPr>
          </a:p>
          <a:p>
            <a:pPr>
              <a:defRPr/>
            </a:pPr>
            <a:endParaRPr lang="en-US" dirty="0">
              <a:latin typeface="Times" pitchFamily="18" charset="0"/>
            </a:endParaRPr>
          </a:p>
        </p:txBody>
      </p:sp>
      <p:sp>
        <p:nvSpPr>
          <p:cNvPr id="5126" name="Slide Number Placeholder 8"/>
          <p:cNvSpPr>
            <a:spLocks noGrp="1"/>
          </p:cNvSpPr>
          <p:nvPr>
            <p:ph type="sldNum" sz="quarter" idx="12"/>
          </p:nvPr>
        </p:nvSpPr>
        <p:spPr>
          <a:noFill/>
        </p:spPr>
        <p:txBody>
          <a:bodyPr/>
          <a:lstStyle/>
          <a:p>
            <a:fld id="{CF3A705B-2AF9-4604-9070-86C82E6BCD37}" type="slidenum">
              <a:rPr lang="en-US" smtClean="0">
                <a:latin typeface="Arial" pitchFamily="34" charset="0"/>
                <a:ea typeface="ＭＳ Ｐゴシック" pitchFamily="34" charset="-128"/>
              </a:rPr>
              <a:pPr/>
              <a:t>2</a:t>
            </a:fld>
            <a:endParaRPr lang="en-US">
              <a:latin typeface="Arial" pitchFamily="34" charset="0"/>
              <a:ea typeface="ＭＳ Ｐゴシック" pitchFamily="34" charset="-128"/>
            </a:endParaRPr>
          </a:p>
        </p:txBody>
      </p:sp>
      <p:sp>
        <p:nvSpPr>
          <p:cNvPr id="7" name="Date Placeholder 6"/>
          <p:cNvSpPr>
            <a:spLocks noGrp="1"/>
          </p:cNvSpPr>
          <p:nvPr>
            <p:ph type="dt" sz="half" idx="10"/>
          </p:nvPr>
        </p:nvSpPr>
        <p:spPr/>
        <p:txBody>
          <a:bodyPr/>
          <a:lstStyle/>
          <a:p>
            <a:pPr>
              <a:defRPr/>
            </a:pPr>
            <a:fld id="{0F71A0C9-3109-41FC-9CAB-17CF2C43D8AD}" type="datetime1">
              <a:rPr lang="en-US" smtClean="0"/>
              <a:pPr>
                <a:defRPr/>
              </a:pPr>
              <a:t>5/30/2022</a:t>
            </a:fld>
            <a:endParaRPr lang="en-US"/>
          </a:p>
        </p:txBody>
      </p:sp>
      <p:sp>
        <p:nvSpPr>
          <p:cNvPr id="8" name="Footer Placeholder 7"/>
          <p:cNvSpPr>
            <a:spLocks noGrp="1"/>
          </p:cNvSpPr>
          <p:nvPr>
            <p:ph type="ftr" sz="quarter" idx="11"/>
          </p:nvPr>
        </p:nvSpPr>
        <p:spPr/>
        <p:txBody>
          <a:bodyPr/>
          <a:lstStyle/>
          <a:p>
            <a:pPr>
              <a:defRPr/>
            </a:pPr>
            <a:r>
              <a:rPr lang="en-US"/>
              <a:t>BIS1204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85750" y="714375"/>
            <a:ext cx="8569325" cy="819150"/>
          </a:xfrm>
        </p:spPr>
        <p:txBody>
          <a:bodyPr/>
          <a:lstStyle/>
          <a:p>
            <a:pPr eaLnBrk="1" hangingPunct="1"/>
            <a:r>
              <a:rPr lang="en-US" b="1" dirty="0">
                <a:latin typeface="Times" pitchFamily="18" charset="0"/>
              </a:rPr>
              <a:t>Data vs. Information</a:t>
            </a:r>
          </a:p>
        </p:txBody>
      </p:sp>
      <p:sp>
        <p:nvSpPr>
          <p:cNvPr id="6147" name="Rectangle 3"/>
          <p:cNvSpPr>
            <a:spLocks noGrp="1" noChangeArrowheads="1"/>
          </p:cNvSpPr>
          <p:nvPr>
            <p:ph type="body" sz="half" idx="1"/>
          </p:nvPr>
        </p:nvSpPr>
        <p:spPr>
          <a:xfrm>
            <a:off x="539750" y="1773238"/>
            <a:ext cx="4392613" cy="4319587"/>
          </a:xfrm>
        </p:spPr>
        <p:txBody>
          <a:bodyPr/>
          <a:lstStyle/>
          <a:p>
            <a:pPr>
              <a:buFont typeface="Wingdings" pitchFamily="2" charset="2"/>
              <a:buNone/>
            </a:pPr>
            <a:r>
              <a:rPr lang="en-US" sz="3600" b="1" dirty="0">
                <a:solidFill>
                  <a:schemeClr val="tx2"/>
                </a:solidFill>
                <a:latin typeface="Times" pitchFamily="18" charset="0"/>
              </a:rPr>
              <a:t>Data</a:t>
            </a:r>
          </a:p>
          <a:p>
            <a:r>
              <a:rPr lang="en-US" dirty="0">
                <a:latin typeface="Times" pitchFamily="18" charset="0"/>
              </a:rPr>
              <a:t>Data are raw, unprocessed facts with no purposeful meaning.</a:t>
            </a:r>
          </a:p>
          <a:p>
            <a:endParaRPr lang="en-US" sz="1800" dirty="0">
              <a:latin typeface="Times" pitchFamily="18" charset="0"/>
            </a:endParaRPr>
          </a:p>
          <a:p>
            <a:r>
              <a:rPr lang="en-US" dirty="0">
                <a:latin typeface="Times" pitchFamily="18" charset="0"/>
              </a:rPr>
              <a:t>Data is represented by symbols such as letters of the alphabets, numerals or other special symbols.</a:t>
            </a:r>
          </a:p>
          <a:p>
            <a:pPr lvl="1"/>
            <a:endParaRPr lang="en-US" dirty="0"/>
          </a:p>
          <a:p>
            <a:endParaRPr lang="en-US" sz="3200" dirty="0"/>
          </a:p>
        </p:txBody>
      </p:sp>
      <p:sp>
        <p:nvSpPr>
          <p:cNvPr id="72708" name="Rectangle 4"/>
          <p:cNvSpPr>
            <a:spLocks noGrp="1" noChangeArrowheads="1"/>
          </p:cNvSpPr>
          <p:nvPr>
            <p:ph type="body" sz="half" idx="2"/>
          </p:nvPr>
        </p:nvSpPr>
        <p:spPr>
          <a:xfrm>
            <a:off x="4932363" y="1773238"/>
            <a:ext cx="3887787" cy="4176712"/>
          </a:xfrm>
        </p:spPr>
        <p:txBody>
          <a:bodyPr/>
          <a:lstStyle/>
          <a:p>
            <a:pPr>
              <a:buFont typeface="Wingdings" pitchFamily="2" charset="2"/>
              <a:buNone/>
              <a:defRPr/>
            </a:pPr>
            <a:r>
              <a:rPr lang="en-US" sz="3200" dirty="0">
                <a:latin typeface="Times" pitchFamily="-105" charset="0"/>
              </a:rPr>
              <a:t>I</a:t>
            </a:r>
            <a:r>
              <a:rPr lang="en-US" sz="3600" b="1" dirty="0">
                <a:solidFill>
                  <a:schemeClr val="tx2"/>
                </a:solidFill>
                <a:latin typeface="Times"/>
              </a:rPr>
              <a:t>nformation</a:t>
            </a:r>
          </a:p>
          <a:p>
            <a:pPr>
              <a:buFont typeface="Wingdings" pitchFamily="-105" charset="2"/>
              <a:buChar char="o"/>
              <a:defRPr/>
            </a:pPr>
            <a:r>
              <a:rPr lang="en-US" dirty="0">
                <a:latin typeface="Times" pitchFamily="-105" charset="0"/>
              </a:rPr>
              <a:t>Data that has been processed into a meaningful form</a:t>
            </a:r>
            <a:r>
              <a:rPr lang="en-US" sz="3200" dirty="0">
                <a:latin typeface="Times" pitchFamily="-105" charset="0"/>
              </a:rPr>
              <a:t>. </a:t>
            </a:r>
          </a:p>
          <a:p>
            <a:pPr>
              <a:buFont typeface="Wingdings" pitchFamily="-105" charset="2"/>
              <a:buNone/>
              <a:defRPr/>
            </a:pPr>
            <a:endParaRPr lang="en-US" sz="3200" dirty="0">
              <a:latin typeface="Times" pitchFamily="-105" charset="0"/>
            </a:endParaRPr>
          </a:p>
          <a:p>
            <a:pPr>
              <a:buFont typeface="Wingdings" pitchFamily="-105" charset="2"/>
              <a:buChar char="o"/>
              <a:defRPr/>
            </a:pPr>
            <a:r>
              <a:rPr lang="en-US" dirty="0">
                <a:latin typeface="Times" pitchFamily="-105" charset="0"/>
              </a:rPr>
              <a:t>value-added to data</a:t>
            </a:r>
          </a:p>
          <a:p>
            <a:pPr lvl="1" indent="-277813">
              <a:buClr>
                <a:schemeClr val="bg2"/>
              </a:buClr>
              <a:buFont typeface="Wingdings" pitchFamily="2" charset="2"/>
              <a:buChar char="ü"/>
              <a:defRPr/>
            </a:pPr>
            <a:r>
              <a:rPr lang="en-US" sz="2800" dirty="0">
                <a:latin typeface="Times" pitchFamily="-105" charset="0"/>
                <a:ea typeface="+mn-ea"/>
              </a:rPr>
              <a:t>Summarized</a:t>
            </a:r>
          </a:p>
          <a:p>
            <a:pPr lvl="1" indent="-277813">
              <a:buClr>
                <a:schemeClr val="bg2"/>
              </a:buClr>
              <a:buFont typeface="Wingdings" pitchFamily="2" charset="2"/>
              <a:buChar char="ü"/>
              <a:defRPr/>
            </a:pPr>
            <a:r>
              <a:rPr lang="en-US" sz="2800" dirty="0">
                <a:latin typeface="Times" pitchFamily="-105" charset="0"/>
                <a:ea typeface="+mn-ea"/>
              </a:rPr>
              <a:t>Organized</a:t>
            </a:r>
          </a:p>
          <a:p>
            <a:pPr lvl="1" indent="-277813">
              <a:buClr>
                <a:schemeClr val="bg2"/>
              </a:buClr>
              <a:buFont typeface="Wingdings" pitchFamily="2" charset="2"/>
              <a:buChar char="ü"/>
              <a:defRPr/>
            </a:pPr>
            <a:r>
              <a:rPr lang="en-US" sz="2800" dirty="0">
                <a:latin typeface="Times" pitchFamily="-105" charset="0"/>
                <a:ea typeface="+mn-ea"/>
              </a:rPr>
              <a:t>analyzed</a:t>
            </a:r>
            <a:endParaRPr lang="en-US" dirty="0">
              <a:latin typeface="Times" pitchFamily="-105" charset="0"/>
              <a:ea typeface="+mn-ea"/>
            </a:endParaRPr>
          </a:p>
        </p:txBody>
      </p:sp>
      <p:sp>
        <p:nvSpPr>
          <p:cNvPr id="6149" name="FlagCount" hidden="1">
            <a:hlinkClick r:id="rId3" action="ppaction://hlinkfile"/>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p>
            <a:r>
              <a:rPr lang="en-US" sz="1400" b="1"/>
              <a:t>0</a:t>
            </a:r>
          </a:p>
        </p:txBody>
      </p:sp>
      <p:sp>
        <p:nvSpPr>
          <p:cNvPr id="6152" name="Slide Number Placeholder 12"/>
          <p:cNvSpPr>
            <a:spLocks noGrp="1"/>
          </p:cNvSpPr>
          <p:nvPr>
            <p:ph type="sldNum" sz="quarter" idx="12"/>
          </p:nvPr>
        </p:nvSpPr>
        <p:spPr>
          <a:noFill/>
        </p:spPr>
        <p:txBody>
          <a:bodyPr/>
          <a:lstStyle/>
          <a:p>
            <a:fld id="{D23F5576-F95C-425C-A19D-09B08680FC94}" type="slidenum">
              <a:rPr lang="en-US" smtClean="0">
                <a:latin typeface="Arial" pitchFamily="34" charset="0"/>
                <a:ea typeface="ＭＳ Ｐゴシック" pitchFamily="34" charset="-128"/>
              </a:rPr>
              <a:pPr/>
              <a:t>3</a:t>
            </a:fld>
            <a:endParaRPr lang="en-US">
              <a:latin typeface="Arial" pitchFamily="34" charset="0"/>
              <a:ea typeface="ＭＳ Ｐゴシック" pitchFamily="34" charset="-128"/>
            </a:endParaRPr>
          </a:p>
        </p:txBody>
      </p:sp>
      <p:sp>
        <p:nvSpPr>
          <p:cNvPr id="9" name="Date Placeholder 8"/>
          <p:cNvSpPr>
            <a:spLocks noGrp="1"/>
          </p:cNvSpPr>
          <p:nvPr>
            <p:ph type="dt" sz="half" idx="10"/>
          </p:nvPr>
        </p:nvSpPr>
        <p:spPr/>
        <p:txBody>
          <a:bodyPr/>
          <a:lstStyle/>
          <a:p>
            <a:pPr>
              <a:defRPr/>
            </a:pPr>
            <a:fld id="{44697B0E-F852-4597-9247-C5CE51A3DD6B}" type="datetime1">
              <a:rPr lang="en-US" smtClean="0"/>
              <a:pPr>
                <a:defRPr/>
              </a:pPr>
              <a:t>5/30/2022</a:t>
            </a:fld>
            <a:endParaRPr lang="en-US"/>
          </a:p>
        </p:txBody>
      </p:sp>
      <p:sp>
        <p:nvSpPr>
          <p:cNvPr id="10" name="Footer Placeholder 9"/>
          <p:cNvSpPr>
            <a:spLocks noGrp="1"/>
          </p:cNvSpPr>
          <p:nvPr>
            <p:ph type="ftr" sz="quarter" idx="11"/>
          </p:nvPr>
        </p:nvSpPr>
        <p:spPr/>
        <p:txBody>
          <a:bodyPr/>
          <a:lstStyle/>
          <a:p>
            <a:pPr>
              <a:defRPr/>
            </a:pPr>
            <a:r>
              <a:rPr lang="en-US"/>
              <a:t>BIS1204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28625" y="714375"/>
            <a:ext cx="8229600" cy="752475"/>
          </a:xfrm>
        </p:spPr>
        <p:txBody>
          <a:bodyPr/>
          <a:lstStyle/>
          <a:p>
            <a:r>
              <a:rPr lang="en-US" b="1">
                <a:latin typeface="Times" pitchFamily="18" charset="0"/>
              </a:rPr>
              <a:t>Data and Information - Relevance</a:t>
            </a:r>
          </a:p>
        </p:txBody>
      </p:sp>
      <p:sp>
        <p:nvSpPr>
          <p:cNvPr id="7171" name="Content Placeholder 2"/>
          <p:cNvSpPr>
            <a:spLocks noGrp="1"/>
          </p:cNvSpPr>
          <p:nvPr>
            <p:ph idx="1"/>
          </p:nvPr>
        </p:nvSpPr>
        <p:spPr>
          <a:xfrm>
            <a:off x="285750" y="1785938"/>
            <a:ext cx="8643938" cy="4857750"/>
          </a:xfrm>
        </p:spPr>
        <p:txBody>
          <a:bodyPr/>
          <a:lstStyle/>
          <a:p>
            <a:r>
              <a:rPr lang="en-US" sz="3200" dirty="0">
                <a:latin typeface="Times" pitchFamily="18" charset="0"/>
                <a:sym typeface="Wingdings" pitchFamily="2" charset="2"/>
              </a:rPr>
              <a:t>With data, information can be generated</a:t>
            </a:r>
          </a:p>
          <a:p>
            <a:r>
              <a:rPr lang="en-US" sz="3200" dirty="0">
                <a:latin typeface="Times" pitchFamily="18" charset="0"/>
                <a:sym typeface="Wingdings" pitchFamily="2" charset="2"/>
              </a:rPr>
              <a:t>With the right, accurate and relevant information, Individuals or organizations cab be able to;</a:t>
            </a:r>
          </a:p>
          <a:p>
            <a:pPr lvl="1"/>
            <a:r>
              <a:rPr lang="en-US" sz="2800" dirty="0">
                <a:latin typeface="Times" pitchFamily="18" charset="0"/>
                <a:sym typeface="Wingdings" pitchFamily="2" charset="2"/>
              </a:rPr>
              <a:t>Make Informed decisions</a:t>
            </a:r>
          </a:p>
          <a:p>
            <a:pPr lvl="1"/>
            <a:r>
              <a:rPr lang="en-US" sz="2800" dirty="0">
                <a:latin typeface="Times" pitchFamily="18" charset="0"/>
                <a:sym typeface="Wingdings" pitchFamily="2" charset="2"/>
              </a:rPr>
              <a:t>React to internal and external environment</a:t>
            </a:r>
          </a:p>
          <a:p>
            <a:r>
              <a:rPr lang="en-US" sz="3200" dirty="0">
                <a:latin typeface="Times" pitchFamily="18" charset="0"/>
                <a:sym typeface="Wingdings" pitchFamily="2" charset="2"/>
              </a:rPr>
              <a:t>The relevance of data and information compels individuals or organizations to manage it using various means</a:t>
            </a:r>
            <a:r>
              <a:rPr lang="en-US" dirty="0">
                <a:latin typeface="Times" pitchFamily="18" charset="0"/>
                <a:sym typeface="Wingdings" pitchFamily="2" charset="2"/>
              </a:rPr>
              <a:t>.</a:t>
            </a:r>
          </a:p>
          <a:p>
            <a:r>
              <a:rPr lang="en-US" dirty="0">
                <a:latin typeface="Times" pitchFamily="18" charset="0"/>
                <a:sym typeface="Wingdings" pitchFamily="2" charset="2"/>
              </a:rPr>
              <a:t>…….</a:t>
            </a:r>
          </a:p>
          <a:p>
            <a:endParaRPr lang="en-US" dirty="0">
              <a:latin typeface="Times" pitchFamily="18" charset="0"/>
              <a:sym typeface="Wingdings" pitchFamily="2" charset="2"/>
            </a:endParaRPr>
          </a:p>
          <a:p>
            <a:pPr lvl="1"/>
            <a:endParaRPr lang="en-US" dirty="0">
              <a:latin typeface="Times" pitchFamily="18" charset="0"/>
              <a:sym typeface="Wingdings" pitchFamily="2" charset="2"/>
            </a:endParaRPr>
          </a:p>
          <a:p>
            <a:endParaRPr lang="en-US" dirty="0">
              <a:latin typeface="Times" pitchFamily="18" charset="0"/>
              <a:sym typeface="Wingdings" pitchFamily="2" charset="2"/>
            </a:endParaRPr>
          </a:p>
          <a:p>
            <a:endParaRPr lang="en-US" dirty="0">
              <a:latin typeface="Times" pitchFamily="18" charset="0"/>
              <a:sym typeface="Wingdings" pitchFamily="2" charset="2"/>
            </a:endParaRPr>
          </a:p>
        </p:txBody>
      </p:sp>
      <p:sp>
        <p:nvSpPr>
          <p:cNvPr id="7173" name="Slide Number Placeholder 8"/>
          <p:cNvSpPr>
            <a:spLocks noGrp="1"/>
          </p:cNvSpPr>
          <p:nvPr>
            <p:ph type="sldNum" sz="quarter" idx="12"/>
          </p:nvPr>
        </p:nvSpPr>
        <p:spPr>
          <a:noFill/>
        </p:spPr>
        <p:txBody>
          <a:bodyPr/>
          <a:lstStyle/>
          <a:p>
            <a:fld id="{28E6B529-450B-4DC1-ADA9-F4797F7D03A1}" type="slidenum">
              <a:rPr lang="en-US" smtClean="0">
                <a:latin typeface="Arial" pitchFamily="34" charset="0"/>
                <a:ea typeface="ＭＳ Ｐゴシック" pitchFamily="34" charset="-128"/>
              </a:rPr>
              <a:pPr/>
              <a:t>4</a:t>
            </a:fld>
            <a:endParaRPr lang="en-US">
              <a:latin typeface="Arial" pitchFamily="34" charset="0"/>
              <a:ea typeface="ＭＳ Ｐゴシック" pitchFamily="34" charset="-128"/>
            </a:endParaRPr>
          </a:p>
        </p:txBody>
      </p:sp>
      <p:sp>
        <p:nvSpPr>
          <p:cNvPr id="6" name="Date Placeholder 5"/>
          <p:cNvSpPr>
            <a:spLocks noGrp="1"/>
          </p:cNvSpPr>
          <p:nvPr>
            <p:ph type="dt" sz="half" idx="10"/>
          </p:nvPr>
        </p:nvSpPr>
        <p:spPr/>
        <p:txBody>
          <a:bodyPr/>
          <a:lstStyle/>
          <a:p>
            <a:pPr>
              <a:defRPr/>
            </a:pPr>
            <a:fld id="{DD25CB36-F8FE-4DE7-8C68-C28506522167}" type="datetime1">
              <a:rPr lang="en-US" smtClean="0"/>
              <a:pPr>
                <a:defRPr/>
              </a:pPr>
              <a:t>5/30/2022</a:t>
            </a:fld>
            <a:endParaRPr lang="en-US"/>
          </a:p>
        </p:txBody>
      </p:sp>
      <p:sp>
        <p:nvSpPr>
          <p:cNvPr id="7" name="Footer Placeholder 6"/>
          <p:cNvSpPr>
            <a:spLocks noGrp="1"/>
          </p:cNvSpPr>
          <p:nvPr>
            <p:ph type="ftr" sz="quarter" idx="11"/>
          </p:nvPr>
        </p:nvSpPr>
        <p:spPr/>
        <p:txBody>
          <a:bodyPr/>
          <a:lstStyle/>
          <a:p>
            <a:pPr>
              <a:defRPr/>
            </a:pPr>
            <a:r>
              <a:rPr lang="en-US"/>
              <a:t>BIS1204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pitchFamily="-105" charset="0"/>
              </a:rPr>
              <a:t>Data and Information Management</a:t>
            </a:r>
            <a:endParaRPr lang="en-US" dirty="0"/>
          </a:p>
        </p:txBody>
      </p:sp>
      <p:sp>
        <p:nvSpPr>
          <p:cNvPr id="3" name="Content Placeholder 2"/>
          <p:cNvSpPr>
            <a:spLocks noGrp="1"/>
          </p:cNvSpPr>
          <p:nvPr>
            <p:ph idx="1"/>
          </p:nvPr>
        </p:nvSpPr>
        <p:spPr>
          <a:xfrm>
            <a:off x="285720" y="1785926"/>
            <a:ext cx="8858280" cy="4857784"/>
          </a:xfrm>
        </p:spPr>
        <p:txBody>
          <a:bodyPr/>
          <a:lstStyle/>
          <a:p>
            <a:r>
              <a:rPr lang="en-US" sz="2800" dirty="0">
                <a:latin typeface="Times" pitchFamily="-105" charset="0"/>
                <a:sym typeface="Wingdings" pitchFamily="-105" charset="2"/>
              </a:rPr>
              <a:t>Data and information are increasingly recognized as enterprise assets.</a:t>
            </a:r>
          </a:p>
          <a:p>
            <a:r>
              <a:rPr lang="en-US" sz="2800" dirty="0">
                <a:latin typeface="Times" pitchFamily="-105" charset="0"/>
                <a:sym typeface="Wingdings" pitchFamily="-105" charset="2"/>
              </a:rPr>
              <a:t>Data and information management is …</a:t>
            </a:r>
          </a:p>
          <a:p>
            <a:pPr lvl="1"/>
            <a:r>
              <a:rPr lang="en-US" sz="2800" dirty="0">
                <a:latin typeface="Times" pitchFamily="-105" charset="0"/>
                <a:sym typeface="Wingdings" pitchFamily="-105" charset="2"/>
              </a:rPr>
              <a:t>the development, execution and supervision</a:t>
            </a:r>
          </a:p>
          <a:p>
            <a:pPr lvl="1"/>
            <a:r>
              <a:rPr lang="en-US" sz="2800" dirty="0">
                <a:latin typeface="Times" pitchFamily="-105" charset="0"/>
                <a:sym typeface="Wingdings" pitchFamily="-105" charset="2"/>
              </a:rPr>
              <a:t>of plans, policies, programs</a:t>
            </a:r>
          </a:p>
          <a:p>
            <a:pPr lvl="1"/>
            <a:r>
              <a:rPr lang="en-US" sz="2800" dirty="0">
                <a:latin typeface="Times" pitchFamily="-105" charset="0"/>
                <a:sym typeface="Wingdings" pitchFamily="-105" charset="2"/>
              </a:rPr>
              <a:t>that control, protect, deliver and enhance the value of data and information assets.</a:t>
            </a:r>
          </a:p>
          <a:p>
            <a:r>
              <a:rPr lang="en-US" sz="2800" b="1" dirty="0">
                <a:latin typeface="Times" pitchFamily="-105" charset="0"/>
                <a:sym typeface="Wingdings" pitchFamily="-105" charset="2"/>
              </a:rPr>
              <a:t>Definition</a:t>
            </a:r>
            <a:r>
              <a:rPr lang="en-US" sz="2800" dirty="0">
                <a:latin typeface="Times" pitchFamily="-105" charset="0"/>
                <a:sym typeface="Wingdings" pitchFamily="-105" charset="2"/>
              </a:rPr>
              <a:t>: Data and Information Management is the practice of putting into place policies, procedures, and best practices that ensure that data is understandable, trusted, visible, accessible, optimized  for use, and interoperable.</a:t>
            </a:r>
          </a:p>
        </p:txBody>
      </p:sp>
      <p:sp>
        <p:nvSpPr>
          <p:cNvPr id="4" name="Date Placeholder 3"/>
          <p:cNvSpPr>
            <a:spLocks noGrp="1"/>
          </p:cNvSpPr>
          <p:nvPr>
            <p:ph type="dt" sz="half" idx="10"/>
          </p:nvPr>
        </p:nvSpPr>
        <p:spPr>
          <a:xfrm>
            <a:off x="428596" y="6629400"/>
            <a:ext cx="1676400" cy="457200"/>
          </a:xfrm>
        </p:spPr>
        <p:txBody>
          <a:bodyPr/>
          <a:lstStyle/>
          <a:p>
            <a:pPr>
              <a:defRPr/>
            </a:pPr>
            <a:fld id="{35211D8F-4006-43DD-81F4-5B9C5C30406B}" type="datetime1">
              <a:rPr lang="en-US" smtClean="0"/>
              <a:pPr>
                <a:defRPr/>
              </a:pPr>
              <a:t>5/30/2022</a:t>
            </a:fld>
            <a:endParaRPr lang="en-US" dirty="0"/>
          </a:p>
        </p:txBody>
      </p:sp>
      <p:sp>
        <p:nvSpPr>
          <p:cNvPr id="5" name="Footer Placeholder 4"/>
          <p:cNvSpPr>
            <a:spLocks noGrp="1"/>
          </p:cNvSpPr>
          <p:nvPr>
            <p:ph type="ftr" sz="quarter" idx="11"/>
          </p:nvPr>
        </p:nvSpPr>
        <p:spPr>
          <a:xfrm>
            <a:off x="3143240" y="6629400"/>
            <a:ext cx="2895600" cy="457200"/>
          </a:xfrm>
        </p:spPr>
        <p:txBody>
          <a:bodyPr/>
          <a:lstStyle/>
          <a:p>
            <a:pPr>
              <a:defRPr/>
            </a:pPr>
            <a:r>
              <a:rPr lang="en-US"/>
              <a:t>BIS1204</a:t>
            </a:r>
            <a:endParaRPr lang="en-US" dirty="0"/>
          </a:p>
        </p:txBody>
      </p:sp>
      <p:sp>
        <p:nvSpPr>
          <p:cNvPr id="6" name="Slide Number Placeholder 5"/>
          <p:cNvSpPr>
            <a:spLocks noGrp="1"/>
          </p:cNvSpPr>
          <p:nvPr>
            <p:ph type="sldNum" sz="quarter" idx="12"/>
          </p:nvPr>
        </p:nvSpPr>
        <p:spPr>
          <a:xfrm>
            <a:off x="6786578" y="6629400"/>
            <a:ext cx="1905000" cy="457200"/>
          </a:xfrm>
        </p:spPr>
        <p:txBody>
          <a:bodyPr/>
          <a:lstStyle/>
          <a:p>
            <a:pPr>
              <a:defRPr/>
            </a:pPr>
            <a:fld id="{B85BB4D5-9F6A-4CDC-BF5A-69BBDB282389}"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68313" y="836613"/>
            <a:ext cx="8229600" cy="823912"/>
          </a:xfrm>
        </p:spPr>
        <p:txBody>
          <a:bodyPr/>
          <a:lstStyle/>
          <a:p>
            <a:r>
              <a:rPr lang="en-GB" b="1">
                <a:latin typeface="Times" pitchFamily="-105" charset="0"/>
              </a:rPr>
              <a:t>Manual Filing systems</a:t>
            </a:r>
            <a:endParaRPr lang="en-US" b="1">
              <a:latin typeface="Times" pitchFamily="-105" charset="0"/>
            </a:endParaRPr>
          </a:p>
        </p:txBody>
      </p:sp>
      <p:sp>
        <p:nvSpPr>
          <p:cNvPr id="5123" name="Content Placeholder 2"/>
          <p:cNvSpPr>
            <a:spLocks noGrp="1"/>
          </p:cNvSpPr>
          <p:nvPr>
            <p:ph type="body" idx="1"/>
          </p:nvPr>
        </p:nvSpPr>
        <p:spPr>
          <a:xfrm>
            <a:off x="357188" y="1785938"/>
            <a:ext cx="8429625" cy="4857750"/>
          </a:xfrm>
        </p:spPr>
        <p:txBody>
          <a:bodyPr/>
          <a:lstStyle/>
          <a:p>
            <a:pPr marL="469900" lvl="1" indent="-469900" eaLnBrk="1" hangingPunct="1">
              <a:buClr>
                <a:schemeClr val="bg2"/>
              </a:buClr>
              <a:buSzPct val="70000"/>
              <a:defRPr/>
            </a:pPr>
            <a:r>
              <a:rPr lang="en-GB" dirty="0">
                <a:latin typeface="Times" pitchFamily="-105" charset="0"/>
                <a:ea typeface="+mn-ea"/>
                <a:sym typeface="Wingdings" pitchFamily="2" charset="2"/>
              </a:rPr>
              <a:t>A manual file is set up to hold all external and internal correspondence about a given subject e.g. bills, project</a:t>
            </a:r>
          </a:p>
          <a:p>
            <a:pPr eaLnBrk="1" hangingPunct="1">
              <a:defRPr/>
            </a:pPr>
            <a:endParaRPr lang="en-US" dirty="0"/>
          </a:p>
        </p:txBody>
      </p:sp>
      <p:pic>
        <p:nvPicPr>
          <p:cNvPr id="8196" name="Picture 4" descr="cabinet.jpg"/>
          <p:cNvPicPr>
            <a:picLocks noChangeAspect="1"/>
          </p:cNvPicPr>
          <p:nvPr/>
        </p:nvPicPr>
        <p:blipFill>
          <a:blip r:embed="rId3"/>
          <a:srcRect/>
          <a:stretch>
            <a:fillRect/>
          </a:stretch>
        </p:blipFill>
        <p:spPr bwMode="auto">
          <a:xfrm>
            <a:off x="5857875" y="3429000"/>
            <a:ext cx="2643188" cy="2857500"/>
          </a:xfrm>
          <a:prstGeom prst="rect">
            <a:avLst/>
          </a:prstGeom>
          <a:noFill/>
          <a:ln w="9525">
            <a:noFill/>
            <a:miter lim="800000"/>
            <a:headEnd/>
            <a:tailEnd/>
          </a:ln>
        </p:spPr>
      </p:pic>
      <p:pic>
        <p:nvPicPr>
          <p:cNvPr id="8197" name="Picture 5" descr="cabinet2.jpg"/>
          <p:cNvPicPr>
            <a:picLocks noChangeAspect="1"/>
          </p:cNvPicPr>
          <p:nvPr/>
        </p:nvPicPr>
        <p:blipFill>
          <a:blip r:embed="rId4"/>
          <a:srcRect/>
          <a:stretch>
            <a:fillRect/>
          </a:stretch>
        </p:blipFill>
        <p:spPr bwMode="auto">
          <a:xfrm>
            <a:off x="714375" y="3214688"/>
            <a:ext cx="4000500" cy="3105150"/>
          </a:xfrm>
          <a:prstGeom prst="rect">
            <a:avLst/>
          </a:prstGeom>
          <a:noFill/>
          <a:ln w="9525">
            <a:noFill/>
            <a:miter lim="800000"/>
            <a:headEnd/>
            <a:tailEnd/>
          </a:ln>
        </p:spPr>
      </p:pic>
      <p:sp>
        <p:nvSpPr>
          <p:cNvPr id="8198" name="Footer Placeholder 7"/>
          <p:cNvSpPr txBox="1">
            <a:spLocks noGrp="1"/>
          </p:cNvSpPr>
          <p:nvPr/>
        </p:nvSpPr>
        <p:spPr bwMode="auto">
          <a:xfrm>
            <a:off x="3124200" y="6248400"/>
            <a:ext cx="2895600" cy="457200"/>
          </a:xfrm>
          <a:prstGeom prst="rect">
            <a:avLst/>
          </a:prstGeom>
          <a:noFill/>
          <a:ln w="9525">
            <a:noFill/>
            <a:miter lim="800000"/>
            <a:headEnd/>
            <a:tailEnd/>
          </a:ln>
        </p:spPr>
        <p:txBody>
          <a:bodyPr/>
          <a:lstStyle/>
          <a:p>
            <a:pPr algn="ctr"/>
            <a:endParaRPr lang="en-US" sz="1000">
              <a:latin typeface="Arial" charset="0"/>
            </a:endParaRPr>
          </a:p>
        </p:txBody>
      </p:sp>
      <p:sp>
        <p:nvSpPr>
          <p:cNvPr id="8199" name="Date Placeholder 10"/>
          <p:cNvSpPr>
            <a:spLocks noGrp="1"/>
          </p:cNvSpPr>
          <p:nvPr>
            <p:ph type="dt" sz="quarter" idx="10"/>
          </p:nvPr>
        </p:nvSpPr>
        <p:spPr>
          <a:noFill/>
        </p:spPr>
        <p:txBody>
          <a:bodyPr/>
          <a:lstStyle/>
          <a:p>
            <a:fld id="{5C75275D-3C5D-41E6-9F51-7365A8522CF8}" type="datetime1">
              <a:rPr lang="en-US" smtClean="0"/>
              <a:pPr/>
              <a:t>5/30/2022</a:t>
            </a:fld>
            <a:endParaRPr lang="en-US"/>
          </a:p>
        </p:txBody>
      </p:sp>
      <p:sp>
        <p:nvSpPr>
          <p:cNvPr id="8200" name="Footer Placeholder 12"/>
          <p:cNvSpPr>
            <a:spLocks noGrp="1"/>
          </p:cNvSpPr>
          <p:nvPr>
            <p:ph type="ftr" sz="quarter" idx="11"/>
          </p:nvPr>
        </p:nvSpPr>
        <p:spPr>
          <a:noFill/>
        </p:spPr>
        <p:txBody>
          <a:bodyPr/>
          <a:lstStyle/>
          <a:p>
            <a:r>
              <a:rPr lang="en-US"/>
              <a:t>BIS1204</a:t>
            </a:r>
          </a:p>
        </p:txBody>
      </p:sp>
      <p:sp>
        <p:nvSpPr>
          <p:cNvPr id="8201" name="Slide Number Placeholder 13"/>
          <p:cNvSpPr>
            <a:spLocks noGrp="1"/>
          </p:cNvSpPr>
          <p:nvPr>
            <p:ph type="sldNum" sz="quarter" idx="12"/>
          </p:nvPr>
        </p:nvSpPr>
        <p:spPr>
          <a:noFill/>
        </p:spPr>
        <p:txBody>
          <a:bodyPr/>
          <a:lstStyle/>
          <a:p>
            <a:fld id="{EA17B59E-A53D-4A14-89FD-1C15CA51F57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68313" y="908050"/>
            <a:ext cx="7772400" cy="857250"/>
          </a:xfrm>
        </p:spPr>
        <p:txBody>
          <a:bodyPr/>
          <a:lstStyle/>
          <a:p>
            <a:r>
              <a:rPr lang="en-US" b="1" dirty="0">
                <a:latin typeface="Times" pitchFamily="18" charset="0"/>
                <a:cs typeface="Times" pitchFamily="18" charset="0"/>
              </a:rPr>
              <a:t>FILE-BASED APPROACH</a:t>
            </a:r>
            <a:endParaRPr lang="en-GB" b="1" dirty="0">
              <a:latin typeface="Times" pitchFamily="18" charset="0"/>
            </a:endParaRPr>
          </a:p>
        </p:txBody>
      </p:sp>
      <p:sp>
        <p:nvSpPr>
          <p:cNvPr id="34819" name="Rectangle 3" descr="Rectangle: Click to edit Master text styles&#10;Second level&#10;Third level&#10;Fourth level&#10;Fifth level"/>
          <p:cNvSpPr>
            <a:spLocks noGrp="1" noChangeArrowheads="1"/>
          </p:cNvSpPr>
          <p:nvPr>
            <p:ph idx="1"/>
          </p:nvPr>
        </p:nvSpPr>
        <p:spPr>
          <a:xfrm>
            <a:off x="285720" y="1714488"/>
            <a:ext cx="8501093" cy="5143511"/>
          </a:xfrm>
        </p:spPr>
        <p:txBody>
          <a:bodyPr/>
          <a:lstStyle/>
          <a:p>
            <a:pPr eaLnBrk="1" hangingPunct="1"/>
            <a:r>
              <a:rPr lang="en-GB" sz="2800" dirty="0">
                <a:latin typeface="Times" pitchFamily="18" charset="0"/>
                <a:sym typeface="Wingdings" pitchFamily="2" charset="2"/>
              </a:rPr>
              <a:t>Better alternative to </a:t>
            </a:r>
            <a:r>
              <a:rPr lang="en-GB" sz="2800" b="1" i="1" dirty="0">
                <a:latin typeface="Times" pitchFamily="18" charset="0"/>
                <a:sym typeface="Wingdings" pitchFamily="2" charset="2"/>
              </a:rPr>
              <a:t>manual filing systems</a:t>
            </a:r>
            <a:r>
              <a:rPr lang="en-GB" sz="2800" dirty="0">
                <a:latin typeface="Times" pitchFamily="18" charset="0"/>
                <a:sym typeface="Wingdings" pitchFamily="2" charset="2"/>
              </a:rPr>
              <a:t>. </a:t>
            </a:r>
          </a:p>
          <a:p>
            <a:pPr eaLnBrk="1" hangingPunct="1"/>
            <a:r>
              <a:rPr lang="en-GB" sz="2800" dirty="0">
                <a:latin typeface="Times" pitchFamily="18" charset="0"/>
                <a:sym typeface="Wingdings" pitchFamily="2" charset="2"/>
              </a:rPr>
              <a:t>A file is a collection of records which contain logically related data.</a:t>
            </a:r>
          </a:p>
          <a:p>
            <a:pPr eaLnBrk="1" hangingPunct="1"/>
            <a:r>
              <a:rPr lang="en-US" sz="2800" dirty="0">
                <a:latin typeface="Times" pitchFamily="18" charset="0"/>
                <a:sym typeface="Wingdings" pitchFamily="2" charset="2"/>
              </a:rPr>
              <a:t>A system of files and collection of application programs manipulating them is a </a:t>
            </a:r>
            <a:r>
              <a:rPr lang="en-US" sz="2800" b="1" dirty="0">
                <a:latin typeface="Times" pitchFamily="18" charset="0"/>
                <a:sym typeface="Wingdings" pitchFamily="2" charset="2"/>
              </a:rPr>
              <a:t>file-based system</a:t>
            </a:r>
          </a:p>
          <a:p>
            <a:pPr lvl="1" eaLnBrk="1" hangingPunct="1"/>
            <a:r>
              <a:rPr lang="en-US" sz="2800" dirty="0">
                <a:latin typeface="Times" pitchFamily="-105" charset="0"/>
                <a:sym typeface="Wingdings" pitchFamily="-105" charset="2"/>
              </a:rPr>
              <a:t> </a:t>
            </a:r>
            <a:r>
              <a:rPr lang="en-US" dirty="0">
                <a:solidFill>
                  <a:srgbClr val="FF0000"/>
                </a:solidFill>
                <a:latin typeface="Times" pitchFamily="-105" charset="0"/>
                <a:sym typeface="Wingdings" pitchFamily="-105" charset="2"/>
              </a:rPr>
              <a:t>With a file based approach each user defines and creates with a </a:t>
            </a:r>
            <a:r>
              <a:rPr lang="en-US" b="1" dirty="0">
                <a:solidFill>
                  <a:srgbClr val="FF0000"/>
                </a:solidFill>
                <a:latin typeface="Times" pitchFamily="-105" charset="0"/>
                <a:sym typeface="Wingdings" pitchFamily="-105" charset="2"/>
              </a:rPr>
              <a:t>specific software </a:t>
            </a:r>
            <a:r>
              <a:rPr lang="en-US" dirty="0">
                <a:solidFill>
                  <a:srgbClr val="FF0000"/>
                </a:solidFill>
                <a:latin typeface="Times" pitchFamily="-105" charset="0"/>
                <a:sym typeface="Wingdings" pitchFamily="-105" charset="2"/>
              </a:rPr>
              <a:t>the files he needs for a specific application</a:t>
            </a:r>
            <a:endParaRPr lang="en-US" sz="2800" b="1" dirty="0">
              <a:solidFill>
                <a:srgbClr val="FF0000"/>
              </a:solidFill>
              <a:latin typeface="Times" pitchFamily="18" charset="0"/>
              <a:sym typeface="Wingdings" pitchFamily="2" charset="2"/>
            </a:endParaRPr>
          </a:p>
          <a:p>
            <a:pPr eaLnBrk="1" hangingPunct="1"/>
            <a:r>
              <a:rPr lang="en-GB" sz="2800" dirty="0">
                <a:latin typeface="Times" pitchFamily="18" charset="0"/>
                <a:sym typeface="Wingdings" pitchFamily="2" charset="2"/>
              </a:rPr>
              <a:t>Collection of application programs that perform services for the end users (e.g. reports); each program defines and manages its own data.</a:t>
            </a:r>
          </a:p>
          <a:p>
            <a:pPr eaLnBrk="1" hangingPunct="1">
              <a:buNone/>
            </a:pPr>
            <a:endParaRPr lang="en-GB" sz="2000" dirty="0">
              <a:latin typeface="Times" pitchFamily="18" charset="0"/>
              <a:sym typeface="Wingdings" pitchFamily="2" charset="2"/>
            </a:endParaRPr>
          </a:p>
          <a:p>
            <a:pPr eaLnBrk="1" hangingPunct="1"/>
            <a:endParaRPr lang="en-GB" sz="3200" dirty="0">
              <a:latin typeface="Times" pitchFamily="18" charset="0"/>
            </a:endParaRPr>
          </a:p>
        </p:txBody>
      </p:sp>
      <p:sp>
        <p:nvSpPr>
          <p:cNvPr id="8196" name="Slide Number Placeholder 8"/>
          <p:cNvSpPr>
            <a:spLocks noGrp="1"/>
          </p:cNvSpPr>
          <p:nvPr>
            <p:ph type="sldNum" sz="quarter" idx="12"/>
          </p:nvPr>
        </p:nvSpPr>
        <p:spPr>
          <a:noFill/>
        </p:spPr>
        <p:txBody>
          <a:bodyPr/>
          <a:lstStyle/>
          <a:p>
            <a:fld id="{3AFF94A3-C3D6-4DD4-8AE5-359C89FE015D}" type="slidenum">
              <a:rPr lang="en-US" smtClean="0">
                <a:latin typeface="Arial" pitchFamily="34" charset="0"/>
                <a:ea typeface="ＭＳ Ｐゴシック" pitchFamily="34" charset="-128"/>
              </a:rPr>
              <a:pPr/>
              <a:t>7</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BCE83F3D-57EC-4FA3-B0E8-7A5D2FCCF1CA}"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48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81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4819">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481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34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GB" b="1">
                <a:latin typeface="Times" pitchFamily="-105" charset="0"/>
              </a:rPr>
              <a:t>File-Based Processing</a:t>
            </a:r>
          </a:p>
        </p:txBody>
      </p:sp>
      <p:pic>
        <p:nvPicPr>
          <p:cNvPr id="58377" name="Picture 9" descr="DS3-Figure 01-05"/>
          <p:cNvPicPr>
            <a:picLocks noGrp="1" noChangeAspect="1" noChangeArrowheads="1"/>
          </p:cNvPicPr>
          <p:nvPr>
            <p:ph sz="half" idx="2"/>
          </p:nvPr>
        </p:nvPicPr>
        <p:blipFill>
          <a:blip r:embed="rId3"/>
          <a:srcRect/>
          <a:stretch>
            <a:fillRect/>
          </a:stretch>
        </p:blipFill>
        <p:spPr>
          <a:xfrm>
            <a:off x="428596" y="4929187"/>
            <a:ext cx="7775575" cy="1928813"/>
          </a:xfrm>
          <a:noFill/>
          <a:ln/>
        </p:spPr>
      </p:pic>
      <p:pic>
        <p:nvPicPr>
          <p:cNvPr id="58380" name="Picture 12" descr="C01NF05"/>
          <p:cNvPicPr>
            <a:picLocks noGrp="1" noChangeAspect="1" noChangeArrowheads="1"/>
          </p:cNvPicPr>
          <p:nvPr>
            <p:ph sz="half" idx="1"/>
          </p:nvPr>
        </p:nvPicPr>
        <p:blipFill>
          <a:blip r:embed="rId4"/>
          <a:srcRect/>
          <a:stretch>
            <a:fillRect/>
          </a:stretch>
        </p:blipFill>
        <p:spPr>
          <a:xfrm>
            <a:off x="428596" y="1928802"/>
            <a:ext cx="7775575" cy="2868612"/>
          </a:xfrm>
          <a:noFill/>
          <a:ln/>
        </p:spPr>
      </p:pic>
      <p:sp>
        <p:nvSpPr>
          <p:cNvPr id="5" name="Date Placeholder 4"/>
          <p:cNvSpPr>
            <a:spLocks noGrp="1"/>
          </p:cNvSpPr>
          <p:nvPr>
            <p:ph type="dt" sz="half" idx="10"/>
          </p:nvPr>
        </p:nvSpPr>
        <p:spPr/>
        <p:txBody>
          <a:bodyPr/>
          <a:lstStyle/>
          <a:p>
            <a:pPr>
              <a:defRPr/>
            </a:pPr>
            <a:fld id="{87B8325E-A8C5-419C-99F4-3F432FE77FD4}" type="datetime1">
              <a:rPr lang="en-US" smtClean="0"/>
              <a:pPr>
                <a:defRPr/>
              </a:pPr>
              <a:t>5/30/2022</a:t>
            </a:fld>
            <a:endParaRPr lang="en-US"/>
          </a:p>
        </p:txBody>
      </p:sp>
      <p:sp>
        <p:nvSpPr>
          <p:cNvPr id="6" name="Slide Number Placeholder 5"/>
          <p:cNvSpPr>
            <a:spLocks noGrp="1"/>
          </p:cNvSpPr>
          <p:nvPr>
            <p:ph type="sldNum" sz="quarter" idx="12"/>
          </p:nvPr>
        </p:nvSpPr>
        <p:spPr/>
        <p:txBody>
          <a:bodyPr/>
          <a:lstStyle/>
          <a:p>
            <a:pPr>
              <a:defRPr/>
            </a:pPr>
            <a:fld id="{E5E56B07-DAFA-44AE-9DD5-47ADB85ADE4C}" type="slidenum">
              <a:rPr lang="en-US" smtClean="0"/>
              <a:pPr>
                <a:defRPr/>
              </a:pPr>
              <a:t>8</a:t>
            </a:fld>
            <a:endParaRPr lang="en-US"/>
          </a:p>
        </p:txBody>
      </p:sp>
      <p:sp>
        <p:nvSpPr>
          <p:cNvPr id="7" name="Footer Placeholder 6"/>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60363" y="981075"/>
            <a:ext cx="8748712" cy="727075"/>
          </a:xfrm>
        </p:spPr>
        <p:txBody>
          <a:bodyPr/>
          <a:lstStyle/>
          <a:p>
            <a:pPr eaLnBrk="1" hangingPunct="1"/>
            <a:r>
              <a:rPr lang="en-GB" sz="3200" b="1">
                <a:latin typeface="Times" pitchFamily="18" charset="0"/>
              </a:rPr>
              <a:t>LIMITATIONS OF FILE-BASED APPROACH</a:t>
            </a:r>
            <a:endParaRPr lang="en-GB" sz="3200" b="1">
              <a:solidFill>
                <a:schemeClr val="tx1"/>
              </a:solidFill>
              <a:latin typeface="Times" pitchFamily="18" charset="0"/>
            </a:endParaRPr>
          </a:p>
        </p:txBody>
      </p:sp>
      <p:sp>
        <p:nvSpPr>
          <p:cNvPr id="35843" name="Rectangle 3" descr="Rectangle: Click to edit Master text styles&#10;Second level&#10;Third level&#10;Fourth level&#10;Fifth level"/>
          <p:cNvSpPr>
            <a:spLocks noGrp="1" noChangeArrowheads="1"/>
          </p:cNvSpPr>
          <p:nvPr>
            <p:ph idx="1"/>
          </p:nvPr>
        </p:nvSpPr>
        <p:spPr>
          <a:xfrm>
            <a:off x="533400" y="1820863"/>
            <a:ext cx="8070850" cy="4632325"/>
          </a:xfrm>
        </p:spPr>
        <p:txBody>
          <a:bodyPr/>
          <a:lstStyle/>
          <a:p>
            <a:pPr eaLnBrk="1" hangingPunct="1">
              <a:lnSpc>
                <a:spcPct val="90000"/>
              </a:lnSpc>
              <a:buFont typeface="Wingdings" pitchFamily="-105" charset="2"/>
              <a:buChar char="o"/>
              <a:defRPr/>
            </a:pPr>
            <a:r>
              <a:rPr lang="en-GB" b="1" dirty="0">
                <a:latin typeface="Times" pitchFamily="-105" charset="0"/>
                <a:sym typeface="Wingdings" pitchFamily="2" charset="2"/>
              </a:rPr>
              <a:t>S</a:t>
            </a:r>
            <a:r>
              <a:rPr lang="en-GB" sz="2800" b="1" dirty="0">
                <a:latin typeface="Times" pitchFamily="-105" charset="0"/>
                <a:sym typeface="Wingdings" pitchFamily="2" charset="2"/>
              </a:rPr>
              <a:t>eparation and isolation of data</a:t>
            </a:r>
          </a:p>
          <a:p>
            <a:pPr lvl="1" eaLnBrk="1" hangingPunct="1">
              <a:lnSpc>
                <a:spcPct val="90000"/>
              </a:lnSpc>
              <a:buClr>
                <a:schemeClr val="bg2"/>
              </a:buClr>
              <a:buSzPct val="100000"/>
              <a:buFont typeface="Wingdings" pitchFamily="-105" charset="2"/>
              <a:buChar char="ü"/>
              <a:defRPr/>
            </a:pPr>
            <a:r>
              <a:rPr lang="en-GB" sz="2800" dirty="0">
                <a:latin typeface="Times" pitchFamily="-105" charset="0"/>
                <a:ea typeface="+mn-ea"/>
                <a:sym typeface="Wingdings" pitchFamily="2" charset="2"/>
              </a:rPr>
              <a:t>Each program maintains its own set of data.</a:t>
            </a:r>
          </a:p>
          <a:p>
            <a:pPr lvl="1" eaLnBrk="1" hangingPunct="1">
              <a:lnSpc>
                <a:spcPct val="90000"/>
              </a:lnSpc>
              <a:buClr>
                <a:schemeClr val="bg2"/>
              </a:buClr>
              <a:buSzPct val="100000"/>
              <a:buFont typeface="Wingdings" pitchFamily="-105" charset="2"/>
              <a:buChar char="ü"/>
              <a:defRPr/>
            </a:pPr>
            <a:r>
              <a:rPr lang="en-GB" sz="2800" dirty="0">
                <a:latin typeface="Times" pitchFamily="-105" charset="0"/>
                <a:ea typeface="+mn-ea"/>
                <a:sym typeface="Wingdings" pitchFamily="2" charset="2"/>
              </a:rPr>
              <a:t>Users of one program may be unaware of potentially useful data held by other programs.</a:t>
            </a:r>
          </a:p>
          <a:p>
            <a:pPr lvl="1" eaLnBrk="1" hangingPunct="1">
              <a:lnSpc>
                <a:spcPct val="90000"/>
              </a:lnSpc>
              <a:buFont typeface="Wingdings" pitchFamily="-105" charset="2"/>
              <a:buChar char="n"/>
              <a:defRPr/>
            </a:pPr>
            <a:endParaRPr lang="en-GB" sz="2800" dirty="0">
              <a:latin typeface="Times" pitchFamily="-105" charset="0"/>
              <a:ea typeface="+mn-ea"/>
              <a:sym typeface="Wingdings" pitchFamily="2" charset="2"/>
            </a:endParaRPr>
          </a:p>
          <a:p>
            <a:pPr eaLnBrk="1" hangingPunct="1">
              <a:lnSpc>
                <a:spcPct val="90000"/>
              </a:lnSpc>
              <a:buFont typeface="Wingdings" pitchFamily="-105" charset="2"/>
              <a:buChar char="o"/>
              <a:defRPr/>
            </a:pPr>
            <a:r>
              <a:rPr lang="en-GB" sz="2800" b="1" dirty="0">
                <a:latin typeface="Times" pitchFamily="-105" charset="0"/>
                <a:sym typeface="Wingdings" pitchFamily="2" charset="2"/>
              </a:rPr>
              <a:t>Duplication of data</a:t>
            </a:r>
          </a:p>
          <a:p>
            <a:pPr lvl="1" eaLnBrk="1" hangingPunct="1">
              <a:lnSpc>
                <a:spcPct val="90000"/>
              </a:lnSpc>
              <a:buClr>
                <a:schemeClr val="bg2"/>
              </a:buClr>
              <a:buSzPct val="100000"/>
              <a:buFont typeface="Wingdings" pitchFamily="-105" charset="2"/>
              <a:buChar char="ü"/>
              <a:defRPr/>
            </a:pPr>
            <a:r>
              <a:rPr lang="en-GB" sz="2800" dirty="0">
                <a:latin typeface="Times" pitchFamily="-105" charset="0"/>
                <a:ea typeface="+mn-ea"/>
                <a:sym typeface="Wingdings" pitchFamily="2" charset="2"/>
              </a:rPr>
              <a:t>Same data is held by different programs.</a:t>
            </a:r>
          </a:p>
          <a:p>
            <a:pPr lvl="1" eaLnBrk="1" hangingPunct="1">
              <a:lnSpc>
                <a:spcPct val="90000"/>
              </a:lnSpc>
              <a:buClr>
                <a:schemeClr val="bg2"/>
              </a:buClr>
              <a:buSzPct val="100000"/>
              <a:buFont typeface="Wingdings" pitchFamily="-105" charset="2"/>
              <a:buChar char="ü"/>
              <a:defRPr/>
            </a:pPr>
            <a:r>
              <a:rPr lang="en-GB" sz="2800" dirty="0">
                <a:latin typeface="Times" pitchFamily="-105" charset="0"/>
                <a:ea typeface="+mn-ea"/>
                <a:sym typeface="Wingdings" pitchFamily="2" charset="2"/>
              </a:rPr>
              <a:t>Wasted space and potentially different values and/or different formats for the same item.</a:t>
            </a:r>
          </a:p>
        </p:txBody>
      </p:sp>
      <p:sp>
        <p:nvSpPr>
          <p:cNvPr id="10246" name="Slide Number Placeholder 8"/>
          <p:cNvSpPr>
            <a:spLocks noGrp="1"/>
          </p:cNvSpPr>
          <p:nvPr>
            <p:ph type="sldNum" sz="quarter" idx="12"/>
          </p:nvPr>
        </p:nvSpPr>
        <p:spPr>
          <a:noFill/>
        </p:spPr>
        <p:txBody>
          <a:bodyPr/>
          <a:lstStyle/>
          <a:p>
            <a:fld id="{2C4DDE21-AE27-4543-9AF1-F389FB50BAFC}" type="slidenum">
              <a:rPr lang="en-US" smtClean="0">
                <a:latin typeface="Arial" pitchFamily="34" charset="0"/>
                <a:ea typeface="ＭＳ Ｐゴシック" pitchFamily="34" charset="-128"/>
              </a:rPr>
              <a:pPr/>
              <a:t>9</a:t>
            </a:fld>
            <a:endParaRPr lang="en-US">
              <a:latin typeface="Arial" pitchFamily="34" charset="0"/>
              <a:ea typeface="ＭＳ Ｐゴシック" pitchFamily="34" charset="-128"/>
            </a:endParaRPr>
          </a:p>
        </p:txBody>
      </p:sp>
      <p:sp>
        <p:nvSpPr>
          <p:cNvPr id="7" name="Date Placeholder 6"/>
          <p:cNvSpPr>
            <a:spLocks noGrp="1"/>
          </p:cNvSpPr>
          <p:nvPr>
            <p:ph type="dt" sz="half" idx="10"/>
          </p:nvPr>
        </p:nvSpPr>
        <p:spPr/>
        <p:txBody>
          <a:bodyPr/>
          <a:lstStyle/>
          <a:p>
            <a:pPr>
              <a:defRPr/>
            </a:pPr>
            <a:fld id="{955C9D52-29A6-47FF-B268-48E174EC4C32}" type="datetime1">
              <a:rPr lang="en-US" smtClean="0"/>
              <a:pPr>
                <a:defRPr/>
              </a:pPr>
              <a:t>5/30/2022</a:t>
            </a:fld>
            <a:endParaRPr lang="en-US"/>
          </a:p>
        </p:txBody>
      </p:sp>
      <p:sp>
        <p:nvSpPr>
          <p:cNvPr id="8" name="Footer Placeholder 7"/>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8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84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84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584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584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5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50825" y="533400"/>
            <a:ext cx="8686800" cy="1143000"/>
          </a:xfrm>
        </p:spPr>
        <p:txBody>
          <a:bodyPr/>
          <a:lstStyle/>
          <a:p>
            <a:pPr eaLnBrk="1" hangingPunct="1"/>
            <a:r>
              <a:rPr lang="en-GB" sz="3200" b="1">
                <a:latin typeface="Times" pitchFamily="18" charset="0"/>
              </a:rPr>
              <a:t>LIMITATIONS OF FILE-BASED APPROACH</a:t>
            </a:r>
          </a:p>
        </p:txBody>
      </p:sp>
      <p:sp>
        <p:nvSpPr>
          <p:cNvPr id="36867" name="Rectangle 3" descr="Rectangle: Click to edit Master text styles&#10;Second level&#10;Third level&#10;Fourth level&#10;Fifth level"/>
          <p:cNvSpPr>
            <a:spLocks noGrp="1" noChangeArrowheads="1"/>
          </p:cNvSpPr>
          <p:nvPr>
            <p:ph idx="1"/>
          </p:nvPr>
        </p:nvSpPr>
        <p:spPr>
          <a:xfrm>
            <a:off x="285750" y="1752600"/>
            <a:ext cx="8572500" cy="4819650"/>
          </a:xfrm>
        </p:spPr>
        <p:txBody>
          <a:bodyPr/>
          <a:lstStyle/>
          <a:p>
            <a:pPr>
              <a:buFont typeface="Wingdings" pitchFamily="2" charset="2"/>
              <a:buChar char="q"/>
            </a:pPr>
            <a:r>
              <a:rPr lang="en-GB" b="1" dirty="0">
                <a:latin typeface="Times" pitchFamily="18" charset="0"/>
              </a:rPr>
              <a:t>Incompatible file formats</a:t>
            </a:r>
          </a:p>
          <a:p>
            <a:pPr lvl="1" eaLnBrk="1" hangingPunct="1">
              <a:lnSpc>
                <a:spcPct val="90000"/>
              </a:lnSpc>
              <a:buClr>
                <a:schemeClr val="bg2"/>
              </a:buClr>
              <a:buSzPct val="100000"/>
              <a:buFont typeface="Wingdings" pitchFamily="2" charset="2"/>
              <a:buChar char="ü"/>
            </a:pPr>
            <a:r>
              <a:rPr lang="en-GB" dirty="0">
                <a:latin typeface="Times" pitchFamily="18" charset="0"/>
              </a:rPr>
              <a:t>Programs are written in different languages, and so cannot easily access each others files.</a:t>
            </a:r>
          </a:p>
          <a:p>
            <a:pPr eaLnBrk="1" hangingPunct="1">
              <a:lnSpc>
                <a:spcPct val="90000"/>
              </a:lnSpc>
            </a:pPr>
            <a:r>
              <a:rPr lang="en-GB" b="1" dirty="0">
                <a:latin typeface="Times" pitchFamily="18" charset="0"/>
              </a:rPr>
              <a:t>Fixed Queries/Proliferation of application programs</a:t>
            </a:r>
          </a:p>
          <a:p>
            <a:pPr lvl="1" eaLnBrk="1" hangingPunct="1">
              <a:lnSpc>
                <a:spcPct val="90000"/>
              </a:lnSpc>
              <a:buClr>
                <a:schemeClr val="bg2"/>
              </a:buClr>
              <a:buSzPct val="100000"/>
              <a:buFont typeface="Wingdings" pitchFamily="2" charset="2"/>
              <a:buChar char="ü"/>
            </a:pPr>
            <a:r>
              <a:rPr lang="en-GB" dirty="0">
                <a:latin typeface="Times" pitchFamily="18" charset="0"/>
              </a:rPr>
              <a:t>Programs are written to satisfy particular functions. Any new requirement needs a new program.</a:t>
            </a:r>
          </a:p>
          <a:p>
            <a:pPr eaLnBrk="1" hangingPunct="1">
              <a:lnSpc>
                <a:spcPct val="90000"/>
              </a:lnSpc>
              <a:spcAft>
                <a:spcPts val="600"/>
              </a:spcAft>
            </a:pPr>
            <a:r>
              <a:rPr lang="en-GB" b="1" dirty="0">
                <a:latin typeface="Times" pitchFamily="18" charset="0"/>
              </a:rPr>
              <a:t>Data dependence</a:t>
            </a:r>
          </a:p>
          <a:p>
            <a:pPr lvl="1">
              <a:buFont typeface="Wingdings" pitchFamily="2" charset="2"/>
              <a:buChar char="ü"/>
            </a:pPr>
            <a:r>
              <a:rPr lang="en-US" dirty="0">
                <a:latin typeface="Times" pitchFamily="18" charset="0"/>
              </a:rPr>
              <a:t>	Unhealthy dependency between data and programs. The physical structure of data files is embedded in the application code</a:t>
            </a:r>
            <a:r>
              <a:rPr lang="en-GB" dirty="0">
                <a:latin typeface="Times" pitchFamily="18" charset="0"/>
              </a:rPr>
              <a:t>. If some modifications have too be made in the data, the application program has to be rewritten. </a:t>
            </a:r>
          </a:p>
          <a:p>
            <a:pPr eaLnBrk="1" hangingPunct="1">
              <a:lnSpc>
                <a:spcPct val="90000"/>
              </a:lnSpc>
              <a:buSzPct val="100000"/>
              <a:buFont typeface="Wingdings" pitchFamily="2" charset="2"/>
              <a:buChar char="ü"/>
            </a:pPr>
            <a:endParaRPr lang="en-GB" dirty="0">
              <a:latin typeface="Times" pitchFamily="18" charset="0"/>
            </a:endParaRPr>
          </a:p>
        </p:txBody>
      </p:sp>
      <p:sp>
        <p:nvSpPr>
          <p:cNvPr id="11268" name="Date Placeholder 6"/>
          <p:cNvSpPr>
            <a:spLocks noGrp="1"/>
          </p:cNvSpPr>
          <p:nvPr>
            <p:ph type="dt" sz="quarter" idx="10"/>
          </p:nvPr>
        </p:nvSpPr>
        <p:spPr>
          <a:noFill/>
        </p:spPr>
        <p:txBody>
          <a:bodyPr/>
          <a:lstStyle/>
          <a:p>
            <a:fld id="{CCC168CD-3E19-4538-94FB-D68CD4DEB639}" type="datetime1">
              <a:rPr lang="en-US" smtClean="0">
                <a:latin typeface="Arial" pitchFamily="34" charset="0"/>
                <a:ea typeface="ＭＳ Ｐゴシック" pitchFamily="34" charset="-128"/>
              </a:rPr>
              <a:pPr/>
              <a:t>5/30/2022</a:t>
            </a:fld>
            <a:endParaRPr lang="en-US" dirty="0">
              <a:latin typeface="Arial" pitchFamily="34" charset="0"/>
              <a:ea typeface="ＭＳ Ｐゴシック" pitchFamily="34" charset="-128"/>
            </a:endParaRPr>
          </a:p>
        </p:txBody>
      </p:sp>
      <p:sp>
        <p:nvSpPr>
          <p:cNvPr id="11269" name="Footer Placeholder 7"/>
          <p:cNvSpPr>
            <a:spLocks noGrp="1"/>
          </p:cNvSpPr>
          <p:nvPr>
            <p:ph type="ftr" sz="quarter" idx="11"/>
          </p:nvPr>
        </p:nvSpPr>
        <p:spPr>
          <a:noFill/>
        </p:spPr>
        <p:txBody>
          <a:bodyPr/>
          <a:lstStyle/>
          <a:p>
            <a:r>
              <a:rPr lang="en-US">
                <a:latin typeface="Arial" pitchFamily="34" charset="0"/>
                <a:ea typeface="ＭＳ Ｐゴシック" pitchFamily="34" charset="-128"/>
              </a:rPr>
              <a:t>BIS1204</a:t>
            </a:r>
            <a:endParaRPr lang="en-US" dirty="0">
              <a:latin typeface="Arial" pitchFamily="34" charset="0"/>
              <a:ea typeface="ＭＳ Ｐゴシック" pitchFamily="34" charset="-128"/>
            </a:endParaRPr>
          </a:p>
        </p:txBody>
      </p:sp>
      <p:sp>
        <p:nvSpPr>
          <p:cNvPr id="11270" name="Slide Number Placeholder 8"/>
          <p:cNvSpPr>
            <a:spLocks noGrp="1"/>
          </p:cNvSpPr>
          <p:nvPr>
            <p:ph type="sldNum" sz="quarter" idx="12"/>
          </p:nvPr>
        </p:nvSpPr>
        <p:spPr>
          <a:noFill/>
        </p:spPr>
        <p:txBody>
          <a:bodyPr/>
          <a:lstStyle/>
          <a:p>
            <a:fld id="{96D46C29-7363-4C09-A85E-F270C4945D3B}" type="slidenum">
              <a:rPr lang="en-US" smtClean="0">
                <a:latin typeface="Arial" pitchFamily="34" charset="0"/>
                <a:ea typeface="ＭＳ Ｐゴシック" pitchFamily="34" charset="-128"/>
              </a:rPr>
              <a:pPr/>
              <a:t>10</a:t>
            </a:fld>
            <a:endParaRPr lang="en-US">
              <a:latin typeface="Arial" pitchFamily="34" charset="0"/>
              <a:ea typeface="ＭＳ Ｐゴシック" pitchFamily="34" charset="-128"/>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6867">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368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68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686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686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pPr eaLnBrk="1" hangingPunct="1"/>
            <a:r>
              <a:rPr lang="en-GB" b="1" dirty="0">
                <a:latin typeface="Times" pitchFamily="18" charset="0"/>
              </a:rPr>
              <a:t>LECTURE I PART 2</a:t>
            </a:r>
            <a:br>
              <a:rPr lang="en-GB" b="1" dirty="0">
                <a:latin typeface="Times" pitchFamily="18" charset="0"/>
              </a:rPr>
            </a:br>
            <a:endParaRPr lang="en-GB" b="1" dirty="0">
              <a:solidFill>
                <a:schemeClr val="tx1"/>
              </a:solidFill>
              <a:latin typeface="Times" pitchFamily="18" charset="0"/>
            </a:endParaRPr>
          </a:p>
        </p:txBody>
      </p:sp>
      <p:sp>
        <p:nvSpPr>
          <p:cNvPr id="4099" name="Rectangle 3" descr="Rectangle: Click to edit Master text styles&#10;Second level&#10;Third level&#10;Fourth level&#10;Fifth level"/>
          <p:cNvSpPr>
            <a:spLocks noGrp="1" noChangeArrowheads="1"/>
          </p:cNvSpPr>
          <p:nvPr>
            <p:ph type="subTitle" idx="1"/>
          </p:nvPr>
        </p:nvSpPr>
        <p:spPr/>
        <p:txBody>
          <a:bodyPr/>
          <a:lstStyle/>
          <a:p>
            <a:pPr algn="ctr"/>
            <a:r>
              <a:rPr lang="en-US" sz="3600" b="1" dirty="0">
                <a:latin typeface="Times" pitchFamily="18" charset="0"/>
              </a:rPr>
              <a:t>Introduction to the Database approach of managing Data</a:t>
            </a:r>
            <a:endParaRPr lang="en-GB" sz="2800" dirty="0">
              <a:latin typeface="Times" pitchFamily="18" charset="0"/>
            </a:endParaRPr>
          </a:p>
        </p:txBody>
      </p:sp>
      <p:sp>
        <p:nvSpPr>
          <p:cNvPr id="4100" name="Slide Number Placeholder 8"/>
          <p:cNvSpPr>
            <a:spLocks noGrp="1"/>
          </p:cNvSpPr>
          <p:nvPr>
            <p:ph type="sldNum" sz="quarter" idx="12"/>
          </p:nvPr>
        </p:nvSpPr>
        <p:spPr>
          <a:noFill/>
        </p:spPr>
        <p:txBody>
          <a:bodyPr/>
          <a:lstStyle/>
          <a:p>
            <a:fld id="{C99580E0-5858-46E9-8602-FB1596EEA70A}" type="slidenum">
              <a:rPr lang="en-US" smtClean="0">
                <a:latin typeface="Arial" pitchFamily="34" charset="0"/>
                <a:ea typeface="ＭＳ Ｐゴシック" pitchFamily="34" charset="-128"/>
              </a:rPr>
              <a:pPr/>
              <a:t>11</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29307DC6-5BA4-45E7-B7DD-B0E1FE3A0E4F}" type="datetime1">
              <a:rPr lang="en-US" smtClean="0"/>
              <a:pPr>
                <a:defRPr/>
              </a:pPr>
              <a:t>5/30/2022</a:t>
            </a:fld>
            <a:endParaRPr lang="en-US" dirty="0"/>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981075"/>
            <a:ext cx="8229600" cy="695325"/>
          </a:xfrm>
        </p:spPr>
        <p:txBody>
          <a:bodyPr lIns="90488" tIns="44450" rIns="90488" bIns="44450" anchor="ctr"/>
          <a:lstStyle/>
          <a:p>
            <a:pPr eaLnBrk="1" hangingPunct="1"/>
            <a:r>
              <a:rPr lang="en-GB" sz="3200" b="1" dirty="0">
                <a:latin typeface="Times" pitchFamily="-105" charset="0"/>
              </a:rPr>
              <a:t>Database Approach </a:t>
            </a:r>
          </a:p>
        </p:txBody>
      </p:sp>
      <p:sp>
        <p:nvSpPr>
          <p:cNvPr id="23555" name="Rectangle 3"/>
          <p:cNvSpPr>
            <a:spLocks noGrp="1" noChangeArrowheads="1"/>
          </p:cNvSpPr>
          <p:nvPr>
            <p:ph type="body" idx="1"/>
          </p:nvPr>
        </p:nvSpPr>
        <p:spPr>
          <a:xfrm>
            <a:off x="214313" y="1785938"/>
            <a:ext cx="8715375" cy="4857750"/>
          </a:xfrm>
        </p:spPr>
        <p:txBody>
          <a:bodyPr lIns="90488" tIns="44450" rIns="90488" bIns="44450"/>
          <a:lstStyle/>
          <a:p>
            <a:r>
              <a:rPr lang="en-GB" sz="2800" dirty="0">
                <a:latin typeface="Times" pitchFamily="-105" charset="0"/>
                <a:sym typeface="Wingdings" pitchFamily="2" charset="2"/>
              </a:rPr>
              <a:t>Databases were developed as a solution for the limitations of file based systems for data storage and management;</a:t>
            </a:r>
          </a:p>
          <a:p>
            <a:pPr>
              <a:buNone/>
            </a:pPr>
            <a:endParaRPr lang="en-GB" sz="2800" b="1" dirty="0">
              <a:latin typeface="Times"/>
              <a:sym typeface="Wingdings" pitchFamily="2" charset="2"/>
            </a:endParaRPr>
          </a:p>
          <a:p>
            <a:r>
              <a:rPr lang="en-GB" sz="2800" b="1" dirty="0">
                <a:latin typeface="Times"/>
                <a:sym typeface="Wingdings" pitchFamily="2" charset="2"/>
              </a:rPr>
              <a:t>A database: </a:t>
            </a:r>
            <a:r>
              <a:rPr lang="en-GB" sz="2800" dirty="0">
                <a:latin typeface="Times"/>
                <a:sym typeface="Wingdings" pitchFamily="2" charset="2"/>
              </a:rPr>
              <a:t> </a:t>
            </a:r>
            <a:r>
              <a:rPr lang="en-US" sz="2800" dirty="0">
                <a:latin typeface="Times"/>
              </a:rPr>
              <a:t>A </a:t>
            </a:r>
            <a:r>
              <a:rPr lang="en-US" sz="2800" b="1" dirty="0">
                <a:latin typeface="Times"/>
              </a:rPr>
              <a:t>shared</a:t>
            </a:r>
            <a:r>
              <a:rPr lang="en-US" sz="2800" dirty="0">
                <a:latin typeface="Times"/>
              </a:rPr>
              <a:t> collection of </a:t>
            </a:r>
            <a:r>
              <a:rPr lang="en-US" sz="2800" b="1" dirty="0">
                <a:latin typeface="Times"/>
              </a:rPr>
              <a:t>logically related data</a:t>
            </a:r>
            <a:r>
              <a:rPr lang="en-US" sz="2800" dirty="0">
                <a:latin typeface="Times"/>
              </a:rPr>
              <a:t>, and a </a:t>
            </a:r>
            <a:r>
              <a:rPr lang="en-US" sz="2800" b="1" dirty="0">
                <a:latin typeface="Times"/>
              </a:rPr>
              <a:t>description</a:t>
            </a:r>
            <a:r>
              <a:rPr lang="en-US" sz="2800" dirty="0">
                <a:latin typeface="Times"/>
              </a:rPr>
              <a:t> of this data, designed to meet the information needs of an organization</a:t>
            </a:r>
            <a:r>
              <a:rPr lang="en-US" sz="2800" dirty="0"/>
              <a:t>.</a:t>
            </a:r>
            <a:endParaRPr lang="en-GB" sz="2800" dirty="0">
              <a:latin typeface="Times" pitchFamily="-105" charset="0"/>
              <a:sym typeface="Wingdings" pitchFamily="2" charset="2"/>
            </a:endParaRPr>
          </a:p>
          <a:p>
            <a:pPr marL="342900" indent="-342900" eaLnBrk="1" hangingPunct="1">
              <a:spcBef>
                <a:spcPts val="600"/>
              </a:spcBef>
              <a:spcAft>
                <a:spcPts val="1200"/>
              </a:spcAft>
              <a:defRPr/>
            </a:pPr>
            <a:r>
              <a:rPr lang="en-US" sz="2800" b="1" i="1" dirty="0" smtClean="0">
                <a:latin typeface="Times" pitchFamily="-105" charset="0"/>
                <a:sym typeface="Wingdings" pitchFamily="2" charset="2"/>
              </a:rPr>
              <a:t>Why </a:t>
            </a:r>
            <a:r>
              <a:rPr lang="en-US" sz="2800" b="1" i="1" dirty="0">
                <a:latin typeface="Times" pitchFamily="-105" charset="0"/>
                <a:sym typeface="Wingdings" pitchFamily="2" charset="2"/>
              </a:rPr>
              <a:t>Databases are important </a:t>
            </a:r>
          </a:p>
          <a:p>
            <a:pPr lvl="1">
              <a:defRPr/>
            </a:pPr>
            <a:r>
              <a:rPr lang="en-US" sz="2800" dirty="0">
                <a:latin typeface="Times"/>
              </a:rPr>
              <a:t>Efficient Manipulation of large data sets.</a:t>
            </a:r>
          </a:p>
          <a:p>
            <a:pPr lvl="1">
              <a:defRPr/>
            </a:pPr>
            <a:r>
              <a:rPr lang="en-US" sz="2800" dirty="0">
                <a:latin typeface="Times"/>
              </a:rPr>
              <a:t>Integration of Multiple Data Sources</a:t>
            </a:r>
            <a:endParaRPr lang="en-US" sz="1800" dirty="0">
              <a:latin typeface="Times"/>
              <a:cs typeface="Tahoma" pitchFamily="34" charset="0"/>
            </a:endParaRPr>
          </a:p>
          <a:p>
            <a:pPr eaLnBrk="1" hangingPunct="1">
              <a:spcAft>
                <a:spcPts val="600"/>
              </a:spcAft>
              <a:buFont typeface="Wingdings" pitchFamily="2" charset="2"/>
              <a:buNone/>
              <a:defRPr/>
            </a:pPr>
            <a:r>
              <a:rPr lang="en-US" sz="2600" dirty="0">
                <a:latin typeface="Times"/>
              </a:rPr>
              <a:t>	</a:t>
            </a:r>
            <a:endParaRPr lang="en-US" sz="2000" dirty="0">
              <a:latin typeface="Times"/>
              <a:cs typeface="Tahoma" pitchFamily="34" charset="0"/>
            </a:endParaRPr>
          </a:p>
        </p:txBody>
      </p:sp>
      <p:sp>
        <p:nvSpPr>
          <p:cNvPr id="16388" name="Date Placeholder 8"/>
          <p:cNvSpPr>
            <a:spLocks noGrp="1"/>
          </p:cNvSpPr>
          <p:nvPr>
            <p:ph type="dt" sz="quarter" idx="10"/>
          </p:nvPr>
        </p:nvSpPr>
        <p:spPr>
          <a:noFill/>
        </p:spPr>
        <p:txBody>
          <a:bodyPr/>
          <a:lstStyle/>
          <a:p>
            <a:fld id="{0EF15BB4-02F3-4071-ADE5-E6086BCC9684}" type="datetime1">
              <a:rPr lang="en-US" smtClean="0"/>
              <a:pPr/>
              <a:t>5/30/2022</a:t>
            </a:fld>
            <a:endParaRPr lang="en-US"/>
          </a:p>
        </p:txBody>
      </p:sp>
      <p:sp>
        <p:nvSpPr>
          <p:cNvPr id="16389" name="Footer Placeholder 9"/>
          <p:cNvSpPr>
            <a:spLocks noGrp="1"/>
          </p:cNvSpPr>
          <p:nvPr>
            <p:ph type="ftr" sz="quarter" idx="11"/>
          </p:nvPr>
        </p:nvSpPr>
        <p:spPr>
          <a:noFill/>
        </p:spPr>
        <p:txBody>
          <a:bodyPr/>
          <a:lstStyle/>
          <a:p>
            <a:r>
              <a:rPr lang="en-US"/>
              <a:t>BIS1204</a:t>
            </a:r>
          </a:p>
        </p:txBody>
      </p:sp>
      <p:sp>
        <p:nvSpPr>
          <p:cNvPr id="16390" name="Slide Number Placeholder 10"/>
          <p:cNvSpPr>
            <a:spLocks noGrp="1"/>
          </p:cNvSpPr>
          <p:nvPr>
            <p:ph type="sldNum" sz="quarter" idx="12"/>
          </p:nvPr>
        </p:nvSpPr>
        <p:spPr>
          <a:noFill/>
        </p:spPr>
        <p:txBody>
          <a:bodyPr/>
          <a:lstStyle/>
          <a:p>
            <a:fld id="{ED2A8B9C-9517-4E38-8876-D7E4622D3BF2}" type="slidenum">
              <a:rPr lang="en-US" smtClean="0"/>
              <a:pPr/>
              <a:t>12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 calcmode="lin" valueType="num">
                                      <p:cBhvr additive="base">
                                        <p:cTn id="7" dur="500" fill="hold"/>
                                        <p:tgtEl>
                                          <p:spTgt spid="2355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35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 calcmode="lin" valueType="num">
                                      <p:cBhvr additive="base">
                                        <p:cTn id="13" dur="500" fill="hold"/>
                                        <p:tgtEl>
                                          <p:spTgt spid="23555">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235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23555">
                                            <p:txEl>
                                              <p:pRg st="3" end="3"/>
                                            </p:txEl>
                                          </p:spTgt>
                                        </p:tgtEl>
                                        <p:attrNameLst>
                                          <p:attrName>style.visibility</p:attrName>
                                        </p:attrNameLst>
                                      </p:cBhvr>
                                      <p:to>
                                        <p:strVal val="visible"/>
                                      </p:to>
                                    </p:set>
                                    <p:anim calcmode="lin" valueType="num">
                                      <p:cBhvr additive="base">
                                        <p:cTn id="19" dur="500" fill="hold"/>
                                        <p:tgtEl>
                                          <p:spTgt spid="2355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355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3555">
                                            <p:txEl>
                                              <p:pRg st="4" end="4"/>
                                            </p:txEl>
                                          </p:spTgt>
                                        </p:tgtEl>
                                        <p:attrNameLst>
                                          <p:attrName>style.visibility</p:attrName>
                                        </p:attrNameLst>
                                      </p:cBhvr>
                                      <p:to>
                                        <p:strVal val="visible"/>
                                      </p:to>
                                    </p:set>
                                    <p:anim calcmode="lin" valueType="num">
                                      <p:cBhvr additive="base">
                                        <p:cTn id="23" dur="500" fill="hold"/>
                                        <p:tgtEl>
                                          <p:spTgt spid="2355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3555">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 calcmode="lin" valueType="num">
                                      <p:cBhvr additive="base">
                                        <p:cTn id="27" dur="500" fill="hold"/>
                                        <p:tgtEl>
                                          <p:spTgt spid="23555">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235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3555">
                                            <p:txEl>
                                              <p:pRg st="6" end="6"/>
                                            </p:txEl>
                                          </p:spTgt>
                                        </p:tgtEl>
                                        <p:attrNameLst>
                                          <p:attrName>style.visibility</p:attrName>
                                        </p:attrNameLst>
                                      </p:cBhvr>
                                      <p:to>
                                        <p:strVal val="visible"/>
                                      </p:to>
                                    </p:set>
                                    <p:anim calcmode="lin" valueType="num">
                                      <p:cBhvr additive="base">
                                        <p:cTn id="33" dur="500" fill="hold"/>
                                        <p:tgtEl>
                                          <p:spTgt spid="2355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23555">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533400"/>
            <a:ext cx="8229600" cy="1252526"/>
          </a:xfrm>
        </p:spPr>
        <p:txBody>
          <a:bodyPr/>
          <a:lstStyle/>
          <a:p>
            <a:r>
              <a:rPr lang="en-GB" b="1" dirty="0">
                <a:latin typeface="Times" pitchFamily="-105" charset="0"/>
              </a:rPr>
              <a:t>Examples of Database Applications</a:t>
            </a:r>
          </a:p>
        </p:txBody>
      </p:sp>
      <p:sp>
        <p:nvSpPr>
          <p:cNvPr id="78851" name="Rectangle 3"/>
          <p:cNvSpPr>
            <a:spLocks noGrp="1" noChangeArrowheads="1"/>
          </p:cNvSpPr>
          <p:nvPr>
            <p:ph type="body" idx="1"/>
          </p:nvPr>
        </p:nvSpPr>
        <p:spPr>
          <a:xfrm>
            <a:off x="533400" y="1714488"/>
            <a:ext cx="8253442" cy="4929222"/>
          </a:xfrm>
        </p:spPr>
        <p:txBody>
          <a:bodyPr/>
          <a:lstStyle/>
          <a:p>
            <a:pPr>
              <a:lnSpc>
                <a:spcPct val="150000"/>
              </a:lnSpc>
            </a:pPr>
            <a:r>
              <a:rPr lang="en-US" b="1" dirty="0">
                <a:latin typeface="Times" pitchFamily="-105" charset="0"/>
                <a:cs typeface="Times New Roman" pitchFamily="18" charset="0"/>
              </a:rPr>
              <a:t>Purchases from the supermarket</a:t>
            </a:r>
          </a:p>
          <a:p>
            <a:pPr>
              <a:lnSpc>
                <a:spcPct val="150000"/>
              </a:lnSpc>
            </a:pPr>
            <a:r>
              <a:rPr lang="en-US" b="1" dirty="0">
                <a:latin typeface="Times" pitchFamily="-105" charset="0"/>
                <a:cs typeface="Times New Roman" pitchFamily="18" charset="0"/>
              </a:rPr>
              <a:t>Booking a holiday at the travel agents </a:t>
            </a:r>
          </a:p>
          <a:p>
            <a:pPr>
              <a:lnSpc>
                <a:spcPct val="150000"/>
              </a:lnSpc>
            </a:pPr>
            <a:r>
              <a:rPr lang="en-US" b="1" dirty="0">
                <a:latin typeface="Times" pitchFamily="-105" charset="0"/>
                <a:cs typeface="Times New Roman" pitchFamily="18" charset="0"/>
              </a:rPr>
              <a:t>Using the library</a:t>
            </a:r>
            <a:r>
              <a:rPr lang="en-GB" b="1" dirty="0">
                <a:latin typeface="Times" pitchFamily="-105" charset="0"/>
                <a:cs typeface="Times New Roman" pitchFamily="18" charset="0"/>
              </a:rPr>
              <a:t> </a:t>
            </a:r>
          </a:p>
          <a:p>
            <a:pPr>
              <a:lnSpc>
                <a:spcPct val="150000"/>
              </a:lnSpc>
            </a:pPr>
            <a:r>
              <a:rPr lang="en-US" b="1" dirty="0">
                <a:latin typeface="Times" pitchFamily="-105" charset="0"/>
                <a:cs typeface="Times New Roman" pitchFamily="18" charset="0"/>
              </a:rPr>
              <a:t>Taking out insurance</a:t>
            </a:r>
            <a:r>
              <a:rPr lang="en-GB" b="1" dirty="0">
                <a:latin typeface="Times" pitchFamily="-105" charset="0"/>
                <a:cs typeface="Times New Roman" pitchFamily="18" charset="0"/>
              </a:rPr>
              <a:t> </a:t>
            </a:r>
          </a:p>
          <a:p>
            <a:pPr>
              <a:lnSpc>
                <a:spcPct val="150000"/>
              </a:lnSpc>
            </a:pPr>
            <a:r>
              <a:rPr lang="en-GB" b="1" dirty="0">
                <a:latin typeface="Times" pitchFamily="-105" charset="0"/>
                <a:cs typeface="Times New Roman" pitchFamily="18" charset="0"/>
              </a:rPr>
              <a:t>Renting a video</a:t>
            </a:r>
          </a:p>
          <a:p>
            <a:pPr lvl="1">
              <a:lnSpc>
                <a:spcPct val="150000"/>
              </a:lnSpc>
            </a:pPr>
            <a:r>
              <a:rPr lang="en-US" b="1" dirty="0">
                <a:latin typeface="Times" pitchFamily="-105" charset="0"/>
                <a:cs typeface="Times New Roman" pitchFamily="18" charset="0"/>
              </a:rPr>
              <a:t>Amazon</a:t>
            </a:r>
            <a:endParaRPr lang="en-GB" b="1" dirty="0">
              <a:latin typeface="Times" pitchFamily="-105" charset="0"/>
              <a:cs typeface="Times New Roman" pitchFamily="18" charset="0"/>
            </a:endParaRPr>
          </a:p>
          <a:p>
            <a:pPr lvl="1">
              <a:lnSpc>
                <a:spcPct val="150000"/>
              </a:lnSpc>
            </a:pPr>
            <a:r>
              <a:rPr lang="en-US" b="1" dirty="0">
                <a:latin typeface="Times" pitchFamily="-105" charset="0"/>
                <a:cs typeface="Times New Roman" pitchFamily="18" charset="0"/>
              </a:rPr>
              <a:t>Youtube</a:t>
            </a:r>
            <a:endParaRPr lang="en-GB" dirty="0">
              <a:latin typeface="Times" pitchFamily="-105" charset="0"/>
              <a:cs typeface="Times New Roman" pitchFamily="18" charset="0"/>
            </a:endParaRPr>
          </a:p>
        </p:txBody>
      </p:sp>
      <p:sp>
        <p:nvSpPr>
          <p:cNvPr id="4" name="Date Placeholder 3"/>
          <p:cNvSpPr>
            <a:spLocks noGrp="1"/>
          </p:cNvSpPr>
          <p:nvPr>
            <p:ph type="dt" sz="half" idx="10"/>
          </p:nvPr>
        </p:nvSpPr>
        <p:spPr/>
        <p:txBody>
          <a:bodyPr/>
          <a:lstStyle/>
          <a:p>
            <a:pPr>
              <a:defRPr/>
            </a:pPr>
            <a:fld id="{469747C1-1279-4C85-A740-45BDAF474E02}" type="datetime1">
              <a:rPr lang="en-US" smtClean="0"/>
              <a:pPr>
                <a:defRPr/>
              </a:pPr>
              <a:t>5/30/2022</a:t>
            </a:fld>
            <a:endParaRPr lang="en-US"/>
          </a:p>
        </p:txBody>
      </p:sp>
      <p:sp>
        <p:nvSpPr>
          <p:cNvPr id="5" name="Slide Number Placeholder 4"/>
          <p:cNvSpPr>
            <a:spLocks noGrp="1"/>
          </p:cNvSpPr>
          <p:nvPr>
            <p:ph type="sldNum" sz="quarter" idx="12"/>
          </p:nvPr>
        </p:nvSpPr>
        <p:spPr/>
        <p:txBody>
          <a:bodyPr/>
          <a:lstStyle/>
          <a:p>
            <a:pPr>
              <a:defRPr/>
            </a:pPr>
            <a:fld id="{70EFCDA5-C848-48A8-B81F-AE302B9463AB}" type="slidenum">
              <a:rPr lang="en-US" smtClean="0"/>
              <a:pPr>
                <a:defRPr/>
              </a:pPr>
              <a:t>13</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88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88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88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88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885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78851">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788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533400"/>
            <a:ext cx="8229600" cy="895350"/>
          </a:xfrm>
        </p:spPr>
        <p:txBody>
          <a:bodyPr/>
          <a:lstStyle/>
          <a:p>
            <a:pPr eaLnBrk="1" hangingPunct="1"/>
            <a:r>
              <a:rPr lang="en-GB" sz="3200" b="1">
                <a:latin typeface="Times" pitchFamily="18" charset="0"/>
              </a:rPr>
              <a:t>DATABASE TERMINOLOGIES</a:t>
            </a:r>
            <a:endParaRPr lang="en-US" sz="3200">
              <a:latin typeface="Times" pitchFamily="18" charset="0"/>
            </a:endParaRPr>
          </a:p>
        </p:txBody>
      </p:sp>
      <p:sp>
        <p:nvSpPr>
          <p:cNvPr id="13315" name="Content Placeholder 2"/>
          <p:cNvSpPr>
            <a:spLocks noGrp="1"/>
          </p:cNvSpPr>
          <p:nvPr>
            <p:ph idx="1"/>
          </p:nvPr>
        </p:nvSpPr>
        <p:spPr>
          <a:xfrm>
            <a:off x="142844" y="1714488"/>
            <a:ext cx="8543956" cy="4929222"/>
          </a:xfrm>
        </p:spPr>
        <p:txBody>
          <a:bodyPr/>
          <a:lstStyle/>
          <a:p>
            <a:pPr eaLnBrk="1" hangingPunct="1">
              <a:lnSpc>
                <a:spcPct val="80000"/>
              </a:lnSpc>
              <a:spcAft>
                <a:spcPts val="600"/>
              </a:spcAft>
            </a:pPr>
            <a:r>
              <a:rPr lang="en-GB" sz="2300" b="1" dirty="0">
                <a:latin typeface="+mj-lt"/>
                <a:sym typeface="Wingdings" pitchFamily="2" charset="2"/>
              </a:rPr>
              <a:t>A database </a:t>
            </a:r>
            <a:r>
              <a:rPr lang="en-GB" sz="2300" dirty="0">
                <a:latin typeface="+mj-lt"/>
                <a:sym typeface="Wingdings" pitchFamily="2" charset="2"/>
              </a:rPr>
              <a:t>can be simply known as an organised collection of related data. Formally may be defined as a collection of related data, and a description of the data, designed to meet the information needs of an organisation.</a:t>
            </a:r>
          </a:p>
          <a:p>
            <a:pPr eaLnBrk="1" hangingPunct="1">
              <a:lnSpc>
                <a:spcPct val="80000"/>
              </a:lnSpc>
              <a:spcAft>
                <a:spcPts val="600"/>
              </a:spcAft>
            </a:pPr>
            <a:endParaRPr lang="en-US" sz="2300" b="1" dirty="0">
              <a:latin typeface="+mj-lt"/>
            </a:endParaRPr>
          </a:p>
          <a:p>
            <a:pPr eaLnBrk="1" hangingPunct="1">
              <a:lnSpc>
                <a:spcPct val="80000"/>
              </a:lnSpc>
              <a:spcAft>
                <a:spcPts val="600"/>
              </a:spcAft>
            </a:pPr>
            <a:r>
              <a:rPr lang="en-GB" sz="2300" b="1" dirty="0">
                <a:latin typeface="+mj-lt"/>
              </a:rPr>
              <a:t>Database Management System: </a:t>
            </a:r>
            <a:r>
              <a:rPr lang="en-GB" sz="2300" dirty="0">
                <a:latin typeface="+mj-lt"/>
              </a:rPr>
              <a:t>A software system that enables users to define, create, and maintain the database and provides controlled access to this database. </a:t>
            </a:r>
            <a:endParaRPr lang="en-GB" sz="2300" b="1" dirty="0">
              <a:latin typeface="+mj-lt"/>
            </a:endParaRPr>
          </a:p>
          <a:p>
            <a:pPr eaLnBrk="1" hangingPunct="1">
              <a:lnSpc>
                <a:spcPct val="80000"/>
              </a:lnSpc>
              <a:spcAft>
                <a:spcPts val="600"/>
              </a:spcAft>
            </a:pPr>
            <a:endParaRPr lang="en-US" sz="2300" dirty="0">
              <a:latin typeface="+mj-lt"/>
            </a:endParaRPr>
          </a:p>
          <a:p>
            <a:pPr eaLnBrk="1" hangingPunct="1">
              <a:lnSpc>
                <a:spcPct val="80000"/>
              </a:lnSpc>
              <a:spcAft>
                <a:spcPts val="600"/>
              </a:spcAft>
            </a:pPr>
            <a:r>
              <a:rPr lang="en-US" sz="2300" b="1" dirty="0">
                <a:latin typeface="+mj-lt"/>
              </a:rPr>
              <a:t>Database application: </a:t>
            </a:r>
            <a:r>
              <a:rPr lang="en-US" sz="2300" dirty="0">
                <a:latin typeface="+mj-lt"/>
              </a:rPr>
              <a:t>A program that interacts with a database at some point in its execution.</a:t>
            </a:r>
          </a:p>
          <a:p>
            <a:pPr lvl="1" eaLnBrk="1" hangingPunct="1">
              <a:lnSpc>
                <a:spcPct val="80000"/>
              </a:lnSpc>
              <a:spcAft>
                <a:spcPts val="600"/>
              </a:spcAft>
            </a:pPr>
            <a:r>
              <a:rPr lang="en-US" sz="2300" dirty="0">
                <a:latin typeface="+mj-lt"/>
              </a:rPr>
              <a:t>	</a:t>
            </a:r>
            <a:r>
              <a:rPr lang="en-US" sz="2300" i="1" dirty="0">
                <a:latin typeface="+mj-lt"/>
              </a:rPr>
              <a:t>Database applications access the database, process the data and generate the required information.</a:t>
            </a:r>
            <a:r>
              <a:rPr lang="en-GB" sz="2300" i="1" dirty="0">
                <a:latin typeface="+mj-lt"/>
              </a:rPr>
              <a:t> </a:t>
            </a:r>
          </a:p>
          <a:p>
            <a:pPr eaLnBrk="1" hangingPunct="1">
              <a:lnSpc>
                <a:spcPct val="80000"/>
              </a:lnSpc>
              <a:spcAft>
                <a:spcPts val="600"/>
              </a:spcAft>
            </a:pPr>
            <a:endParaRPr lang="en-US" dirty="0">
              <a:latin typeface="Times" pitchFamily="18" charset="0"/>
            </a:endParaRPr>
          </a:p>
          <a:p>
            <a:pPr eaLnBrk="1" hangingPunct="1"/>
            <a:endParaRPr lang="en-US" dirty="0"/>
          </a:p>
        </p:txBody>
      </p:sp>
      <p:sp>
        <p:nvSpPr>
          <p:cNvPr id="13316" name="Slide Number Placeholder 8"/>
          <p:cNvSpPr>
            <a:spLocks noGrp="1"/>
          </p:cNvSpPr>
          <p:nvPr>
            <p:ph type="sldNum" sz="quarter" idx="12"/>
          </p:nvPr>
        </p:nvSpPr>
        <p:spPr>
          <a:noFill/>
        </p:spPr>
        <p:txBody>
          <a:bodyPr/>
          <a:lstStyle/>
          <a:p>
            <a:fld id="{912226FA-BF74-4707-B408-FDEEBAEF6D01}" type="slidenum">
              <a:rPr lang="en-US" smtClean="0">
                <a:latin typeface="Arial" pitchFamily="34" charset="0"/>
                <a:ea typeface="ＭＳ Ｐゴシック" pitchFamily="34" charset="-128"/>
              </a:rPr>
              <a:pPr/>
              <a:t>14</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F783D00A-23A6-4831-9497-44D7ECF781F5}"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b="1" dirty="0">
                <a:solidFill>
                  <a:schemeClr val="tx2">
                    <a:satMod val="130000"/>
                  </a:schemeClr>
                </a:solidFill>
                <a:latin typeface="Times" pitchFamily="18" charset="0"/>
              </a:rPr>
              <a:t>Examples of DBMS’s </a:t>
            </a:r>
          </a:p>
        </p:txBody>
      </p:sp>
      <p:sp>
        <p:nvSpPr>
          <p:cNvPr id="22531" name="Content Placeholder 2"/>
          <p:cNvSpPr>
            <a:spLocks noGrp="1"/>
          </p:cNvSpPr>
          <p:nvPr>
            <p:ph idx="1"/>
          </p:nvPr>
        </p:nvSpPr>
        <p:spPr>
          <a:xfrm>
            <a:off x="457200" y="1785938"/>
            <a:ext cx="8229600" cy="4714875"/>
          </a:xfrm>
        </p:spPr>
        <p:txBody>
          <a:bodyPr/>
          <a:lstStyle/>
          <a:p>
            <a:r>
              <a:rPr lang="en-US" sz="2800" dirty="0">
                <a:latin typeface="Times" pitchFamily="-105" charset="0"/>
              </a:rPr>
              <a:t>MySQL</a:t>
            </a:r>
          </a:p>
          <a:p>
            <a:r>
              <a:rPr lang="en-US" sz="2800" dirty="0">
                <a:latin typeface="Times" pitchFamily="-105" charset="0"/>
              </a:rPr>
              <a:t>Oracle.</a:t>
            </a:r>
          </a:p>
          <a:p>
            <a:r>
              <a:rPr lang="en-US" sz="2800" dirty="0">
                <a:latin typeface="Times" pitchFamily="-105" charset="0"/>
              </a:rPr>
              <a:t>MS Access.</a:t>
            </a:r>
          </a:p>
          <a:p>
            <a:r>
              <a:rPr lang="en-US" sz="2800" dirty="0">
                <a:latin typeface="Times" pitchFamily="-105" charset="0"/>
              </a:rPr>
              <a:t>SQL server.</a:t>
            </a:r>
          </a:p>
          <a:p>
            <a:r>
              <a:rPr lang="en-US" sz="2800" dirty="0">
                <a:latin typeface="Times" pitchFamily="-105" charset="0"/>
              </a:rPr>
              <a:t>DB2.</a:t>
            </a:r>
          </a:p>
          <a:p>
            <a:r>
              <a:rPr lang="en-US" sz="2800" dirty="0">
                <a:latin typeface="Times" pitchFamily="-105" charset="0"/>
              </a:rPr>
              <a:t>File Maker</a:t>
            </a:r>
          </a:p>
          <a:p>
            <a:r>
              <a:rPr lang="en-US" sz="2800" dirty="0">
                <a:latin typeface="Times" pitchFamily="-105" charset="0"/>
              </a:rPr>
              <a:t>FoxPro</a:t>
            </a:r>
          </a:p>
          <a:p>
            <a:endParaRPr lang="en-US" dirty="0"/>
          </a:p>
          <a:p>
            <a:pPr>
              <a:buFont typeface="Wingdings" pitchFamily="-105" charset="2"/>
              <a:buNone/>
            </a:pPr>
            <a:endParaRPr lang="en-US" dirty="0"/>
          </a:p>
        </p:txBody>
      </p:sp>
      <p:sp>
        <p:nvSpPr>
          <p:cNvPr id="22532" name="Date Placeholder 6"/>
          <p:cNvSpPr>
            <a:spLocks noGrp="1"/>
          </p:cNvSpPr>
          <p:nvPr>
            <p:ph type="dt" sz="quarter" idx="10"/>
          </p:nvPr>
        </p:nvSpPr>
        <p:spPr>
          <a:noFill/>
        </p:spPr>
        <p:txBody>
          <a:bodyPr/>
          <a:lstStyle/>
          <a:p>
            <a:fld id="{FCDEFECC-0D48-486E-8DFE-4DB5FDA6E9E0}" type="datetime1">
              <a:rPr lang="en-US" smtClean="0"/>
              <a:pPr/>
              <a:t>5/30/2022</a:t>
            </a:fld>
            <a:endParaRPr lang="en-US"/>
          </a:p>
        </p:txBody>
      </p:sp>
      <p:sp>
        <p:nvSpPr>
          <p:cNvPr id="22533" name="Footer Placeholder 7"/>
          <p:cNvSpPr>
            <a:spLocks noGrp="1"/>
          </p:cNvSpPr>
          <p:nvPr>
            <p:ph type="ftr" sz="quarter" idx="11"/>
          </p:nvPr>
        </p:nvSpPr>
        <p:spPr>
          <a:noFill/>
        </p:spPr>
        <p:txBody>
          <a:bodyPr/>
          <a:lstStyle/>
          <a:p>
            <a:r>
              <a:rPr lang="en-US"/>
              <a:t>BIS1204</a:t>
            </a:r>
          </a:p>
        </p:txBody>
      </p:sp>
      <p:sp>
        <p:nvSpPr>
          <p:cNvPr id="22534" name="Slide Number Placeholder 8"/>
          <p:cNvSpPr>
            <a:spLocks noGrp="1"/>
          </p:cNvSpPr>
          <p:nvPr>
            <p:ph type="sldNum" sz="quarter" idx="12"/>
          </p:nvPr>
        </p:nvSpPr>
        <p:spPr>
          <a:noFill/>
        </p:spPr>
        <p:txBody>
          <a:bodyPr/>
          <a:lstStyle/>
          <a:p>
            <a:fld id="{78DA8EC6-E170-4AB7-801D-7C5828FF2957}"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z="3200" b="1">
                <a:latin typeface="Times" pitchFamily="18" charset="0"/>
              </a:rPr>
              <a:t>Characteristics of the Database approach</a:t>
            </a:r>
          </a:p>
        </p:txBody>
      </p:sp>
      <p:sp>
        <p:nvSpPr>
          <p:cNvPr id="43012" name="Text Box 3" descr="Rectangle: Click to edit Master text styles&#10;Second level&#10;Third level&#10;Fourth level&#10;Fifth level"/>
          <p:cNvSpPr>
            <a:spLocks noGrp="1" noChangeArrowheads="1"/>
          </p:cNvSpPr>
          <p:nvPr>
            <p:ph idx="1"/>
          </p:nvPr>
        </p:nvSpPr>
        <p:spPr>
          <a:xfrm>
            <a:off x="468313" y="1785938"/>
            <a:ext cx="8245475" cy="4857750"/>
          </a:xfrm>
        </p:spPr>
        <p:txBody>
          <a:bodyPr/>
          <a:lstStyle/>
          <a:p>
            <a:pPr marL="0" indent="0" algn="just" eaLnBrk="1" hangingPunct="1">
              <a:lnSpc>
                <a:spcPct val="80000"/>
              </a:lnSpc>
              <a:buFont typeface="Wingdings" pitchFamily="-105" charset="2"/>
              <a:buChar char="o"/>
              <a:tabLst>
                <a:tab pos="107950" algn="l"/>
                <a:tab pos="574675" algn="l"/>
              </a:tabLst>
              <a:defRPr/>
            </a:pPr>
            <a:r>
              <a:rPr lang="en-US" sz="2800" dirty="0"/>
              <a:t> </a:t>
            </a:r>
            <a:r>
              <a:rPr lang="en-US" b="1" dirty="0"/>
              <a:t>Single repository of data</a:t>
            </a:r>
          </a:p>
          <a:p>
            <a:pPr marL="685800" lvl="1" indent="-228600" algn="just" eaLnBrk="1" hangingPunct="1">
              <a:lnSpc>
                <a:spcPct val="80000"/>
              </a:lnSpc>
              <a:buFont typeface="Wingdings" pitchFamily="-105" charset="2"/>
              <a:buChar char="n"/>
              <a:tabLst>
                <a:tab pos="107950" algn="l"/>
                <a:tab pos="574675" algn="l"/>
              </a:tabLst>
              <a:defRPr/>
            </a:pPr>
            <a:r>
              <a:rPr lang="en-US" dirty="0"/>
              <a:t>sharable by multiple users,  hence favorable for concurrency </a:t>
            </a:r>
          </a:p>
          <a:p>
            <a:pPr marL="914400" lvl="2" indent="0" algn="just" eaLnBrk="1" hangingPunct="1">
              <a:lnSpc>
                <a:spcPct val="80000"/>
              </a:lnSpc>
              <a:buFont typeface="Wingdings 2" pitchFamily="18" charset="2"/>
              <a:buNone/>
              <a:tabLst>
                <a:tab pos="107950" algn="l"/>
                <a:tab pos="574675" algn="l"/>
              </a:tabLst>
              <a:defRPr/>
            </a:pPr>
            <a:endParaRPr lang="en-US" sz="2400" dirty="0"/>
          </a:p>
          <a:p>
            <a:pPr marL="284163" indent="-284163" algn="just" eaLnBrk="1" hangingPunct="1">
              <a:lnSpc>
                <a:spcPct val="80000"/>
              </a:lnSpc>
              <a:buFont typeface="Wingdings" pitchFamily="-105" charset="2"/>
              <a:buChar char="o"/>
              <a:tabLst>
                <a:tab pos="284163" algn="l"/>
                <a:tab pos="574675" algn="l"/>
              </a:tabLst>
              <a:defRPr/>
            </a:pPr>
            <a:r>
              <a:rPr lang="en-US" b="1" dirty="0"/>
              <a:t>Self-describing</a:t>
            </a:r>
            <a:r>
              <a:rPr lang="en-US" dirty="0"/>
              <a:t> </a:t>
            </a:r>
          </a:p>
          <a:p>
            <a:pPr marL="722313" lvl="1" indent="-284163" algn="just" eaLnBrk="1" hangingPunct="1">
              <a:lnSpc>
                <a:spcPct val="80000"/>
              </a:lnSpc>
              <a:buFont typeface="Wingdings" pitchFamily="-105" charset="2"/>
              <a:buChar char="n"/>
              <a:tabLst>
                <a:tab pos="284163" algn="l"/>
                <a:tab pos="574675" algn="l"/>
              </a:tabLst>
              <a:defRPr/>
            </a:pPr>
            <a:r>
              <a:rPr lang="en-US" dirty="0"/>
              <a:t>System catalogue contains metadata (data defining other data).  </a:t>
            </a:r>
          </a:p>
          <a:p>
            <a:pPr marL="722313" lvl="1" indent="-284163" algn="just" eaLnBrk="1" hangingPunct="1">
              <a:lnSpc>
                <a:spcPct val="80000"/>
              </a:lnSpc>
              <a:buFont typeface="Wingdings" pitchFamily="-105" charset="2"/>
              <a:buChar char="n"/>
              <a:tabLst>
                <a:tab pos="284163" algn="l"/>
                <a:tab pos="574675" algn="l"/>
              </a:tabLst>
              <a:defRPr/>
            </a:pPr>
            <a:r>
              <a:rPr lang="en-US" dirty="0"/>
              <a:t>Catalogue contain information about the definitions of the database objects (for example, tables, views) and security information about the type of access that users have to these objects.</a:t>
            </a:r>
          </a:p>
          <a:p>
            <a:pPr marL="0" lvl="1" indent="0" algn="just" eaLnBrk="1" hangingPunct="1">
              <a:lnSpc>
                <a:spcPct val="80000"/>
              </a:lnSpc>
              <a:buClr>
                <a:schemeClr val="bg2"/>
              </a:buClr>
              <a:buSzPct val="70000"/>
              <a:buFont typeface="Wingdings" pitchFamily="-105" charset="2"/>
              <a:buChar char="o"/>
              <a:tabLst>
                <a:tab pos="107950" algn="l"/>
                <a:tab pos="574675" algn="l"/>
              </a:tabLst>
              <a:defRPr/>
            </a:pPr>
            <a:r>
              <a:rPr lang="en-US" dirty="0"/>
              <a:t> </a:t>
            </a:r>
            <a:r>
              <a:rPr lang="en-US" b="1" dirty="0">
                <a:ea typeface="+mn-ea"/>
              </a:rPr>
              <a:t>Multiple views of data </a:t>
            </a:r>
            <a:r>
              <a:rPr lang="en-US" dirty="0">
                <a:ea typeface="+mn-ea"/>
              </a:rPr>
              <a:t>- to support individual needs of users.</a:t>
            </a:r>
          </a:p>
          <a:p>
            <a:pPr marL="469900" lvl="2" indent="0" algn="just" eaLnBrk="1" hangingPunct="1">
              <a:lnSpc>
                <a:spcPct val="80000"/>
              </a:lnSpc>
              <a:buSzPct val="70000"/>
              <a:buFont typeface="Wingdings" pitchFamily="-105" charset="2"/>
              <a:buChar char="o"/>
              <a:tabLst>
                <a:tab pos="107950" algn="l"/>
                <a:tab pos="574675" algn="l"/>
              </a:tabLst>
              <a:defRPr/>
            </a:pPr>
            <a:r>
              <a:rPr lang="en-US" sz="2400" dirty="0"/>
              <a:t>View is a subset of a database tailored to the needs of a user. </a:t>
            </a:r>
          </a:p>
          <a:p>
            <a:pPr marL="469900" lvl="2" indent="0" algn="just" eaLnBrk="1" hangingPunct="1">
              <a:lnSpc>
                <a:spcPct val="80000"/>
              </a:lnSpc>
              <a:buSzPct val="70000"/>
              <a:buFont typeface="Wingdings" pitchFamily="-105" charset="2"/>
              <a:buChar char="o"/>
              <a:tabLst>
                <a:tab pos="107950" algn="l"/>
                <a:tab pos="574675" algn="l"/>
              </a:tabLst>
              <a:defRPr/>
            </a:pPr>
            <a:r>
              <a:rPr lang="en-US" sz="2400" dirty="0"/>
              <a:t>Views provide some level of customization to the user</a:t>
            </a:r>
          </a:p>
          <a:p>
            <a:pPr marL="469900" lvl="2" indent="0" algn="just" eaLnBrk="1" hangingPunct="1">
              <a:lnSpc>
                <a:spcPct val="80000"/>
              </a:lnSpc>
              <a:buSzPct val="70000"/>
              <a:buNone/>
              <a:tabLst>
                <a:tab pos="107950" algn="l"/>
                <a:tab pos="574675" algn="l"/>
              </a:tabLst>
              <a:defRPr/>
            </a:pPr>
            <a:endParaRPr lang="en-US" sz="2400" dirty="0">
              <a:ea typeface="+mn-ea"/>
            </a:endParaRPr>
          </a:p>
          <a:p>
            <a:pPr marL="0" indent="0" algn="just" eaLnBrk="1" hangingPunct="1">
              <a:lnSpc>
                <a:spcPct val="80000"/>
              </a:lnSpc>
              <a:buNone/>
              <a:tabLst>
                <a:tab pos="107950" algn="l"/>
                <a:tab pos="574675" algn="l"/>
              </a:tabLst>
              <a:defRPr/>
            </a:pPr>
            <a:endParaRPr lang="en-US" dirty="0"/>
          </a:p>
        </p:txBody>
      </p:sp>
      <p:sp>
        <p:nvSpPr>
          <p:cNvPr id="14341" name="Slide Number Placeholder 9"/>
          <p:cNvSpPr>
            <a:spLocks noGrp="1"/>
          </p:cNvSpPr>
          <p:nvPr>
            <p:ph type="sldNum" sz="quarter" idx="12"/>
          </p:nvPr>
        </p:nvSpPr>
        <p:spPr>
          <a:noFill/>
        </p:spPr>
        <p:txBody>
          <a:bodyPr/>
          <a:lstStyle/>
          <a:p>
            <a:fld id="{5DFEEF58-671A-4101-AD7A-770AE14210C3}" type="slidenum">
              <a:rPr lang="en-US" smtClean="0">
                <a:latin typeface="Arial" pitchFamily="34" charset="0"/>
                <a:ea typeface="ＭＳ Ｐゴシック" pitchFamily="34" charset="-128"/>
              </a:rPr>
              <a:pPr/>
              <a:t>16</a:t>
            </a:fld>
            <a:endParaRPr lang="en-US">
              <a:latin typeface="Arial" pitchFamily="34" charset="0"/>
              <a:ea typeface="ＭＳ Ｐゴシック" pitchFamily="34" charset="-128"/>
            </a:endParaRPr>
          </a:p>
        </p:txBody>
      </p:sp>
      <p:sp>
        <p:nvSpPr>
          <p:cNvPr id="6" name="Date Placeholder 5"/>
          <p:cNvSpPr>
            <a:spLocks noGrp="1"/>
          </p:cNvSpPr>
          <p:nvPr>
            <p:ph type="dt" sz="half" idx="10"/>
          </p:nvPr>
        </p:nvSpPr>
        <p:spPr/>
        <p:txBody>
          <a:bodyPr/>
          <a:lstStyle/>
          <a:p>
            <a:pPr>
              <a:defRPr/>
            </a:pPr>
            <a:fld id="{A9918688-83D8-41BA-B985-A88373970A0C}" type="datetime1">
              <a:rPr lang="en-US" smtClean="0"/>
              <a:pPr>
                <a:defRPr/>
              </a:pPr>
              <a:t>5/30/2022</a:t>
            </a:fld>
            <a:endParaRPr lang="en-US"/>
          </a:p>
        </p:txBody>
      </p:sp>
      <p:sp>
        <p:nvSpPr>
          <p:cNvPr id="7" name="Footer Placeholder 6"/>
          <p:cNvSpPr>
            <a:spLocks noGrp="1"/>
          </p:cNvSpPr>
          <p:nvPr>
            <p:ph type="ftr" sz="quarter" idx="11"/>
          </p:nvPr>
        </p:nvSpPr>
        <p:spPr/>
        <p:txBody>
          <a:bodyPr/>
          <a:lstStyle/>
          <a:p>
            <a:pPr>
              <a:defRPr/>
            </a:pPr>
            <a:r>
              <a:rPr lang="en-US"/>
              <a:t>BIS1204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z="2800" b="1" dirty="0">
                <a:latin typeface="Times" pitchFamily="18" charset="0"/>
              </a:rPr>
              <a:t>Characteristics of the Database approach cont’d</a:t>
            </a:r>
          </a:p>
        </p:txBody>
      </p:sp>
      <p:sp>
        <p:nvSpPr>
          <p:cNvPr id="3" name="Content Placeholder 2"/>
          <p:cNvSpPr>
            <a:spLocks noGrp="1"/>
          </p:cNvSpPr>
          <p:nvPr>
            <p:ph idx="1"/>
          </p:nvPr>
        </p:nvSpPr>
        <p:spPr>
          <a:xfrm>
            <a:off x="214313" y="1785938"/>
            <a:ext cx="8720137" cy="4786312"/>
          </a:xfrm>
        </p:spPr>
        <p:txBody>
          <a:bodyPr/>
          <a:lstStyle/>
          <a:p>
            <a:pPr marL="284163" indent="-284163" eaLnBrk="1" hangingPunct="1">
              <a:lnSpc>
                <a:spcPct val="80000"/>
              </a:lnSpc>
              <a:buFont typeface="Wingdings" pitchFamily="-105" charset="2"/>
              <a:buChar char="o"/>
              <a:tabLst>
                <a:tab pos="284163" algn="l"/>
                <a:tab pos="574675" algn="l"/>
              </a:tabLst>
              <a:defRPr/>
            </a:pPr>
            <a:r>
              <a:rPr lang="en-US" sz="3200" b="1" dirty="0"/>
              <a:t>Program-data independence</a:t>
            </a:r>
          </a:p>
          <a:p>
            <a:pPr marL="741363" lvl="1" indent="-284163" algn="just" eaLnBrk="1" hangingPunct="1">
              <a:buFont typeface="Wingdings" pitchFamily="-105" charset="2"/>
              <a:buChar char="n"/>
              <a:tabLst>
                <a:tab pos="107950" algn="l"/>
                <a:tab pos="574675" algn="l"/>
              </a:tabLst>
              <a:defRPr/>
            </a:pPr>
            <a:r>
              <a:rPr lang="en-US" dirty="0">
                <a:ea typeface="+mn-ea"/>
              </a:rPr>
              <a:t>Data independence is the notion of keeping data separate from all programs that make use of the data.  </a:t>
            </a:r>
          </a:p>
          <a:p>
            <a:pPr marL="1198563" lvl="2" indent="-271463" algn="just" eaLnBrk="1" hangingPunct="1">
              <a:buFont typeface="Wingdings" pitchFamily="-105" charset="2"/>
              <a:buChar char="o"/>
              <a:tabLst>
                <a:tab pos="107950" algn="l"/>
                <a:tab pos="574675" algn="l"/>
              </a:tabLst>
              <a:defRPr/>
            </a:pPr>
            <a:r>
              <a:rPr lang="en-US" sz="2400" dirty="0">
                <a:ea typeface="+mn-ea"/>
              </a:rPr>
              <a:t>Data independence ensures that the data cannot be redefined or reorganized by any of the programs that make use of the data. In this approach, the data remains accessible, but is also stable and cannot be corrupted by the applications using it. </a:t>
            </a:r>
          </a:p>
          <a:p>
            <a:pPr marL="457200" lvl="1" indent="0" algn="just" eaLnBrk="1" hangingPunct="1">
              <a:buFont typeface="Wingdings" pitchFamily="-105" charset="2"/>
              <a:buNone/>
              <a:tabLst>
                <a:tab pos="107950" algn="l"/>
                <a:tab pos="574675" algn="l"/>
              </a:tabLst>
              <a:defRPr/>
            </a:pPr>
            <a:endParaRPr lang="en-US" dirty="0">
              <a:ea typeface="+mn-ea"/>
            </a:endParaRPr>
          </a:p>
          <a:p>
            <a:pPr marL="741363" lvl="1" indent="-284163" algn="just" eaLnBrk="1" hangingPunct="1">
              <a:buFont typeface="Wingdings" pitchFamily="-105" charset="2"/>
              <a:buChar char="n"/>
              <a:tabLst>
                <a:tab pos="107950" algn="l"/>
                <a:tab pos="741363" algn="l"/>
              </a:tabLst>
              <a:defRPr/>
            </a:pPr>
            <a:r>
              <a:rPr lang="en-US" dirty="0">
                <a:ea typeface="+mn-ea"/>
              </a:rPr>
              <a:t>It refers to the immunity of user applications to make changes in the definition and organization of data</a:t>
            </a:r>
          </a:p>
          <a:p>
            <a:pPr eaLnBrk="1" hangingPunct="1">
              <a:spcAft>
                <a:spcPts val="600"/>
              </a:spcAft>
              <a:buFont typeface="Wingdings" pitchFamily="2" charset="2"/>
              <a:buNone/>
              <a:defRPr/>
            </a:pPr>
            <a:r>
              <a:rPr lang="en-US" sz="2200" dirty="0"/>
              <a:t>	</a:t>
            </a:r>
            <a:endParaRPr lang="en-US" sz="2200" dirty="0">
              <a:cs typeface="Tahoma" pitchFamily="34" charset="0"/>
            </a:endParaRPr>
          </a:p>
          <a:p>
            <a:pPr marL="365125" lvl="1" indent="-282575">
              <a:spcBef>
                <a:spcPts val="600"/>
              </a:spcBef>
              <a:buSzPct val="80000"/>
              <a:buFont typeface="Wingdings 2" pitchFamily="18" charset="2"/>
              <a:buChar char=""/>
              <a:defRPr/>
            </a:pPr>
            <a:endParaRPr lang="en-US" sz="2600" dirty="0"/>
          </a:p>
          <a:p>
            <a:pPr>
              <a:buFont typeface="Wingdings" pitchFamily="-105" charset="2"/>
              <a:buChar char="o"/>
              <a:defRPr/>
            </a:pPr>
            <a:endParaRPr lang="en-US" sz="2600" dirty="0"/>
          </a:p>
        </p:txBody>
      </p:sp>
      <p:sp>
        <p:nvSpPr>
          <p:cNvPr id="15364" name="Date Placeholder 6"/>
          <p:cNvSpPr>
            <a:spLocks noGrp="1"/>
          </p:cNvSpPr>
          <p:nvPr>
            <p:ph type="dt" sz="quarter" idx="10"/>
          </p:nvPr>
        </p:nvSpPr>
        <p:spPr>
          <a:noFill/>
        </p:spPr>
        <p:txBody>
          <a:bodyPr/>
          <a:lstStyle/>
          <a:p>
            <a:fld id="{6CCF2421-593E-4FBE-B8A7-518ED2116353}" type="datetime1">
              <a:rPr lang="en-US" smtClean="0">
                <a:latin typeface="Arial" pitchFamily="34" charset="0"/>
                <a:ea typeface="ＭＳ Ｐゴシック" pitchFamily="34" charset="-128"/>
              </a:rPr>
              <a:pPr/>
              <a:t>5/30/2022</a:t>
            </a:fld>
            <a:endParaRPr lang="en-US">
              <a:latin typeface="Arial" pitchFamily="34" charset="0"/>
              <a:ea typeface="ＭＳ Ｐゴシック" pitchFamily="34" charset="-128"/>
            </a:endParaRPr>
          </a:p>
        </p:txBody>
      </p:sp>
      <p:sp>
        <p:nvSpPr>
          <p:cNvPr id="15365" name="Footer Placeholder 7"/>
          <p:cNvSpPr>
            <a:spLocks noGrp="1"/>
          </p:cNvSpPr>
          <p:nvPr>
            <p:ph type="ftr" sz="quarter" idx="11"/>
          </p:nvPr>
        </p:nvSpPr>
        <p:spPr>
          <a:noFill/>
        </p:spPr>
        <p:txBody>
          <a:bodyPr/>
          <a:lstStyle/>
          <a:p>
            <a:r>
              <a:rPr lang="en-US">
                <a:latin typeface="Arial" pitchFamily="34" charset="0"/>
                <a:ea typeface="ＭＳ Ｐゴシック" pitchFamily="34" charset="-128"/>
              </a:rPr>
              <a:t>BIS1204</a:t>
            </a:r>
          </a:p>
        </p:txBody>
      </p:sp>
      <p:sp>
        <p:nvSpPr>
          <p:cNvPr id="15366" name="Slide Number Placeholder 8"/>
          <p:cNvSpPr>
            <a:spLocks noGrp="1"/>
          </p:cNvSpPr>
          <p:nvPr>
            <p:ph type="sldNum" sz="quarter" idx="12"/>
          </p:nvPr>
        </p:nvSpPr>
        <p:spPr>
          <a:noFill/>
        </p:spPr>
        <p:txBody>
          <a:bodyPr/>
          <a:lstStyle/>
          <a:p>
            <a:fld id="{0F2FB0E0-9566-4DA0-B0F7-B2B60C365F8B}" type="slidenum">
              <a:rPr lang="en-US" smtClean="0">
                <a:latin typeface="Arial" pitchFamily="34" charset="0"/>
                <a:ea typeface="ＭＳ Ｐゴシック" pitchFamily="34" charset="-128"/>
              </a:rPr>
              <a:pPr/>
              <a:t>17</a:t>
            </a:fld>
            <a:endParaRPr lang="en-US">
              <a:latin typeface="Arial" pitchFamily="34" charset="0"/>
              <a:ea typeface="ＭＳ Ｐゴシック"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428625" y="1006475"/>
            <a:ext cx="7858125" cy="766763"/>
          </a:xfrm>
        </p:spPr>
        <p:txBody>
          <a:bodyPr>
            <a:noAutofit/>
          </a:bodyPr>
          <a:lstStyle/>
          <a:p>
            <a:pPr eaLnBrk="1" fontAlgn="auto" hangingPunct="1">
              <a:spcAft>
                <a:spcPts val="0"/>
              </a:spcAft>
              <a:defRPr/>
            </a:pPr>
            <a:r>
              <a:rPr lang="en-GB" sz="3200" b="1" dirty="0">
                <a:solidFill>
                  <a:schemeClr val="tx2">
                    <a:satMod val="130000"/>
                  </a:schemeClr>
                </a:solidFill>
                <a:latin typeface="Times" pitchFamily="18" charset="0"/>
              </a:rPr>
              <a:t>Database Management System (DBMS)</a:t>
            </a:r>
            <a:endParaRPr lang="en-GB" sz="3200" b="1" dirty="0">
              <a:solidFill>
                <a:schemeClr val="tx1"/>
              </a:solidFill>
              <a:latin typeface="Times" pitchFamily="18" charset="0"/>
            </a:endParaRPr>
          </a:p>
        </p:txBody>
      </p:sp>
      <p:sp>
        <p:nvSpPr>
          <p:cNvPr id="16387" name="Rectangle 3" descr="Rectangle: Click to edit Master text styles&#10;Second level&#10;Third level&#10;Fourth level&#10;Fifth level"/>
          <p:cNvSpPr>
            <a:spLocks noGrp="1" noChangeArrowheads="1"/>
          </p:cNvSpPr>
          <p:nvPr>
            <p:ph idx="1"/>
          </p:nvPr>
        </p:nvSpPr>
        <p:spPr>
          <a:xfrm>
            <a:off x="285750" y="1714500"/>
            <a:ext cx="8572500" cy="4810125"/>
          </a:xfrm>
        </p:spPr>
        <p:txBody>
          <a:bodyPr/>
          <a:lstStyle/>
          <a:p>
            <a:pPr eaLnBrk="1" hangingPunct="1"/>
            <a:endParaRPr lang="en-GB" sz="2000" b="1">
              <a:latin typeface="Times" pitchFamily="18" charset="0"/>
            </a:endParaRPr>
          </a:p>
          <a:p>
            <a:pPr eaLnBrk="1" hangingPunct="1"/>
            <a:endParaRPr lang="en-GB" sz="2000" b="1">
              <a:latin typeface="Times" pitchFamily="18" charset="0"/>
            </a:endParaRPr>
          </a:p>
        </p:txBody>
      </p:sp>
      <p:sp>
        <p:nvSpPr>
          <p:cNvPr id="16390" name="Date Placeholder 9"/>
          <p:cNvSpPr>
            <a:spLocks noGrp="1"/>
          </p:cNvSpPr>
          <p:nvPr>
            <p:ph type="dt" sz="quarter" idx="10"/>
          </p:nvPr>
        </p:nvSpPr>
        <p:spPr>
          <a:noFill/>
        </p:spPr>
        <p:txBody>
          <a:bodyPr/>
          <a:lstStyle/>
          <a:p>
            <a:fld id="{646A39B1-99A5-4799-8067-FAFA935F06AB}" type="datetime1">
              <a:rPr lang="en-US" smtClean="0">
                <a:latin typeface="Arial" pitchFamily="34" charset="0"/>
                <a:ea typeface="ＭＳ Ｐゴシック" pitchFamily="34" charset="-128"/>
              </a:rPr>
              <a:pPr/>
              <a:t>5/30/2022</a:t>
            </a:fld>
            <a:endParaRPr lang="en-US">
              <a:latin typeface="Arial" pitchFamily="34" charset="0"/>
              <a:ea typeface="ＭＳ Ｐゴシック" pitchFamily="34" charset="-128"/>
            </a:endParaRPr>
          </a:p>
        </p:txBody>
      </p:sp>
      <p:sp>
        <p:nvSpPr>
          <p:cNvPr id="16391" name="Slide Number Placeholder 11"/>
          <p:cNvSpPr>
            <a:spLocks noGrp="1"/>
          </p:cNvSpPr>
          <p:nvPr>
            <p:ph type="sldNum" sz="quarter" idx="12"/>
          </p:nvPr>
        </p:nvSpPr>
        <p:spPr>
          <a:noFill/>
        </p:spPr>
        <p:txBody>
          <a:bodyPr/>
          <a:lstStyle/>
          <a:p>
            <a:fld id="{1E26AF75-17D1-4A76-9A51-A58F1D30BB6A}" type="slidenum">
              <a:rPr lang="en-US" smtClean="0">
                <a:latin typeface="Arial" pitchFamily="34" charset="0"/>
                <a:ea typeface="ＭＳ Ｐゴシック" pitchFamily="34" charset="-128"/>
              </a:rPr>
              <a:pPr/>
              <a:t>18</a:t>
            </a:fld>
            <a:endParaRPr lang="en-US">
              <a:latin typeface="Arial" pitchFamily="34" charset="0"/>
              <a:ea typeface="ＭＳ Ｐゴシック" pitchFamily="34" charset="-128"/>
            </a:endParaRPr>
          </a:p>
        </p:txBody>
      </p:sp>
      <p:pic>
        <p:nvPicPr>
          <p:cNvPr id="16392" name="Picture 8"/>
          <p:cNvPicPr>
            <a:picLocks noChangeAspect="1" noChangeArrowheads="1"/>
          </p:cNvPicPr>
          <p:nvPr/>
        </p:nvPicPr>
        <p:blipFill>
          <a:blip r:embed="rId3"/>
          <a:srcRect/>
          <a:stretch>
            <a:fillRect/>
          </a:stretch>
        </p:blipFill>
        <p:spPr bwMode="auto">
          <a:xfrm>
            <a:off x="142844" y="1928802"/>
            <a:ext cx="8643998" cy="4929198"/>
          </a:xfrm>
          <a:prstGeom prst="rect">
            <a:avLst/>
          </a:prstGeom>
          <a:noFill/>
          <a:ln w="9525">
            <a:noFill/>
            <a:miter lim="800000"/>
            <a:headEnd/>
            <a:tailEnd/>
          </a:ln>
          <a:effectLst/>
        </p:spPr>
      </p:pic>
      <p:sp>
        <p:nvSpPr>
          <p:cNvPr id="9" name="Footer Placeholder 8"/>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71500" y="785813"/>
            <a:ext cx="7772400" cy="785812"/>
          </a:xfrm>
        </p:spPr>
        <p:txBody>
          <a:bodyPr/>
          <a:lstStyle/>
          <a:p>
            <a:pPr eaLnBrk="1" hangingPunct="1">
              <a:defRPr/>
            </a:pPr>
            <a:r>
              <a:rPr lang="en-GB" sz="3200" b="1" dirty="0">
                <a:solidFill>
                  <a:schemeClr val="tx2">
                    <a:satMod val="130000"/>
                  </a:schemeClr>
                </a:solidFill>
                <a:latin typeface="Times" pitchFamily="18" charset="0"/>
              </a:rPr>
              <a:t>DBMS: Database Languages</a:t>
            </a:r>
            <a:endParaRPr lang="en-GB" sz="3200" b="1" dirty="0">
              <a:solidFill>
                <a:schemeClr val="tx1"/>
              </a:solidFill>
              <a:latin typeface="Times" pitchFamily="-105" charset="0"/>
            </a:endParaRPr>
          </a:p>
        </p:txBody>
      </p:sp>
      <p:sp>
        <p:nvSpPr>
          <p:cNvPr id="41987" name="Rectangle 3" descr="Rectangle: Click to edit Master text styles&#10;Second level&#10;Third level&#10;Fourth level&#10;Fifth level"/>
          <p:cNvSpPr>
            <a:spLocks noGrp="1" noChangeArrowheads="1"/>
          </p:cNvSpPr>
          <p:nvPr>
            <p:ph idx="1"/>
          </p:nvPr>
        </p:nvSpPr>
        <p:spPr>
          <a:xfrm>
            <a:off x="214313" y="1773238"/>
            <a:ext cx="8572500" cy="5084762"/>
          </a:xfrm>
        </p:spPr>
        <p:txBody>
          <a:bodyPr/>
          <a:lstStyle/>
          <a:p>
            <a:pPr eaLnBrk="1" hangingPunct="1">
              <a:buFont typeface="Wingdings" pitchFamily="-105" charset="2"/>
              <a:buChar char="o"/>
              <a:defRPr/>
            </a:pPr>
            <a:r>
              <a:rPr lang="en-GB" b="1" dirty="0">
                <a:latin typeface="+mj-lt"/>
              </a:rPr>
              <a:t>Data definition language (DDL)</a:t>
            </a:r>
          </a:p>
          <a:p>
            <a:pPr marL="985837" lvl="1" indent="-514350" eaLnBrk="1" hangingPunct="1">
              <a:lnSpc>
                <a:spcPct val="90000"/>
              </a:lnSpc>
              <a:buClr>
                <a:schemeClr val="bg2"/>
              </a:buClr>
              <a:buSzPct val="100000"/>
              <a:buFont typeface="+mj-lt"/>
              <a:buAutoNum type="arabicPeriod"/>
              <a:defRPr/>
            </a:pPr>
            <a:r>
              <a:rPr lang="en-GB" dirty="0">
                <a:latin typeface="+mj-lt"/>
              </a:rPr>
              <a:t>Permits specification of data types, structures and any data constraints that should be part of the database.  </a:t>
            </a:r>
          </a:p>
          <a:p>
            <a:pPr marL="985837" lvl="1" indent="-514350" eaLnBrk="1" hangingPunct="1">
              <a:lnSpc>
                <a:spcPct val="90000"/>
              </a:lnSpc>
              <a:buClr>
                <a:schemeClr val="bg2"/>
              </a:buClr>
              <a:buSzPct val="100000"/>
              <a:buFont typeface="+mj-lt"/>
              <a:buAutoNum type="arabicPeriod"/>
              <a:defRPr/>
            </a:pPr>
            <a:r>
              <a:rPr lang="en-GB" dirty="0">
                <a:latin typeface="+mj-lt"/>
              </a:rPr>
              <a:t>All specifications are stored in the database.</a:t>
            </a:r>
          </a:p>
          <a:p>
            <a:pPr marL="985837" lvl="1" indent="-514350" eaLnBrk="1" hangingPunct="1">
              <a:lnSpc>
                <a:spcPct val="90000"/>
              </a:lnSpc>
              <a:buClr>
                <a:schemeClr val="bg2"/>
              </a:buClr>
              <a:buSzPct val="100000"/>
              <a:buNone/>
              <a:defRPr/>
            </a:pPr>
            <a:endParaRPr lang="en-GB" dirty="0">
              <a:latin typeface="+mj-lt"/>
            </a:endParaRPr>
          </a:p>
          <a:p>
            <a:pPr eaLnBrk="1" hangingPunct="1">
              <a:buFont typeface="Wingdings" pitchFamily="-105" charset="2"/>
              <a:buChar char="o"/>
              <a:defRPr/>
            </a:pPr>
            <a:r>
              <a:rPr lang="en-GB" b="1" dirty="0">
                <a:latin typeface="+mj-lt"/>
              </a:rPr>
              <a:t>Data manipulation language (DML)</a:t>
            </a:r>
          </a:p>
          <a:p>
            <a:pPr lvl="1" eaLnBrk="1" hangingPunct="1">
              <a:lnSpc>
                <a:spcPct val="90000"/>
              </a:lnSpc>
              <a:buClr>
                <a:schemeClr val="bg2"/>
              </a:buClr>
              <a:buSzPct val="100000"/>
              <a:buFont typeface="Wingdings" pitchFamily="-105" charset="2"/>
              <a:buChar char="ü"/>
              <a:defRPr/>
            </a:pPr>
            <a:r>
              <a:rPr lang="en-US" dirty="0">
                <a:latin typeface="+mj-lt"/>
              </a:rPr>
              <a:t>Enables those with access to the database to insert, update, delete and retrieve data from it. </a:t>
            </a:r>
            <a:endParaRPr lang="en-GB" dirty="0">
              <a:latin typeface="+mj-lt"/>
            </a:endParaRPr>
          </a:p>
          <a:p>
            <a:pPr lvl="1" eaLnBrk="1" hangingPunct="1">
              <a:lnSpc>
                <a:spcPct val="90000"/>
              </a:lnSpc>
              <a:buClr>
                <a:schemeClr val="bg2"/>
              </a:buClr>
              <a:buSzPct val="100000"/>
              <a:buFont typeface="Wingdings" pitchFamily="-105" charset="2"/>
              <a:buChar char="ü"/>
              <a:defRPr/>
            </a:pPr>
            <a:r>
              <a:rPr lang="en-GB" dirty="0">
                <a:latin typeface="+mj-lt"/>
              </a:rPr>
              <a:t>Standard Query Language (SQL) is an example of a </a:t>
            </a:r>
            <a:r>
              <a:rPr lang="en-GB" b="1" dirty="0">
                <a:latin typeface="+mj-lt"/>
              </a:rPr>
              <a:t>DDL &amp; DML</a:t>
            </a:r>
          </a:p>
        </p:txBody>
      </p:sp>
      <p:sp>
        <p:nvSpPr>
          <p:cNvPr id="17412" name="Slide Number Placeholder 5"/>
          <p:cNvSpPr>
            <a:spLocks noGrp="1"/>
          </p:cNvSpPr>
          <p:nvPr>
            <p:ph type="sldNum" sz="quarter" idx="12"/>
          </p:nvPr>
        </p:nvSpPr>
        <p:spPr>
          <a:noFill/>
        </p:spPr>
        <p:txBody>
          <a:bodyPr/>
          <a:lstStyle/>
          <a:p>
            <a:fld id="{4AE572B3-AD68-4942-8C82-BFB953178EBF}" type="slidenum">
              <a:rPr lang="en-US" smtClean="0">
                <a:latin typeface="Arial" pitchFamily="34" charset="0"/>
                <a:ea typeface="ＭＳ Ｐゴシック" pitchFamily="34" charset="-128"/>
              </a:rPr>
              <a:pPr/>
              <a:t>19</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BF3BF92-29F7-4F45-864B-058CC7DF5C42}" type="datetime1">
              <a:rPr lang="en-US" smtClean="0"/>
              <a:pPr>
                <a:defRPr/>
              </a:pPr>
              <a:t>5/30/2022</a:t>
            </a:fld>
            <a:endParaRPr lang="en-US" dirty="0"/>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4198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4198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198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198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normAutofit/>
          </a:bodyPr>
          <a:lstStyle/>
          <a:p>
            <a:pPr eaLnBrk="1" fontAlgn="auto" hangingPunct="1">
              <a:spcAft>
                <a:spcPts val="0"/>
              </a:spcAft>
              <a:defRPr/>
            </a:pPr>
            <a:r>
              <a:rPr lang="en-GB" b="1">
                <a:solidFill>
                  <a:schemeClr val="tx2">
                    <a:satMod val="130000"/>
                  </a:schemeClr>
                </a:solidFill>
                <a:latin typeface="Times" pitchFamily="18" charset="0"/>
              </a:rPr>
              <a:t>Components of DBMS Environment</a:t>
            </a:r>
          </a:p>
        </p:txBody>
      </p:sp>
      <p:pic>
        <p:nvPicPr>
          <p:cNvPr id="61445" name="Picture 5" descr="DS3-Figure 01-08"/>
          <p:cNvPicPr>
            <a:picLocks noChangeAspect="1" noChangeArrowheads="1"/>
          </p:cNvPicPr>
          <p:nvPr/>
        </p:nvPicPr>
        <p:blipFill>
          <a:blip r:embed="rId3"/>
          <a:srcRect/>
          <a:stretch>
            <a:fillRect/>
          </a:stretch>
        </p:blipFill>
        <p:spPr bwMode="auto">
          <a:xfrm>
            <a:off x="714375" y="2286000"/>
            <a:ext cx="7715250" cy="2357438"/>
          </a:xfrm>
          <a:prstGeom prst="rect">
            <a:avLst/>
          </a:prstGeom>
          <a:noFill/>
          <a:ln w="9525">
            <a:noFill/>
            <a:miter lim="800000"/>
            <a:headEnd/>
            <a:tailEnd/>
          </a:ln>
        </p:spPr>
      </p:pic>
      <p:sp>
        <p:nvSpPr>
          <p:cNvPr id="18436" name="Slide Number Placeholder 9"/>
          <p:cNvSpPr>
            <a:spLocks noGrp="1"/>
          </p:cNvSpPr>
          <p:nvPr>
            <p:ph type="sldNum" sz="quarter" idx="12"/>
          </p:nvPr>
        </p:nvSpPr>
        <p:spPr>
          <a:noFill/>
        </p:spPr>
        <p:txBody>
          <a:bodyPr/>
          <a:lstStyle/>
          <a:p>
            <a:fld id="{5635266C-E0F3-4D94-B1E1-EE9475B03FFC}" type="slidenum">
              <a:rPr lang="en-US" smtClean="0">
                <a:latin typeface="Arial" pitchFamily="34" charset="0"/>
                <a:ea typeface="ＭＳ Ｐゴシック" pitchFamily="34" charset="-128"/>
              </a:rPr>
              <a:pPr/>
              <a:t>20</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B4DC0E11-B527-4552-AE16-7D2D553EBEBC}"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457200" y="714375"/>
            <a:ext cx="8229600" cy="785813"/>
          </a:xfrm>
        </p:spPr>
        <p:txBody>
          <a:bodyPr>
            <a:normAutofit/>
          </a:bodyPr>
          <a:lstStyle/>
          <a:p>
            <a:pPr eaLnBrk="1" hangingPunct="1">
              <a:defRPr/>
            </a:pPr>
            <a:r>
              <a:rPr lang="en-GB" sz="3200" b="1" dirty="0">
                <a:solidFill>
                  <a:schemeClr val="tx2">
                    <a:satMod val="130000"/>
                  </a:schemeClr>
                </a:solidFill>
                <a:latin typeface="Times" pitchFamily="18" charset="0"/>
              </a:rPr>
              <a:t>Components of DBMS Environment</a:t>
            </a:r>
            <a:endParaRPr lang="en-GB" sz="3900" b="1" dirty="0">
              <a:solidFill>
                <a:schemeClr val="tx1"/>
              </a:solidFill>
              <a:effectLst>
                <a:outerShdw blurRad="38100" dist="38100" dir="2700000" algn="tl">
                  <a:srgbClr val="C0C0C0"/>
                </a:outerShdw>
              </a:effectLst>
              <a:latin typeface="Times" pitchFamily="18" charset="0"/>
            </a:endParaRPr>
          </a:p>
        </p:txBody>
      </p:sp>
      <p:sp>
        <p:nvSpPr>
          <p:cNvPr id="44035" name="Rectangle 3" descr="Rectangle: Click to edit Master text styles&#10;Second level&#10;Third level&#10;Fourth level&#10;Fifth level"/>
          <p:cNvSpPr>
            <a:spLocks noGrp="1" noChangeArrowheads="1"/>
          </p:cNvSpPr>
          <p:nvPr>
            <p:ph idx="1"/>
          </p:nvPr>
        </p:nvSpPr>
        <p:spPr>
          <a:xfrm>
            <a:off x="214313" y="1571612"/>
            <a:ext cx="8715375" cy="5072076"/>
          </a:xfrm>
        </p:spPr>
        <p:txBody>
          <a:bodyPr/>
          <a:lstStyle/>
          <a:p>
            <a:pPr algn="just">
              <a:spcBef>
                <a:spcPts val="600"/>
              </a:spcBef>
              <a:spcAft>
                <a:spcPts val="600"/>
              </a:spcAft>
            </a:pPr>
            <a:r>
              <a:rPr lang="en-GB" sz="2200" b="1" dirty="0">
                <a:latin typeface="+mj-lt"/>
              </a:rPr>
              <a:t>Hardware: </a:t>
            </a:r>
            <a:r>
              <a:rPr lang="en-US" sz="2200" dirty="0">
                <a:latin typeface="+mj-lt"/>
              </a:rPr>
              <a:t>refers to the physical parts of a computer and related devices. </a:t>
            </a:r>
            <a:r>
              <a:rPr lang="en-GB" sz="2200" dirty="0">
                <a:latin typeface="+mj-lt"/>
              </a:rPr>
              <a:t>Can range from a PC to a network devices of computers.</a:t>
            </a:r>
          </a:p>
          <a:p>
            <a:pPr algn="just">
              <a:spcBef>
                <a:spcPts val="600"/>
              </a:spcBef>
              <a:spcAft>
                <a:spcPts val="600"/>
              </a:spcAft>
            </a:pPr>
            <a:r>
              <a:rPr lang="en-GB" sz="2200" b="1" dirty="0">
                <a:latin typeface="+mj-lt"/>
              </a:rPr>
              <a:t>Software:</a:t>
            </a:r>
            <a:r>
              <a:rPr lang="en-GB" sz="2200" dirty="0">
                <a:latin typeface="+mj-lt"/>
              </a:rPr>
              <a:t> collection of programs used by the computers within the database system. DBMS, operating system, network software.</a:t>
            </a:r>
          </a:p>
          <a:p>
            <a:pPr algn="just">
              <a:spcBef>
                <a:spcPts val="600"/>
              </a:spcBef>
              <a:spcAft>
                <a:spcPts val="600"/>
              </a:spcAft>
            </a:pPr>
            <a:r>
              <a:rPr lang="en-GB" sz="2200" b="1" dirty="0">
                <a:latin typeface="+mj-lt"/>
              </a:rPr>
              <a:t>Procedures: </a:t>
            </a:r>
            <a:r>
              <a:rPr lang="en-GB" sz="2200" dirty="0">
                <a:latin typeface="+mj-lt"/>
              </a:rPr>
              <a:t>Instructions and rules that should be applied to the design and use of the database and DBMS. </a:t>
            </a:r>
            <a:endParaRPr lang="en-GB" sz="2200" i="1" dirty="0">
              <a:latin typeface="+mj-lt"/>
            </a:endParaRPr>
          </a:p>
          <a:p>
            <a:pPr algn="just" eaLnBrk="1" hangingPunct="1">
              <a:spcBef>
                <a:spcPts val="600"/>
              </a:spcBef>
              <a:spcAft>
                <a:spcPts val="600"/>
              </a:spcAft>
            </a:pPr>
            <a:r>
              <a:rPr lang="en-GB" sz="2200" b="1" dirty="0">
                <a:latin typeface="+mj-lt"/>
              </a:rPr>
              <a:t>People: </a:t>
            </a:r>
            <a:r>
              <a:rPr lang="en-GB" sz="2200" dirty="0">
                <a:latin typeface="+mj-lt"/>
              </a:rPr>
              <a:t>Users of the database system. Include; data administrator, database administrator, database designers, application programmers, and end-users.</a:t>
            </a:r>
          </a:p>
          <a:p>
            <a:pPr eaLnBrk="1" hangingPunct="1">
              <a:spcBef>
                <a:spcPts val="600"/>
              </a:spcBef>
              <a:spcAft>
                <a:spcPts val="600"/>
              </a:spcAft>
            </a:pPr>
            <a:r>
              <a:rPr lang="en-GB" sz="2200" b="1" dirty="0">
                <a:latin typeface="+mj-lt"/>
              </a:rPr>
              <a:t>Data:</a:t>
            </a:r>
            <a:r>
              <a:rPr lang="en-GB" sz="2200" dirty="0">
                <a:latin typeface="+mj-lt"/>
              </a:rPr>
              <a:t>   </a:t>
            </a:r>
            <a:r>
              <a:rPr lang="en-US" sz="2200" dirty="0">
                <a:latin typeface="+mj-lt"/>
              </a:rPr>
              <a:t> These are raw, unprocessed facts stored in the database. </a:t>
            </a:r>
            <a:r>
              <a:rPr lang="en-GB" sz="2200" b="1" dirty="0">
                <a:solidFill>
                  <a:srgbClr val="FF0000"/>
                </a:solidFill>
                <a:latin typeface="+mj-lt"/>
              </a:rPr>
              <a:t>Data acts the bridge between the machine and human component</a:t>
            </a:r>
          </a:p>
          <a:p>
            <a:pPr eaLnBrk="1" hangingPunct="1">
              <a:lnSpc>
                <a:spcPct val="80000"/>
              </a:lnSpc>
              <a:buFont typeface="Wingdings 2" pitchFamily="18" charset="2"/>
              <a:buNone/>
            </a:pPr>
            <a:r>
              <a:rPr lang="en-GB" sz="2200" dirty="0">
                <a:latin typeface="+mj-lt"/>
                <a:cs typeface="Times New Roman" pitchFamily="18" charset="0"/>
              </a:rPr>
              <a:t>      </a:t>
            </a:r>
          </a:p>
        </p:txBody>
      </p:sp>
      <p:sp>
        <p:nvSpPr>
          <p:cNvPr id="19460" name="Date Placeholder 7"/>
          <p:cNvSpPr>
            <a:spLocks noGrp="1"/>
          </p:cNvSpPr>
          <p:nvPr>
            <p:ph type="dt" sz="quarter" idx="10"/>
          </p:nvPr>
        </p:nvSpPr>
        <p:spPr>
          <a:noFill/>
        </p:spPr>
        <p:txBody>
          <a:bodyPr/>
          <a:lstStyle/>
          <a:p>
            <a:fld id="{9529391F-0246-4EEE-80E5-39A3B4BEED4B}" type="datetime1">
              <a:rPr lang="en-US" smtClean="0">
                <a:latin typeface="Arial" pitchFamily="34" charset="0"/>
                <a:ea typeface="ＭＳ Ｐゴシック" pitchFamily="34" charset="-128"/>
              </a:rPr>
              <a:pPr/>
              <a:t>5/30/2022</a:t>
            </a:fld>
            <a:endParaRPr lang="en-US">
              <a:latin typeface="Arial" pitchFamily="34" charset="0"/>
              <a:ea typeface="ＭＳ Ｐゴシック" pitchFamily="34" charset="-128"/>
            </a:endParaRPr>
          </a:p>
        </p:txBody>
      </p:sp>
      <p:sp>
        <p:nvSpPr>
          <p:cNvPr id="19461" name="Footer Placeholder 8"/>
          <p:cNvSpPr>
            <a:spLocks noGrp="1"/>
          </p:cNvSpPr>
          <p:nvPr>
            <p:ph type="ftr" sz="quarter" idx="11"/>
          </p:nvPr>
        </p:nvSpPr>
        <p:spPr>
          <a:noFill/>
        </p:spPr>
        <p:txBody>
          <a:bodyPr/>
          <a:lstStyle/>
          <a:p>
            <a:r>
              <a:rPr lang="en-US">
                <a:latin typeface="Arial" pitchFamily="34" charset="0"/>
                <a:ea typeface="ＭＳ Ｐゴシック" pitchFamily="34" charset="-128"/>
              </a:rPr>
              <a:t>BIS1204</a:t>
            </a:r>
          </a:p>
        </p:txBody>
      </p:sp>
      <p:sp>
        <p:nvSpPr>
          <p:cNvPr id="19462" name="Slide Number Placeholder 9"/>
          <p:cNvSpPr>
            <a:spLocks noGrp="1"/>
          </p:cNvSpPr>
          <p:nvPr>
            <p:ph type="sldNum" sz="quarter" idx="12"/>
          </p:nvPr>
        </p:nvSpPr>
        <p:spPr>
          <a:noFill/>
        </p:spPr>
        <p:txBody>
          <a:bodyPr/>
          <a:lstStyle/>
          <a:p>
            <a:fld id="{92D2B119-5F24-4D26-884D-2734EEBFD782}" type="slidenum">
              <a:rPr lang="en-US" smtClean="0">
                <a:latin typeface="Arial" pitchFamily="34" charset="0"/>
                <a:ea typeface="ＭＳ Ｐゴシック" pitchFamily="34" charset="-128"/>
              </a:rPr>
              <a:pPr/>
              <a:t>21</a:t>
            </a:fld>
            <a:endParaRPr lang="en-US">
              <a:latin typeface="Arial" pitchFamily="34" charset="0"/>
              <a:ea typeface="ＭＳ Ｐゴシック" pitchFamily="34" charset="-128"/>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714348" y="1000108"/>
            <a:ext cx="6559550" cy="647700"/>
          </a:xfrm>
        </p:spPr>
        <p:txBody>
          <a:bodyPr>
            <a:normAutofit/>
          </a:bodyPr>
          <a:lstStyle/>
          <a:p>
            <a:pPr eaLnBrk="1" fontAlgn="auto" hangingPunct="1">
              <a:spcAft>
                <a:spcPts val="0"/>
              </a:spcAft>
              <a:defRPr/>
            </a:pPr>
            <a:r>
              <a:rPr lang="en-GB" sz="3200" b="1" dirty="0">
                <a:solidFill>
                  <a:schemeClr val="tx2">
                    <a:satMod val="130000"/>
                  </a:schemeClr>
                </a:solidFill>
                <a:latin typeface="Times" pitchFamily="18" charset="0"/>
              </a:rPr>
              <a:t>Advantages of DBMS</a:t>
            </a:r>
          </a:p>
        </p:txBody>
      </p:sp>
      <p:sp>
        <p:nvSpPr>
          <p:cNvPr id="102403" name="Rectangle 3" descr="Rectangle: Click to edit Master text styles&#10;Second level&#10;Third level&#10;Fourth level&#10;Fifth level"/>
          <p:cNvSpPr>
            <a:spLocks noGrp="1" noChangeArrowheads="1"/>
          </p:cNvSpPr>
          <p:nvPr>
            <p:ph idx="1"/>
          </p:nvPr>
        </p:nvSpPr>
        <p:spPr>
          <a:xfrm>
            <a:off x="250825" y="1785938"/>
            <a:ext cx="8713788" cy="4857772"/>
          </a:xfrm>
        </p:spPr>
        <p:txBody>
          <a:bodyPr/>
          <a:lstStyle/>
          <a:p>
            <a:pPr marL="404813" indent="-404813" algn="just" eaLnBrk="1" hangingPunct="1">
              <a:lnSpc>
                <a:spcPct val="150000"/>
              </a:lnSpc>
              <a:spcBef>
                <a:spcPts val="0"/>
              </a:spcBef>
              <a:spcAft>
                <a:spcPts val="0"/>
              </a:spcAft>
              <a:defRPr/>
            </a:pPr>
            <a:r>
              <a:rPr lang="en-GB" sz="2000" b="1" dirty="0"/>
              <a:t>Control of data redundancy;</a:t>
            </a:r>
            <a:r>
              <a:rPr lang="en-GB" sz="2000" dirty="0"/>
              <a:t> DBMS help in integrating files and avoiding multiple copies of the same data. </a:t>
            </a:r>
          </a:p>
          <a:p>
            <a:pPr marL="404813" indent="-404813" algn="just" eaLnBrk="1" hangingPunct="1">
              <a:lnSpc>
                <a:spcPct val="150000"/>
              </a:lnSpc>
              <a:spcBef>
                <a:spcPts val="0"/>
              </a:spcBef>
              <a:spcAft>
                <a:spcPts val="0"/>
              </a:spcAft>
              <a:defRPr/>
            </a:pPr>
            <a:r>
              <a:rPr lang="en-GB" sz="2000" b="1" dirty="0"/>
              <a:t>Improved Security;</a:t>
            </a:r>
            <a:r>
              <a:rPr lang="en-GB" sz="2000" dirty="0"/>
              <a:t> The DBMS enforces integrity constraints</a:t>
            </a:r>
          </a:p>
          <a:p>
            <a:pPr marL="404813" indent="-404813" eaLnBrk="1" hangingPunct="1">
              <a:lnSpc>
                <a:spcPct val="150000"/>
              </a:lnSpc>
              <a:spcBef>
                <a:spcPts val="0"/>
              </a:spcBef>
              <a:spcAft>
                <a:spcPts val="0"/>
              </a:spcAft>
              <a:defRPr/>
            </a:pPr>
            <a:r>
              <a:rPr lang="en-GB" sz="2000" b="1" dirty="0"/>
              <a:t>Increased concurrency; </a:t>
            </a:r>
            <a:r>
              <a:rPr lang="en-GB" sz="2000" dirty="0"/>
              <a:t>two or more users can access data at the same time without loss of data integrity.</a:t>
            </a:r>
          </a:p>
          <a:p>
            <a:pPr marL="404813" indent="-404813" eaLnBrk="1" hangingPunct="1">
              <a:lnSpc>
                <a:spcPct val="150000"/>
              </a:lnSpc>
              <a:spcBef>
                <a:spcPts val="0"/>
              </a:spcBef>
              <a:spcAft>
                <a:spcPts val="0"/>
              </a:spcAft>
              <a:defRPr/>
            </a:pPr>
            <a:r>
              <a:rPr lang="en-GB" sz="2000" b="1" dirty="0"/>
              <a:t>Improved data accessibility and responsiveness; </a:t>
            </a:r>
            <a:r>
              <a:rPr lang="en-GB" sz="2000" dirty="0"/>
              <a:t>data crosses departments and unplanned questions can be asked.</a:t>
            </a:r>
          </a:p>
          <a:p>
            <a:pPr marL="404813" indent="-404813">
              <a:lnSpc>
                <a:spcPct val="150000"/>
              </a:lnSpc>
              <a:spcBef>
                <a:spcPts val="0"/>
              </a:spcBef>
              <a:spcAft>
                <a:spcPts val="0"/>
              </a:spcAft>
              <a:defRPr/>
            </a:pPr>
            <a:r>
              <a:rPr lang="en-GB" sz="2000" b="1" dirty="0"/>
              <a:t>Improved backup and recovery services; </a:t>
            </a:r>
            <a:r>
              <a:rPr lang="en-GB" sz="2000" dirty="0"/>
              <a:t>DBMS provides facilities of minimizing amount of processing that is lost following a failure.</a:t>
            </a:r>
            <a:endParaRPr lang="en-US" sz="2000" b="1" dirty="0"/>
          </a:p>
          <a:p>
            <a:pPr marL="404813" indent="-404813">
              <a:lnSpc>
                <a:spcPct val="150000"/>
              </a:lnSpc>
              <a:spcBef>
                <a:spcPts val="0"/>
              </a:spcBef>
              <a:spcAft>
                <a:spcPts val="0"/>
              </a:spcAft>
              <a:defRPr/>
            </a:pPr>
            <a:r>
              <a:rPr lang="en-US" sz="2000" b="1" dirty="0"/>
              <a:t>Sharing of data; </a:t>
            </a:r>
            <a:r>
              <a:rPr lang="en-US" sz="2000" dirty="0"/>
              <a:t>On the other hand the database belongs to the entire organization and can be shared by all authorized users.</a:t>
            </a:r>
          </a:p>
          <a:p>
            <a:pPr eaLnBrk="1" hangingPunct="1">
              <a:lnSpc>
                <a:spcPct val="90000"/>
              </a:lnSpc>
              <a:defRPr/>
            </a:pPr>
            <a:endParaRPr lang="en-GB" sz="2000" dirty="0">
              <a:latin typeface="Times" pitchFamily="18" charset="0"/>
            </a:endParaRPr>
          </a:p>
          <a:p>
            <a:pPr eaLnBrk="1" hangingPunct="1">
              <a:lnSpc>
                <a:spcPct val="90000"/>
              </a:lnSpc>
              <a:defRPr/>
            </a:pPr>
            <a:endParaRPr lang="en-GB" sz="2800" dirty="0">
              <a:latin typeface="Arial Narrow" pitchFamily="34" charset="0"/>
            </a:endParaRPr>
          </a:p>
          <a:p>
            <a:pPr>
              <a:defRPr/>
            </a:pPr>
            <a:endParaRPr lang="en-US" sz="2800" dirty="0"/>
          </a:p>
          <a:p>
            <a:pPr eaLnBrk="1" hangingPunct="1">
              <a:lnSpc>
                <a:spcPct val="90000"/>
              </a:lnSpc>
              <a:defRPr/>
            </a:pPr>
            <a:endParaRPr lang="en-GB" dirty="0">
              <a:latin typeface="Arial Narrow" pitchFamily="34" charset="0"/>
            </a:endParaRPr>
          </a:p>
        </p:txBody>
      </p:sp>
      <p:sp>
        <p:nvSpPr>
          <p:cNvPr id="20484" name="Date Placeholder 7"/>
          <p:cNvSpPr>
            <a:spLocks noGrp="1"/>
          </p:cNvSpPr>
          <p:nvPr>
            <p:ph type="dt" sz="quarter" idx="10"/>
          </p:nvPr>
        </p:nvSpPr>
        <p:spPr>
          <a:noFill/>
        </p:spPr>
        <p:txBody>
          <a:bodyPr/>
          <a:lstStyle/>
          <a:p>
            <a:fld id="{F8271A16-F165-4725-95B5-421BA53CD931}" type="datetime1">
              <a:rPr lang="en-US" smtClean="0">
                <a:latin typeface="Arial" pitchFamily="34" charset="0"/>
                <a:ea typeface="ＭＳ Ｐゴシック" pitchFamily="34" charset="-128"/>
              </a:rPr>
              <a:pPr/>
              <a:t>5/30/2022</a:t>
            </a:fld>
            <a:endParaRPr lang="en-US">
              <a:latin typeface="Arial" pitchFamily="34" charset="0"/>
              <a:ea typeface="ＭＳ Ｐゴシック" pitchFamily="34" charset="-128"/>
            </a:endParaRPr>
          </a:p>
        </p:txBody>
      </p:sp>
      <p:sp>
        <p:nvSpPr>
          <p:cNvPr id="20485" name="Footer Placeholder 8"/>
          <p:cNvSpPr>
            <a:spLocks noGrp="1"/>
          </p:cNvSpPr>
          <p:nvPr>
            <p:ph type="ftr" sz="quarter" idx="11"/>
          </p:nvPr>
        </p:nvSpPr>
        <p:spPr>
          <a:noFill/>
        </p:spPr>
        <p:txBody>
          <a:bodyPr/>
          <a:lstStyle/>
          <a:p>
            <a:r>
              <a:rPr lang="en-US">
                <a:latin typeface="Arial" pitchFamily="34" charset="0"/>
                <a:ea typeface="ＭＳ Ｐゴシック" pitchFamily="34" charset="-128"/>
              </a:rPr>
              <a:t>BIS1204</a:t>
            </a:r>
          </a:p>
        </p:txBody>
      </p:sp>
      <p:sp>
        <p:nvSpPr>
          <p:cNvPr id="20486" name="Slide Number Placeholder 9"/>
          <p:cNvSpPr>
            <a:spLocks noGrp="1"/>
          </p:cNvSpPr>
          <p:nvPr>
            <p:ph type="sldNum" sz="quarter" idx="12"/>
          </p:nvPr>
        </p:nvSpPr>
        <p:spPr>
          <a:noFill/>
        </p:spPr>
        <p:txBody>
          <a:bodyPr/>
          <a:lstStyle/>
          <a:p>
            <a:fld id="{D8B4E8F0-C80A-4F0F-AEA1-A8FD05DC2E89}" type="slidenum">
              <a:rPr lang="en-US" smtClean="0">
                <a:latin typeface="Arial" pitchFamily="34" charset="0"/>
                <a:ea typeface="ＭＳ Ｐゴシック" pitchFamily="34" charset="-128"/>
              </a:rPr>
              <a:pPr/>
              <a:t>22</a:t>
            </a:fld>
            <a:endParaRPr lang="en-US">
              <a:latin typeface="Arial" pitchFamily="34" charset="0"/>
              <a:ea typeface="ＭＳ Ｐゴシック" pitchFamily="34" charset="-128"/>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24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24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24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240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0240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24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500063" y="985838"/>
            <a:ext cx="7772400" cy="714375"/>
          </a:xfrm>
        </p:spPr>
        <p:txBody>
          <a:bodyPr>
            <a:normAutofit/>
          </a:bodyPr>
          <a:lstStyle/>
          <a:p>
            <a:pPr eaLnBrk="1" fontAlgn="auto" hangingPunct="1">
              <a:spcAft>
                <a:spcPts val="0"/>
              </a:spcAft>
              <a:defRPr/>
            </a:pPr>
            <a:r>
              <a:rPr lang="en-GB" sz="3200" b="1" dirty="0">
                <a:solidFill>
                  <a:schemeClr val="tx2">
                    <a:satMod val="130000"/>
                  </a:schemeClr>
                </a:solidFill>
                <a:latin typeface="Times" pitchFamily="18" charset="0"/>
              </a:rPr>
              <a:t> Disadvantages of DBMS</a:t>
            </a:r>
            <a:endParaRPr lang="en-GB" sz="3200" b="1" dirty="0">
              <a:solidFill>
                <a:schemeClr val="tx1"/>
              </a:solidFill>
              <a:latin typeface="Times" pitchFamily="18" charset="0"/>
            </a:endParaRPr>
          </a:p>
        </p:txBody>
      </p:sp>
      <p:sp>
        <p:nvSpPr>
          <p:cNvPr id="48131" name="Rectangle 3" descr="Rectangle: Click to edit Master text styles&#10;Second level&#10;Third level&#10;Fourth level&#10;Fifth level"/>
          <p:cNvSpPr>
            <a:spLocks noGrp="1" noChangeArrowheads="1"/>
          </p:cNvSpPr>
          <p:nvPr>
            <p:ph idx="1"/>
          </p:nvPr>
        </p:nvSpPr>
        <p:spPr>
          <a:xfrm>
            <a:off x="285720" y="1773238"/>
            <a:ext cx="8572560" cy="4799034"/>
          </a:xfrm>
        </p:spPr>
        <p:txBody>
          <a:bodyPr/>
          <a:lstStyle/>
          <a:p>
            <a:pPr eaLnBrk="1" hangingPunct="1">
              <a:lnSpc>
                <a:spcPct val="80000"/>
              </a:lnSpc>
            </a:pPr>
            <a:r>
              <a:rPr lang="en-GB" b="1" dirty="0">
                <a:latin typeface="Times" pitchFamily="18" charset="0"/>
              </a:rPr>
              <a:t>Complexity:</a:t>
            </a:r>
            <a:r>
              <a:rPr lang="en-GB" dirty="0">
                <a:latin typeface="Times" pitchFamily="18" charset="0"/>
              </a:rPr>
              <a:t> It has several components which need </a:t>
            </a:r>
            <a:r>
              <a:rPr lang="en-GB" sz="2000" dirty="0">
                <a:latin typeface="Times" pitchFamily="18" charset="0"/>
              </a:rPr>
              <a:t>serious and careful planning to get a good DBMS. </a:t>
            </a:r>
          </a:p>
          <a:p>
            <a:pPr eaLnBrk="1" hangingPunct="1">
              <a:lnSpc>
                <a:spcPct val="80000"/>
              </a:lnSpc>
            </a:pPr>
            <a:endParaRPr lang="en-GB" sz="1100" dirty="0">
              <a:latin typeface="Times" pitchFamily="18" charset="0"/>
            </a:endParaRPr>
          </a:p>
          <a:p>
            <a:pPr eaLnBrk="1" hangingPunct="1">
              <a:lnSpc>
                <a:spcPct val="80000"/>
              </a:lnSpc>
            </a:pPr>
            <a:r>
              <a:rPr lang="en-GB" sz="2000" b="1" dirty="0">
                <a:latin typeface="Times" pitchFamily="18" charset="0"/>
              </a:rPr>
              <a:t>Size</a:t>
            </a:r>
            <a:r>
              <a:rPr lang="en-GB" sz="2000" dirty="0">
                <a:latin typeface="Times" pitchFamily="18" charset="0"/>
              </a:rPr>
              <a:t>: large size of software taking large disk space and memory.</a:t>
            </a:r>
          </a:p>
          <a:p>
            <a:pPr eaLnBrk="1" hangingPunct="1">
              <a:lnSpc>
                <a:spcPct val="80000"/>
              </a:lnSpc>
            </a:pPr>
            <a:endParaRPr lang="en-GB" sz="1100" dirty="0">
              <a:latin typeface="Times" pitchFamily="18" charset="0"/>
            </a:endParaRPr>
          </a:p>
          <a:p>
            <a:pPr eaLnBrk="1" hangingPunct="1">
              <a:lnSpc>
                <a:spcPct val="80000"/>
              </a:lnSpc>
            </a:pPr>
            <a:r>
              <a:rPr lang="en-GB" sz="2000" b="1" dirty="0">
                <a:latin typeface="Times" pitchFamily="18" charset="0"/>
              </a:rPr>
              <a:t>Cost: </a:t>
            </a:r>
            <a:r>
              <a:rPr lang="en-GB" sz="2000" dirty="0">
                <a:latin typeface="Times" pitchFamily="18" charset="0"/>
              </a:rPr>
              <a:t>DBMS, additional hardware e.g. Memory, </a:t>
            </a:r>
            <a:r>
              <a:rPr lang="en-GB" sz="2000" b="1" dirty="0">
                <a:latin typeface="Times" pitchFamily="18" charset="0"/>
              </a:rPr>
              <a:t>conversion</a:t>
            </a:r>
            <a:r>
              <a:rPr lang="en-GB" sz="2000" dirty="0">
                <a:latin typeface="Times" pitchFamily="18" charset="0"/>
              </a:rPr>
              <a:t>; costs of converting existing applications to run on the new DBMS and hardware, employing specialists, training staff etc</a:t>
            </a:r>
            <a:r>
              <a:rPr lang="en-GB" sz="2000" dirty="0">
                <a:latin typeface="Arial Narrow" pitchFamily="34" charset="0"/>
              </a:rPr>
              <a:t>.</a:t>
            </a:r>
          </a:p>
          <a:p>
            <a:pPr eaLnBrk="1" hangingPunct="1">
              <a:lnSpc>
                <a:spcPct val="80000"/>
              </a:lnSpc>
            </a:pPr>
            <a:endParaRPr lang="en-GB" sz="1100" dirty="0">
              <a:latin typeface="Arial Narrow" pitchFamily="34" charset="0"/>
            </a:endParaRPr>
          </a:p>
          <a:p>
            <a:pPr eaLnBrk="1" hangingPunct="1">
              <a:lnSpc>
                <a:spcPct val="80000"/>
              </a:lnSpc>
            </a:pPr>
            <a:r>
              <a:rPr lang="en-GB" sz="2000" b="1" dirty="0">
                <a:latin typeface="Times" pitchFamily="18" charset="0"/>
              </a:rPr>
              <a:t>Performance;</a:t>
            </a:r>
            <a:r>
              <a:rPr lang="en-GB" sz="2000" dirty="0">
                <a:latin typeface="Times" pitchFamily="18" charset="0"/>
              </a:rPr>
              <a:t> some applications may not run as first as the used to because DBMS caters for several applications at once.</a:t>
            </a:r>
          </a:p>
          <a:p>
            <a:pPr eaLnBrk="1" hangingPunct="1">
              <a:lnSpc>
                <a:spcPct val="80000"/>
              </a:lnSpc>
            </a:pPr>
            <a:endParaRPr lang="en-GB" sz="1100" dirty="0">
              <a:latin typeface="Times" pitchFamily="18" charset="0"/>
            </a:endParaRPr>
          </a:p>
          <a:p>
            <a:pPr eaLnBrk="1" hangingPunct="1">
              <a:lnSpc>
                <a:spcPct val="80000"/>
              </a:lnSpc>
            </a:pPr>
            <a:r>
              <a:rPr lang="en-GB" sz="2000" b="1" dirty="0">
                <a:latin typeface="Times" pitchFamily="18" charset="0"/>
              </a:rPr>
              <a:t>Higher impact of a failure; </a:t>
            </a:r>
            <a:r>
              <a:rPr lang="en-GB" sz="2000" dirty="0">
                <a:latin typeface="Times" pitchFamily="18" charset="0"/>
              </a:rPr>
              <a:t>integration of resources increases vulnerability.</a:t>
            </a:r>
            <a:endParaRPr lang="en-GB" dirty="0">
              <a:latin typeface="Times" pitchFamily="18" charset="0"/>
            </a:endParaRPr>
          </a:p>
          <a:p>
            <a:pPr eaLnBrk="1" hangingPunct="1">
              <a:lnSpc>
                <a:spcPct val="80000"/>
              </a:lnSpc>
            </a:pPr>
            <a:endParaRPr lang="en-GB" sz="2800" dirty="0">
              <a:latin typeface="Times" pitchFamily="18" charset="0"/>
            </a:endParaRPr>
          </a:p>
        </p:txBody>
      </p:sp>
      <p:sp>
        <p:nvSpPr>
          <p:cNvPr id="21508" name="Date Placeholder 7"/>
          <p:cNvSpPr>
            <a:spLocks noGrp="1"/>
          </p:cNvSpPr>
          <p:nvPr>
            <p:ph type="dt" sz="quarter" idx="10"/>
          </p:nvPr>
        </p:nvSpPr>
        <p:spPr>
          <a:noFill/>
        </p:spPr>
        <p:txBody>
          <a:bodyPr/>
          <a:lstStyle/>
          <a:p>
            <a:fld id="{C7BA8FAD-7915-4029-BDB8-6F9E79C25A50}" type="datetime1">
              <a:rPr lang="en-US" smtClean="0">
                <a:latin typeface="Arial" pitchFamily="34" charset="0"/>
                <a:ea typeface="ＭＳ Ｐゴシック" pitchFamily="34" charset="-128"/>
              </a:rPr>
              <a:pPr/>
              <a:t>5/30/2022</a:t>
            </a:fld>
            <a:endParaRPr lang="en-US">
              <a:latin typeface="Arial" pitchFamily="34" charset="0"/>
              <a:ea typeface="ＭＳ Ｐゴシック" pitchFamily="34" charset="-128"/>
            </a:endParaRPr>
          </a:p>
        </p:txBody>
      </p:sp>
      <p:sp>
        <p:nvSpPr>
          <p:cNvPr id="21509" name="Footer Placeholder 8"/>
          <p:cNvSpPr>
            <a:spLocks noGrp="1"/>
          </p:cNvSpPr>
          <p:nvPr>
            <p:ph type="ftr" sz="quarter" idx="11"/>
          </p:nvPr>
        </p:nvSpPr>
        <p:spPr>
          <a:noFill/>
        </p:spPr>
        <p:txBody>
          <a:bodyPr/>
          <a:lstStyle/>
          <a:p>
            <a:r>
              <a:rPr lang="en-US">
                <a:latin typeface="Arial" pitchFamily="34" charset="0"/>
                <a:ea typeface="ＭＳ Ｐゴシック" pitchFamily="34" charset="-128"/>
              </a:rPr>
              <a:t>BIS1204</a:t>
            </a:r>
          </a:p>
        </p:txBody>
      </p:sp>
      <p:sp>
        <p:nvSpPr>
          <p:cNvPr id="21510" name="Slide Number Placeholder 9"/>
          <p:cNvSpPr>
            <a:spLocks noGrp="1"/>
          </p:cNvSpPr>
          <p:nvPr>
            <p:ph type="sldNum" sz="quarter" idx="12"/>
          </p:nvPr>
        </p:nvSpPr>
        <p:spPr>
          <a:noFill/>
        </p:spPr>
        <p:txBody>
          <a:bodyPr/>
          <a:lstStyle/>
          <a:p>
            <a:fld id="{599F1204-E986-4251-A3CC-526C12552DFD}" type="slidenum">
              <a:rPr lang="en-US" smtClean="0">
                <a:latin typeface="Arial" pitchFamily="34" charset="0"/>
                <a:ea typeface="ＭＳ Ｐゴシック" pitchFamily="34" charset="-128"/>
              </a:rPr>
              <a:pPr/>
              <a:t>23</a:t>
            </a:fld>
            <a:endParaRPr lang="en-US">
              <a:latin typeface="Arial" pitchFamily="34" charset="0"/>
              <a:ea typeface="ＭＳ Ｐゴシック" pitchFamily="34" charset="-128"/>
            </a:endParaRP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1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13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13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8131">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813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
          <p:cNvSpPr>
            <a:spLocks noGrp="1"/>
          </p:cNvSpPr>
          <p:nvPr>
            <p:ph type="title"/>
          </p:nvPr>
        </p:nvSpPr>
        <p:spPr/>
        <p:txBody>
          <a:bodyPr/>
          <a:lstStyle/>
          <a:p>
            <a:pPr algn="ctr"/>
            <a:r>
              <a:rPr lang="en-US" b="1" dirty="0"/>
              <a:t>ANSI SPARC 3 LEVEL DATABASE ARCHITECTURE</a:t>
            </a:r>
            <a:endParaRPr lang="en-US" dirty="0"/>
          </a:p>
        </p:txBody>
      </p:sp>
      <p:sp>
        <p:nvSpPr>
          <p:cNvPr id="22531" name="Content Placeholder 2"/>
          <p:cNvSpPr>
            <a:spLocks noGrp="1"/>
          </p:cNvSpPr>
          <p:nvPr>
            <p:ph idx="1"/>
          </p:nvPr>
        </p:nvSpPr>
        <p:spPr>
          <a:xfrm>
            <a:off x="214313" y="1714500"/>
            <a:ext cx="8715375" cy="5000625"/>
          </a:xfrm>
        </p:spPr>
        <p:txBody>
          <a:bodyPr/>
          <a:lstStyle/>
          <a:p>
            <a:r>
              <a:rPr lang="en-US" dirty="0">
                <a:latin typeface="+mj-lt"/>
              </a:rPr>
              <a:t>One of the aim of a database system is to provide users with an abstract view of data, hiding certain details of how data is stored and manipulated.</a:t>
            </a:r>
          </a:p>
          <a:p>
            <a:pPr>
              <a:buNone/>
            </a:pPr>
            <a:endParaRPr lang="en-US" dirty="0">
              <a:latin typeface="+mj-lt"/>
            </a:endParaRPr>
          </a:p>
          <a:p>
            <a:r>
              <a:rPr lang="en-US" dirty="0">
                <a:latin typeface="+mj-lt"/>
              </a:rPr>
              <a:t>Furthermore , A database is a shared resource , therefore different users might require different views of the same database. </a:t>
            </a:r>
          </a:p>
          <a:p>
            <a:pPr>
              <a:buNone/>
            </a:pPr>
            <a:endParaRPr lang="en-US" dirty="0">
              <a:latin typeface="+mj-lt"/>
            </a:endParaRPr>
          </a:p>
          <a:p>
            <a:pPr lvl="1"/>
            <a:r>
              <a:rPr lang="en-US" dirty="0">
                <a:latin typeface="+mj-lt"/>
              </a:rPr>
              <a:t>Therefore to satisfy these needs , the architecture of most commercial DBMS is based on the ANSI-SPARC ARCHITECURE (American National Standard Institute Standard Planning and Requirements Committee)</a:t>
            </a:r>
          </a:p>
          <a:p>
            <a:pPr lvl="1"/>
            <a:endParaRPr lang="en-US" dirty="0">
              <a:latin typeface="+mj-lt"/>
            </a:endParaRPr>
          </a:p>
          <a:p>
            <a:pPr>
              <a:buFont typeface="Wingdings 2" pitchFamily="18" charset="2"/>
              <a:buNone/>
            </a:pPr>
            <a:endParaRPr lang="en-US" dirty="0">
              <a:latin typeface="+mj-lt"/>
            </a:endParaRPr>
          </a:p>
        </p:txBody>
      </p:sp>
      <p:sp>
        <p:nvSpPr>
          <p:cNvPr id="4" name="Date Placeholder 3"/>
          <p:cNvSpPr>
            <a:spLocks noGrp="1"/>
          </p:cNvSpPr>
          <p:nvPr>
            <p:ph type="dt" sz="half" idx="10"/>
          </p:nvPr>
        </p:nvSpPr>
        <p:spPr/>
        <p:txBody>
          <a:bodyPr/>
          <a:lstStyle/>
          <a:p>
            <a:pPr>
              <a:defRPr/>
            </a:pPr>
            <a:fld id="{0DEA4CA2-4689-4258-815F-FE53543807F6}" type="datetime1">
              <a:rPr lang="en-US" smtClean="0"/>
              <a:pPr>
                <a:defRPr/>
              </a:pPr>
              <a:t>5/30/2022</a:t>
            </a:fld>
            <a:endParaRPr lang="en-US"/>
          </a:p>
        </p:txBody>
      </p:sp>
      <p:sp>
        <p:nvSpPr>
          <p:cNvPr id="5" name="Slide Number Placeholder 4"/>
          <p:cNvSpPr>
            <a:spLocks noGrp="1"/>
          </p:cNvSpPr>
          <p:nvPr>
            <p:ph type="sldNum" sz="quarter" idx="12"/>
          </p:nvPr>
        </p:nvSpPr>
        <p:spPr/>
        <p:txBody>
          <a:bodyPr/>
          <a:lstStyle/>
          <a:p>
            <a:pPr>
              <a:defRPr/>
            </a:pPr>
            <a:fld id="{70EFCDA5-C848-48A8-B81F-AE302B9463AB}" type="slidenum">
              <a:rPr lang="en-US" smtClean="0"/>
              <a:pPr>
                <a:defRPr/>
              </a:pPr>
              <a:t>24</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ctr" eaLnBrk="1" hangingPunct="1"/>
            <a:r>
              <a:rPr lang="en-GB" b="1" dirty="0">
                <a:latin typeface="Times" pitchFamily="18" charset="0"/>
              </a:rPr>
              <a:t>ANSI-SPARC THREE-LEVEL ARCHITECTURE</a:t>
            </a:r>
            <a:endParaRPr lang="en-GB" dirty="0">
              <a:latin typeface="Times" pitchFamily="18" charset="0"/>
            </a:endParaRPr>
          </a:p>
        </p:txBody>
      </p:sp>
      <p:sp>
        <p:nvSpPr>
          <p:cNvPr id="23555" name="Slide Number Placeholder 5"/>
          <p:cNvSpPr>
            <a:spLocks noGrp="1"/>
          </p:cNvSpPr>
          <p:nvPr>
            <p:ph type="sldNum" sz="quarter" idx="12"/>
          </p:nvPr>
        </p:nvSpPr>
        <p:spPr>
          <a:noFill/>
        </p:spPr>
        <p:txBody>
          <a:bodyPr/>
          <a:lstStyle/>
          <a:p>
            <a:fld id="{1E733438-6561-45A3-B689-A0EB8C78299E}" type="slidenum">
              <a:rPr lang="en-US" smtClean="0">
                <a:latin typeface="Arial" pitchFamily="34" charset="0"/>
                <a:ea typeface="ＭＳ Ｐゴシック" pitchFamily="34" charset="-128"/>
              </a:rPr>
              <a:pPr/>
              <a:t>25</a:t>
            </a:fld>
            <a:endParaRPr lang="en-US">
              <a:latin typeface="Arial" pitchFamily="34" charset="0"/>
              <a:ea typeface="ＭＳ Ｐゴシック" pitchFamily="34" charset="-128"/>
            </a:endParaRPr>
          </a:p>
        </p:txBody>
      </p:sp>
      <p:pic>
        <p:nvPicPr>
          <p:cNvPr id="59397" name="Picture 5" descr="DS3-Figure 02-01"/>
          <p:cNvPicPr>
            <a:picLocks noChangeAspect="1" noChangeArrowheads="1"/>
          </p:cNvPicPr>
          <p:nvPr/>
        </p:nvPicPr>
        <p:blipFill>
          <a:blip r:embed="rId3"/>
          <a:srcRect/>
          <a:stretch>
            <a:fillRect/>
          </a:stretch>
        </p:blipFill>
        <p:spPr bwMode="auto">
          <a:xfrm>
            <a:off x="357188" y="1785938"/>
            <a:ext cx="8572500" cy="5010150"/>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622755EF-2593-4877-903B-F16C3A113850}"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93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14313" y="836613"/>
            <a:ext cx="8929687" cy="839787"/>
          </a:xfrm>
        </p:spPr>
        <p:txBody>
          <a:bodyPr/>
          <a:lstStyle/>
          <a:p>
            <a:pPr algn="ctr" eaLnBrk="1" hangingPunct="1"/>
            <a:r>
              <a:rPr lang="en-GB" sz="3200" b="1">
                <a:latin typeface="Times" pitchFamily="18" charset="0"/>
              </a:rPr>
              <a:t>ANSI-SPARC THREE-LEVEL ARCHITECTURE</a:t>
            </a:r>
            <a:endParaRPr lang="en-GB" sz="3200" b="1">
              <a:solidFill>
                <a:schemeClr val="tx1"/>
              </a:solidFill>
              <a:latin typeface="Times" pitchFamily="18" charset="0"/>
            </a:endParaRPr>
          </a:p>
        </p:txBody>
      </p:sp>
      <p:sp>
        <p:nvSpPr>
          <p:cNvPr id="36867" name="Rectangle 3" descr="Rectangle: Click to edit Master text styles&#10;Second level&#10;Third level&#10;Fourth level&#10;Fifth level"/>
          <p:cNvSpPr>
            <a:spLocks noGrp="1" noChangeArrowheads="1"/>
          </p:cNvSpPr>
          <p:nvPr>
            <p:ph idx="1"/>
          </p:nvPr>
        </p:nvSpPr>
        <p:spPr>
          <a:xfrm>
            <a:off x="285750" y="1785938"/>
            <a:ext cx="8572500" cy="5072062"/>
          </a:xfrm>
        </p:spPr>
        <p:txBody>
          <a:bodyPr/>
          <a:lstStyle/>
          <a:p>
            <a:pPr eaLnBrk="1" hangingPunct="1"/>
            <a:r>
              <a:rPr lang="en-GB" sz="2800" b="1" dirty="0">
                <a:latin typeface="Times" pitchFamily="18" charset="0"/>
              </a:rPr>
              <a:t>External Level</a:t>
            </a:r>
          </a:p>
          <a:p>
            <a:pPr lvl="1" eaLnBrk="1" hangingPunct="1">
              <a:lnSpc>
                <a:spcPct val="150000"/>
              </a:lnSpc>
              <a:buClr>
                <a:schemeClr val="bg2"/>
              </a:buClr>
              <a:buSzPct val="100000"/>
              <a:buFont typeface="Wingdings" pitchFamily="2" charset="2"/>
              <a:buChar char=""/>
            </a:pPr>
            <a:r>
              <a:rPr lang="en-GB" sz="2200" dirty="0">
                <a:latin typeface="+mj-lt"/>
              </a:rPr>
              <a:t>Users' view of the database. </a:t>
            </a:r>
          </a:p>
          <a:p>
            <a:pPr lvl="1" eaLnBrk="1" hangingPunct="1">
              <a:lnSpc>
                <a:spcPct val="150000"/>
              </a:lnSpc>
              <a:buClr>
                <a:schemeClr val="bg2"/>
              </a:buClr>
              <a:buSzPct val="100000"/>
              <a:buFont typeface="Wingdings" pitchFamily="2" charset="2"/>
              <a:buChar char=""/>
            </a:pPr>
            <a:r>
              <a:rPr lang="en-GB" sz="2200" dirty="0">
                <a:latin typeface="+mj-lt"/>
              </a:rPr>
              <a:t>Describes that part of database that is relevant to a particular user or user group </a:t>
            </a:r>
            <a:r>
              <a:rPr lang="en-US" sz="2200" dirty="0">
                <a:latin typeface="+mj-lt"/>
              </a:rPr>
              <a:t>and hides the rest of the database from that user group.</a:t>
            </a:r>
          </a:p>
          <a:p>
            <a:pPr lvl="1" eaLnBrk="1" hangingPunct="1">
              <a:lnSpc>
                <a:spcPct val="150000"/>
              </a:lnSpc>
              <a:buClr>
                <a:schemeClr val="bg2"/>
              </a:buClr>
              <a:buSzPct val="100000"/>
              <a:buFont typeface="Wingdings" pitchFamily="2" charset="2"/>
              <a:buChar char=""/>
            </a:pPr>
            <a:r>
              <a:rPr lang="en-US" sz="2200" dirty="0">
                <a:latin typeface="+mj-lt"/>
              </a:rPr>
              <a:t>In addition, different views may have different representations of the same data. For example, one user may view date in the form (day, month, year).. while another may view date as (year, month, day)</a:t>
            </a:r>
            <a:endParaRPr lang="en-GB" sz="2200" dirty="0">
              <a:latin typeface="+mj-lt"/>
            </a:endParaRPr>
          </a:p>
          <a:p>
            <a:pPr lvl="1" eaLnBrk="1" hangingPunct="1">
              <a:buClr>
                <a:schemeClr val="bg2"/>
              </a:buClr>
              <a:buSzPct val="100000"/>
              <a:buNone/>
            </a:pPr>
            <a:endParaRPr lang="en-GB" sz="2800" dirty="0">
              <a:latin typeface="Times" pitchFamily="18" charset="0"/>
            </a:endParaRPr>
          </a:p>
        </p:txBody>
      </p:sp>
      <p:sp>
        <p:nvSpPr>
          <p:cNvPr id="24580" name="Slide Number Placeholder 5"/>
          <p:cNvSpPr>
            <a:spLocks noGrp="1"/>
          </p:cNvSpPr>
          <p:nvPr>
            <p:ph type="sldNum" sz="quarter" idx="12"/>
          </p:nvPr>
        </p:nvSpPr>
        <p:spPr>
          <a:noFill/>
        </p:spPr>
        <p:txBody>
          <a:bodyPr/>
          <a:lstStyle/>
          <a:p>
            <a:fld id="{D8FA0C55-F018-43B8-9278-8192B0F3BFE7}" type="slidenum">
              <a:rPr lang="en-US" smtClean="0">
                <a:latin typeface="Arial" pitchFamily="34" charset="0"/>
                <a:ea typeface="ＭＳ Ｐゴシック" pitchFamily="34" charset="-128"/>
              </a:rPr>
              <a:pPr/>
              <a:t>26</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94E21B08-D169-4F7A-99F8-1F631D4A93D8}" type="datetime1">
              <a:rPr lang="en-US" smtClean="0"/>
              <a:pPr>
                <a:defRPr/>
              </a:pPr>
              <a:t>5/30/2022</a:t>
            </a:fld>
            <a:endParaRPr lang="en-US" dirty="0"/>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68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68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6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14313" y="836613"/>
            <a:ext cx="8929687" cy="839787"/>
          </a:xfrm>
        </p:spPr>
        <p:txBody>
          <a:bodyPr/>
          <a:lstStyle/>
          <a:p>
            <a:pPr algn="ctr" eaLnBrk="1" hangingPunct="1"/>
            <a:r>
              <a:rPr lang="en-GB" sz="3200" b="1" dirty="0">
                <a:latin typeface="Times" pitchFamily="18" charset="0"/>
              </a:rPr>
              <a:t>ANSI-SPARC THREE-LEVEL ARCHITECTURE</a:t>
            </a:r>
            <a:endParaRPr lang="en-GB" sz="3200" b="1" dirty="0">
              <a:solidFill>
                <a:schemeClr val="tx1"/>
              </a:solidFill>
              <a:latin typeface="Times" pitchFamily="18" charset="0"/>
            </a:endParaRPr>
          </a:p>
        </p:txBody>
      </p:sp>
      <p:sp>
        <p:nvSpPr>
          <p:cNvPr id="36867" name="Rectangle 3" descr="Rectangle: Click to edit Master text styles&#10;Second level&#10;Third level&#10;Fourth level&#10;Fifth level"/>
          <p:cNvSpPr>
            <a:spLocks noGrp="1" noChangeArrowheads="1"/>
          </p:cNvSpPr>
          <p:nvPr>
            <p:ph idx="1"/>
          </p:nvPr>
        </p:nvSpPr>
        <p:spPr>
          <a:xfrm>
            <a:off x="285750" y="1785938"/>
            <a:ext cx="8572500" cy="5072062"/>
          </a:xfrm>
        </p:spPr>
        <p:txBody>
          <a:bodyPr/>
          <a:lstStyle/>
          <a:p>
            <a:pPr eaLnBrk="1" hangingPunct="1"/>
            <a:r>
              <a:rPr lang="en-GB" sz="2800" b="1" dirty="0">
                <a:latin typeface="+mj-lt"/>
              </a:rPr>
              <a:t>Conceptual Level</a:t>
            </a:r>
          </a:p>
          <a:p>
            <a:pPr lvl="1" eaLnBrk="1" hangingPunct="1">
              <a:lnSpc>
                <a:spcPct val="150000"/>
              </a:lnSpc>
              <a:buClr>
                <a:schemeClr val="bg2"/>
              </a:buClr>
              <a:buSzPct val="100000"/>
              <a:buFont typeface="Wingdings" pitchFamily="2" charset="2"/>
              <a:buChar char=""/>
            </a:pPr>
            <a:r>
              <a:rPr lang="en-GB" sz="2200" dirty="0">
                <a:latin typeface="+mj-lt"/>
              </a:rPr>
              <a:t>Content view of the database.  </a:t>
            </a:r>
          </a:p>
          <a:p>
            <a:pPr lvl="1" eaLnBrk="1" hangingPunct="1">
              <a:lnSpc>
                <a:spcPct val="150000"/>
              </a:lnSpc>
              <a:buClr>
                <a:schemeClr val="bg2"/>
              </a:buClr>
              <a:buSzPct val="100000"/>
              <a:buFont typeface="Wingdings" pitchFamily="2" charset="2"/>
              <a:buChar char=""/>
            </a:pPr>
            <a:r>
              <a:rPr lang="en-GB" sz="2200" dirty="0">
                <a:latin typeface="+mj-lt"/>
              </a:rPr>
              <a:t>Describes what data is stored in database and relationships among the data.</a:t>
            </a:r>
            <a:r>
              <a:rPr lang="en-US" sz="2200" dirty="0">
                <a:latin typeface="+mj-lt"/>
              </a:rPr>
              <a:t> It also describes the entire structure of database such as entities, attributes, data types, relationships, constraints, and user operations. It hides the details of physical storage structures.</a:t>
            </a:r>
          </a:p>
          <a:p>
            <a:pPr lvl="2" eaLnBrk="1" hangingPunct="1">
              <a:buSzPct val="100000"/>
              <a:buFont typeface="Wingdings" pitchFamily="2" charset="2"/>
              <a:buChar char=""/>
            </a:pPr>
            <a:r>
              <a:rPr lang="en-US" dirty="0">
                <a:latin typeface="+mj-lt"/>
              </a:rPr>
              <a:t>The conceptual level is defined by means of the conceptual schema, which includes definitions of each of the various conceptual record types. </a:t>
            </a:r>
          </a:p>
          <a:p>
            <a:pPr lvl="3" eaLnBrk="1" hangingPunct="1">
              <a:buSzPct val="100000"/>
              <a:buFont typeface="Wingdings" pitchFamily="2" charset="2"/>
              <a:buChar char=""/>
            </a:pPr>
            <a:r>
              <a:rPr lang="en-US" dirty="0"/>
              <a:t>The conceptual schema is a complete description of information of database structure such as every record type with all its fields</a:t>
            </a:r>
            <a:endParaRPr lang="en-GB" dirty="0">
              <a:latin typeface="+mj-lt"/>
            </a:endParaRPr>
          </a:p>
        </p:txBody>
      </p:sp>
      <p:sp>
        <p:nvSpPr>
          <p:cNvPr id="24580" name="Slide Number Placeholder 5"/>
          <p:cNvSpPr>
            <a:spLocks noGrp="1"/>
          </p:cNvSpPr>
          <p:nvPr>
            <p:ph type="sldNum" sz="quarter" idx="12"/>
          </p:nvPr>
        </p:nvSpPr>
        <p:spPr>
          <a:noFill/>
        </p:spPr>
        <p:txBody>
          <a:bodyPr/>
          <a:lstStyle/>
          <a:p>
            <a:fld id="{D8FA0C55-F018-43B8-9278-8192B0F3BFE7}" type="slidenum">
              <a:rPr lang="en-US" smtClean="0">
                <a:latin typeface="Arial" pitchFamily="34" charset="0"/>
                <a:ea typeface="ＭＳ Ｐゴシック" pitchFamily="34" charset="-128"/>
              </a:rPr>
              <a:pPr/>
              <a:t>27</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94E21B08-D169-4F7A-99F8-1F631D4A93D8}"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68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68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68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7950" y="533400"/>
            <a:ext cx="9144000" cy="1143000"/>
          </a:xfrm>
        </p:spPr>
        <p:txBody>
          <a:bodyPr/>
          <a:lstStyle/>
          <a:p>
            <a:pPr eaLnBrk="1" hangingPunct="1"/>
            <a:r>
              <a:rPr lang="en-GB" sz="3200" b="1" dirty="0">
                <a:latin typeface="Times" pitchFamily="18" charset="0"/>
              </a:rPr>
              <a:t>ANSI-SPARC</a:t>
            </a:r>
            <a:r>
              <a:rPr lang="en-GB" b="1" dirty="0">
                <a:latin typeface="Times" pitchFamily="18" charset="0"/>
              </a:rPr>
              <a:t> </a:t>
            </a:r>
            <a:r>
              <a:rPr lang="en-GB" sz="3200" b="1" dirty="0">
                <a:latin typeface="Times" pitchFamily="18" charset="0"/>
              </a:rPr>
              <a:t>THREE-LEVEL ARCHITECTURE</a:t>
            </a:r>
            <a:endParaRPr lang="en-GB" b="1" dirty="0">
              <a:latin typeface="Times" pitchFamily="18" charset="0"/>
            </a:endParaRPr>
          </a:p>
        </p:txBody>
      </p:sp>
      <p:sp>
        <p:nvSpPr>
          <p:cNvPr id="37891" name="Rectangle 3" descr="Rectangle: Click to edit Master text styles&#10;Second level&#10;Third level&#10;Fourth level&#10;Fifth level"/>
          <p:cNvSpPr>
            <a:spLocks noGrp="1" noChangeArrowheads="1"/>
          </p:cNvSpPr>
          <p:nvPr>
            <p:ph idx="1"/>
          </p:nvPr>
        </p:nvSpPr>
        <p:spPr>
          <a:xfrm>
            <a:off x="285750" y="1785938"/>
            <a:ext cx="8572500" cy="4786312"/>
          </a:xfrm>
        </p:spPr>
        <p:txBody>
          <a:bodyPr/>
          <a:lstStyle/>
          <a:p>
            <a:pPr eaLnBrk="1" hangingPunct="1"/>
            <a:r>
              <a:rPr lang="en-GB" sz="2800" b="1" dirty="0">
                <a:latin typeface="+mj-lt"/>
              </a:rPr>
              <a:t>Internal Level</a:t>
            </a:r>
          </a:p>
          <a:p>
            <a:pPr lvl="1" eaLnBrk="1" hangingPunct="1">
              <a:buClr>
                <a:schemeClr val="bg2"/>
              </a:buClr>
              <a:buSzPct val="100000"/>
              <a:buFont typeface="Wingdings" pitchFamily="2" charset="2"/>
              <a:buChar char=""/>
            </a:pPr>
            <a:r>
              <a:rPr lang="en-GB" sz="2800" dirty="0">
                <a:latin typeface="+mj-lt"/>
              </a:rPr>
              <a:t>Physical representation of the database on the computer.  </a:t>
            </a:r>
          </a:p>
          <a:p>
            <a:pPr lvl="1" eaLnBrk="1" hangingPunct="1">
              <a:buClr>
                <a:schemeClr val="bg2"/>
              </a:buClr>
              <a:buSzPct val="100000"/>
              <a:buFont typeface="Wingdings" pitchFamily="2" charset="2"/>
              <a:buChar char=""/>
            </a:pPr>
            <a:r>
              <a:rPr lang="en-GB" sz="2800" dirty="0">
                <a:latin typeface="+mj-lt"/>
              </a:rPr>
              <a:t>Describes </a:t>
            </a:r>
            <a:r>
              <a:rPr lang="en-GB" sz="2800" b="1" dirty="0">
                <a:latin typeface="+mj-lt"/>
              </a:rPr>
              <a:t>how</a:t>
            </a:r>
            <a:r>
              <a:rPr lang="en-GB" sz="2800" dirty="0">
                <a:latin typeface="+mj-lt"/>
              </a:rPr>
              <a:t> the data is stored in the database. </a:t>
            </a:r>
            <a:r>
              <a:rPr lang="en-US" sz="2800" dirty="0">
                <a:latin typeface="+mj-lt"/>
              </a:rPr>
              <a:t>In other words,   the </a:t>
            </a:r>
            <a:r>
              <a:rPr lang="en-GB" sz="2800" dirty="0">
                <a:latin typeface="+mj-lt"/>
              </a:rPr>
              <a:t>physical representation of the database on the computer.</a:t>
            </a:r>
          </a:p>
          <a:p>
            <a:pPr lvl="1" eaLnBrk="1" hangingPunct="1">
              <a:buClr>
                <a:schemeClr val="bg2"/>
              </a:buClr>
              <a:buSzPct val="100000"/>
              <a:buFont typeface="Wingdings" pitchFamily="2" charset="2"/>
              <a:buChar char=""/>
            </a:pPr>
            <a:r>
              <a:rPr lang="en-US" sz="2800" dirty="0">
                <a:latin typeface="+mj-lt"/>
              </a:rPr>
              <a:t>The Internal level is defined by means of an internal schema , which includes Description of  the physical storage structure of the database</a:t>
            </a:r>
            <a:endParaRPr lang="en-GB" sz="2800" dirty="0">
              <a:latin typeface="+mj-lt"/>
            </a:endParaRPr>
          </a:p>
        </p:txBody>
      </p:sp>
      <p:sp>
        <p:nvSpPr>
          <p:cNvPr id="25604" name="Slide Number Placeholder 5"/>
          <p:cNvSpPr>
            <a:spLocks noGrp="1"/>
          </p:cNvSpPr>
          <p:nvPr>
            <p:ph type="sldNum" sz="quarter" idx="12"/>
          </p:nvPr>
        </p:nvSpPr>
        <p:spPr>
          <a:noFill/>
        </p:spPr>
        <p:txBody>
          <a:bodyPr/>
          <a:lstStyle/>
          <a:p>
            <a:fld id="{40CAE4F2-61C0-46FE-9429-D0828A3581AE}" type="slidenum">
              <a:rPr lang="en-US" smtClean="0">
                <a:latin typeface="Arial" pitchFamily="34" charset="0"/>
                <a:ea typeface="ＭＳ Ｐゴシック" pitchFamily="34" charset="-128"/>
              </a:rPr>
              <a:pPr/>
              <a:t>28</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60809D04-AEB5-48DC-941B-4948BCC58147}"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78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78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789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lgn="ctr" eaLnBrk="1" hangingPunct="1"/>
            <a:r>
              <a:rPr lang="en-GB" sz="3200" b="1">
                <a:latin typeface="Times" pitchFamily="18" charset="0"/>
              </a:rPr>
              <a:t>DIFFERENCES</a:t>
            </a:r>
            <a:r>
              <a:rPr lang="en-GB" sz="2800" b="1">
                <a:latin typeface="Times" pitchFamily="18" charset="0"/>
              </a:rPr>
              <a:t> BETWEEN THREE LEVELS OF ANSI-SPARC ARCHITECTURE</a:t>
            </a:r>
          </a:p>
        </p:txBody>
      </p:sp>
      <p:sp>
        <p:nvSpPr>
          <p:cNvPr id="26627" name="Slide Number Placeholder 5"/>
          <p:cNvSpPr>
            <a:spLocks noGrp="1"/>
          </p:cNvSpPr>
          <p:nvPr>
            <p:ph type="sldNum" sz="quarter" idx="12"/>
          </p:nvPr>
        </p:nvSpPr>
        <p:spPr>
          <a:noFill/>
        </p:spPr>
        <p:txBody>
          <a:bodyPr/>
          <a:lstStyle/>
          <a:p>
            <a:fld id="{C4097A52-EAA4-427A-929F-21DF4BC27DB5}" type="slidenum">
              <a:rPr lang="en-US" smtClean="0">
                <a:latin typeface="Arial" pitchFamily="34" charset="0"/>
                <a:ea typeface="ＭＳ Ｐゴシック" pitchFamily="34" charset="-128"/>
              </a:rPr>
              <a:pPr/>
              <a:t>29</a:t>
            </a:fld>
            <a:endParaRPr lang="en-US">
              <a:latin typeface="Arial" pitchFamily="34" charset="0"/>
              <a:ea typeface="ＭＳ Ｐゴシック" pitchFamily="34" charset="-128"/>
            </a:endParaRPr>
          </a:p>
        </p:txBody>
      </p:sp>
      <p:pic>
        <p:nvPicPr>
          <p:cNvPr id="61445" name="Picture 5" descr="DS3-Figure 02-02"/>
          <p:cNvPicPr>
            <a:picLocks noChangeAspect="1" noChangeArrowheads="1"/>
          </p:cNvPicPr>
          <p:nvPr/>
        </p:nvPicPr>
        <p:blipFill>
          <a:blip r:embed="rId3"/>
          <a:srcRect/>
          <a:stretch>
            <a:fillRect/>
          </a:stretch>
        </p:blipFill>
        <p:spPr bwMode="auto">
          <a:xfrm>
            <a:off x="285750" y="1752600"/>
            <a:ext cx="8501063" cy="4891088"/>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BB290475-608C-45AC-BC63-95FB9A9B2195}"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14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Objective of ANSI-SPARC Architecture </a:t>
            </a:r>
          </a:p>
        </p:txBody>
      </p:sp>
      <p:sp>
        <p:nvSpPr>
          <p:cNvPr id="3" name="Content Placeholder 2"/>
          <p:cNvSpPr>
            <a:spLocks noGrp="1"/>
          </p:cNvSpPr>
          <p:nvPr>
            <p:ph idx="1"/>
          </p:nvPr>
        </p:nvSpPr>
        <p:spPr>
          <a:xfrm>
            <a:off x="214282" y="1785926"/>
            <a:ext cx="8715436" cy="4857784"/>
          </a:xfrm>
        </p:spPr>
        <p:txBody>
          <a:bodyPr/>
          <a:lstStyle/>
          <a:p>
            <a:pPr>
              <a:lnSpc>
                <a:spcPct val="150000"/>
              </a:lnSpc>
            </a:pPr>
            <a:r>
              <a:rPr lang="en-US" sz="1800" dirty="0"/>
              <a:t>To separate each user’s view of the database from the way the database is physically represented. Why?</a:t>
            </a:r>
          </a:p>
          <a:p>
            <a:pPr lvl="1">
              <a:lnSpc>
                <a:spcPct val="150000"/>
              </a:lnSpc>
            </a:pPr>
            <a:r>
              <a:rPr lang="en-US" sz="1800" dirty="0"/>
              <a:t>Each user </a:t>
            </a:r>
            <a:r>
              <a:rPr lang="en-US" sz="2000" dirty="0"/>
              <a:t>should</a:t>
            </a:r>
            <a:r>
              <a:rPr lang="en-US" sz="1800" dirty="0"/>
              <a:t> be able to access the same data, but have a different customized view of the data</a:t>
            </a:r>
          </a:p>
          <a:p>
            <a:pPr lvl="1">
              <a:lnSpc>
                <a:spcPct val="150000"/>
              </a:lnSpc>
            </a:pPr>
            <a:r>
              <a:rPr lang="en-US" sz="1800" dirty="0"/>
              <a:t>Users should not have to deal directly with physical database storage details. In other words, a user’s interaction with the database should be independent of storage considerations</a:t>
            </a:r>
          </a:p>
          <a:p>
            <a:pPr lvl="1">
              <a:lnSpc>
                <a:spcPct val="150000"/>
              </a:lnSpc>
            </a:pPr>
            <a:r>
              <a:rPr lang="en-US" sz="1800" dirty="0"/>
              <a:t>The  DBA should be able to change the database storage structures without affecting the users’ views.</a:t>
            </a:r>
          </a:p>
          <a:p>
            <a:pPr lvl="1">
              <a:lnSpc>
                <a:spcPct val="150000"/>
              </a:lnSpc>
            </a:pPr>
            <a:r>
              <a:rPr lang="en-US" sz="1800" dirty="0"/>
              <a:t>The DBA should be able to change the conceptual structure of the database without affecting all users.</a:t>
            </a:r>
          </a:p>
        </p:txBody>
      </p:sp>
      <p:sp>
        <p:nvSpPr>
          <p:cNvPr id="4" name="Slide Number Placeholder 3"/>
          <p:cNvSpPr>
            <a:spLocks noGrp="1"/>
          </p:cNvSpPr>
          <p:nvPr>
            <p:ph type="sldNum" sz="quarter" idx="12"/>
          </p:nvPr>
        </p:nvSpPr>
        <p:spPr/>
        <p:txBody>
          <a:bodyPr/>
          <a:lstStyle/>
          <a:p>
            <a:pPr>
              <a:defRPr/>
            </a:pPr>
            <a:fld id="{B06B4555-FED2-418E-93E5-6D623EF4EA77}" type="slidenum">
              <a:rPr lang="en-US" smtClean="0"/>
              <a:pPr>
                <a:defRPr/>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algn="ctr" eaLnBrk="1" hangingPunct="1"/>
            <a:r>
              <a:rPr lang="en-GB" sz="3200" b="1">
                <a:latin typeface="Times" pitchFamily="18" charset="0"/>
              </a:rPr>
              <a:t>Data Independence, Mapping and the ANSI-SPARC Three-level Architecture</a:t>
            </a:r>
          </a:p>
        </p:txBody>
      </p:sp>
      <p:sp>
        <p:nvSpPr>
          <p:cNvPr id="28675" name="Slide Number Placeholder 5"/>
          <p:cNvSpPr>
            <a:spLocks noGrp="1"/>
          </p:cNvSpPr>
          <p:nvPr>
            <p:ph type="sldNum" sz="quarter" idx="12"/>
          </p:nvPr>
        </p:nvSpPr>
        <p:spPr>
          <a:noFill/>
        </p:spPr>
        <p:txBody>
          <a:bodyPr/>
          <a:lstStyle/>
          <a:p>
            <a:fld id="{F69B194F-9D73-45B9-9B97-B6BA5DD7D374}" type="slidenum">
              <a:rPr lang="en-US" smtClean="0">
                <a:latin typeface="Arial" pitchFamily="34" charset="0"/>
                <a:ea typeface="ＭＳ Ｐゴシック" pitchFamily="34" charset="-128"/>
              </a:rPr>
              <a:pPr/>
              <a:t>31</a:t>
            </a:fld>
            <a:endParaRPr lang="en-US">
              <a:latin typeface="Arial" pitchFamily="34" charset="0"/>
              <a:ea typeface="ＭＳ Ｐゴシック" pitchFamily="34" charset="-128"/>
            </a:endParaRPr>
          </a:p>
        </p:txBody>
      </p:sp>
      <p:pic>
        <p:nvPicPr>
          <p:cNvPr id="41989" name="Picture 5" descr="DS3-Figure 02-03"/>
          <p:cNvPicPr>
            <a:picLocks noChangeAspect="1" noChangeArrowheads="1"/>
          </p:cNvPicPr>
          <p:nvPr/>
        </p:nvPicPr>
        <p:blipFill>
          <a:blip r:embed="rId2"/>
          <a:srcRect/>
          <a:stretch>
            <a:fillRect/>
          </a:stretch>
        </p:blipFill>
        <p:spPr bwMode="auto">
          <a:xfrm>
            <a:off x="382588" y="1806575"/>
            <a:ext cx="8582025" cy="4214813"/>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18DC8BD3-CDA4-4D18-BA3D-7A7B7EEA708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19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571472" y="714356"/>
            <a:ext cx="7772400" cy="785813"/>
          </a:xfrm>
        </p:spPr>
        <p:txBody>
          <a:bodyPr/>
          <a:lstStyle/>
          <a:p>
            <a:pPr eaLnBrk="1" hangingPunct="1"/>
            <a:r>
              <a:rPr lang="en-US" sz="3200" b="1" dirty="0">
                <a:latin typeface="Times" pitchFamily="18" charset="0"/>
              </a:rPr>
              <a:t>DATA INDEPENDENCE</a:t>
            </a:r>
          </a:p>
        </p:txBody>
      </p:sp>
      <p:sp>
        <p:nvSpPr>
          <p:cNvPr id="16387" name="Content Placeholder 2" descr="Rectangle: Click to edit Master text styles&#10;Second level&#10;Third level&#10;Fourth level&#10;Fifth level"/>
          <p:cNvSpPr>
            <a:spLocks noGrp="1"/>
          </p:cNvSpPr>
          <p:nvPr>
            <p:ph idx="1"/>
          </p:nvPr>
        </p:nvSpPr>
        <p:spPr>
          <a:xfrm>
            <a:off x="0" y="1571612"/>
            <a:ext cx="8786813" cy="5072076"/>
          </a:xfrm>
        </p:spPr>
        <p:txBody>
          <a:bodyPr/>
          <a:lstStyle/>
          <a:p>
            <a:pPr eaLnBrk="1" hangingPunct="1">
              <a:buFont typeface="Wingdings" pitchFamily="-105" charset="2"/>
              <a:buChar char="o"/>
              <a:defRPr/>
            </a:pPr>
            <a:r>
              <a:rPr lang="en-US" sz="2200" dirty="0">
                <a:latin typeface="Times"/>
              </a:rPr>
              <a:t>Data Independence means that the higher levels of the database model are designed to be unaffected by changes to the lower levels. Each higher level of the data architecture is immune to changes of the next level of the architecture</a:t>
            </a:r>
          </a:p>
          <a:p>
            <a:pPr eaLnBrk="1" hangingPunct="1">
              <a:buFont typeface="Wingdings" pitchFamily="-105" charset="2"/>
              <a:buChar char="o"/>
              <a:defRPr/>
            </a:pPr>
            <a:r>
              <a:rPr lang="en-US" sz="2200" dirty="0">
                <a:latin typeface="Times"/>
              </a:rPr>
              <a:t>There are two types of Data Independence; logical and physical</a:t>
            </a:r>
          </a:p>
          <a:p>
            <a:pPr marL="469900" lvl="1" indent="-469900" eaLnBrk="1" hangingPunct="1">
              <a:buClr>
                <a:schemeClr val="bg2"/>
              </a:buClr>
              <a:buSzPct val="70000"/>
              <a:buFont typeface="Wingdings" pitchFamily="-105" charset="2"/>
              <a:buChar char="o"/>
              <a:defRPr/>
            </a:pPr>
            <a:r>
              <a:rPr lang="en-US" sz="2200" b="1" dirty="0">
                <a:latin typeface="Times"/>
              </a:rPr>
              <a:t>Logical data independence</a:t>
            </a:r>
          </a:p>
          <a:p>
            <a:pPr lvl="1" eaLnBrk="1" hangingPunct="1">
              <a:buClr>
                <a:schemeClr val="bg2"/>
              </a:buClr>
              <a:buSzPct val="100000"/>
              <a:buFont typeface="Wingdings" pitchFamily="2" charset="2"/>
              <a:buChar char="ü"/>
              <a:defRPr/>
            </a:pPr>
            <a:r>
              <a:rPr lang="en-GB" sz="2200" dirty="0">
                <a:latin typeface="Times"/>
              </a:rPr>
              <a:t>Refers to immunity of external schemas to changes in conceptual schema.</a:t>
            </a:r>
          </a:p>
          <a:p>
            <a:pPr lvl="1" eaLnBrk="1" hangingPunct="1">
              <a:buClr>
                <a:schemeClr val="bg2"/>
              </a:buClr>
              <a:buSzPct val="100000"/>
              <a:buFont typeface="Wingdings" pitchFamily="2" charset="2"/>
              <a:buChar char="ü"/>
              <a:defRPr/>
            </a:pPr>
            <a:r>
              <a:rPr lang="en-GB" sz="2200" dirty="0">
                <a:latin typeface="Times"/>
              </a:rPr>
              <a:t>Conceptual schema changes (e.g. addition/removal of entities) should not require changes to external schema or rewrites of application </a:t>
            </a:r>
            <a:r>
              <a:rPr lang="en-GB" sz="2200" dirty="0">
                <a:latin typeface="Times" pitchFamily="-105" charset="0"/>
              </a:rPr>
              <a:t>programs</a:t>
            </a:r>
            <a:r>
              <a:rPr lang="en-GB" sz="3000" dirty="0">
                <a:latin typeface="Times" pitchFamily="-105" charset="0"/>
              </a:rPr>
              <a:t>. </a:t>
            </a:r>
          </a:p>
          <a:p>
            <a:pPr lvl="1" eaLnBrk="1" hangingPunct="1">
              <a:buClr>
                <a:schemeClr val="bg2"/>
              </a:buClr>
              <a:buSzPct val="100000"/>
              <a:buFont typeface="Wingdings" pitchFamily="-105" charset="2"/>
              <a:buNone/>
              <a:defRPr/>
            </a:pPr>
            <a:r>
              <a:rPr lang="en-US" dirty="0">
                <a:latin typeface="Times" pitchFamily="-105" charset="0"/>
              </a:rPr>
              <a:t/>
            </a:r>
            <a:br>
              <a:rPr lang="en-US" dirty="0">
                <a:latin typeface="Times" pitchFamily="-105" charset="0"/>
              </a:rPr>
            </a:br>
            <a:endParaRPr lang="en-US" dirty="0">
              <a:latin typeface="Times" pitchFamily="-105" charset="0"/>
            </a:endParaRPr>
          </a:p>
        </p:txBody>
      </p:sp>
      <p:sp>
        <p:nvSpPr>
          <p:cNvPr id="29700" name="Slide Number Placeholder 3"/>
          <p:cNvSpPr>
            <a:spLocks noGrp="1"/>
          </p:cNvSpPr>
          <p:nvPr>
            <p:ph type="sldNum" sz="quarter" idx="12"/>
          </p:nvPr>
        </p:nvSpPr>
        <p:spPr>
          <a:noFill/>
        </p:spPr>
        <p:txBody>
          <a:bodyPr/>
          <a:lstStyle/>
          <a:p>
            <a:fld id="{439DE2D4-9450-4DC9-91A3-F4755671FEEC}" type="slidenum">
              <a:rPr lang="en-US" smtClean="0">
                <a:latin typeface="Arial" pitchFamily="34" charset="0"/>
                <a:ea typeface="ＭＳ Ｐゴシック" pitchFamily="34" charset="-128"/>
              </a:rPr>
              <a:pPr/>
              <a:t>32</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A537429-172A-486F-8573-45F9599E4C9B}"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395288" y="1052513"/>
            <a:ext cx="7772400" cy="642937"/>
          </a:xfrm>
        </p:spPr>
        <p:txBody>
          <a:bodyPr/>
          <a:lstStyle/>
          <a:p>
            <a:pPr eaLnBrk="1" hangingPunct="1"/>
            <a:r>
              <a:rPr lang="en-GB" sz="3200" b="1">
                <a:latin typeface="Times" pitchFamily="18" charset="0"/>
              </a:rPr>
              <a:t>DATA INDEPENDENCE cont’d</a:t>
            </a:r>
          </a:p>
        </p:txBody>
      </p:sp>
      <p:sp>
        <p:nvSpPr>
          <p:cNvPr id="39939" name="Rectangle 3" descr="Rectangle: Click to edit Master text styles&#10;Second level&#10;Third level&#10;Fourth level&#10;Fifth level"/>
          <p:cNvSpPr>
            <a:spLocks noGrp="1" noChangeArrowheads="1"/>
          </p:cNvSpPr>
          <p:nvPr>
            <p:ph idx="1"/>
          </p:nvPr>
        </p:nvSpPr>
        <p:spPr>
          <a:xfrm>
            <a:off x="285750" y="1785938"/>
            <a:ext cx="8501063" cy="4857750"/>
          </a:xfrm>
        </p:spPr>
        <p:txBody>
          <a:bodyPr/>
          <a:lstStyle/>
          <a:p>
            <a:pPr eaLnBrk="1" hangingPunct="1"/>
            <a:r>
              <a:rPr lang="en-GB" sz="2800" b="1" dirty="0"/>
              <a:t>Physical Data Independence</a:t>
            </a:r>
          </a:p>
          <a:p>
            <a:pPr lvl="1" eaLnBrk="1" hangingPunct="1">
              <a:buClr>
                <a:schemeClr val="bg2"/>
              </a:buClr>
              <a:buSzPct val="100000"/>
              <a:buFont typeface="Wingdings" pitchFamily="2" charset="2"/>
              <a:buChar char="ü"/>
            </a:pPr>
            <a:r>
              <a:rPr lang="en-GB" sz="2800" dirty="0"/>
              <a:t>Refers to immunity of conceptual schema to changes in the internal schema.</a:t>
            </a:r>
          </a:p>
          <a:p>
            <a:pPr lvl="1" eaLnBrk="1" hangingPunct="1">
              <a:buClr>
                <a:schemeClr val="bg2"/>
              </a:buClr>
              <a:buSzPct val="100000"/>
              <a:buFont typeface="Wingdings" pitchFamily="2" charset="2"/>
              <a:buChar char="ü"/>
            </a:pPr>
            <a:r>
              <a:rPr lang="en-US" sz="2800" dirty="0"/>
              <a:t>Physical data independence deals with hiding the details of the storage structure from user applications. </a:t>
            </a:r>
            <a:endParaRPr lang="en-GB" sz="2800" dirty="0"/>
          </a:p>
          <a:p>
            <a:pPr lvl="1" eaLnBrk="1" hangingPunct="1">
              <a:buClr>
                <a:schemeClr val="bg2"/>
              </a:buClr>
              <a:buSzPct val="100000"/>
              <a:buFont typeface="Wingdings" pitchFamily="2" charset="2"/>
              <a:buChar char="ü"/>
            </a:pPr>
            <a:r>
              <a:rPr lang="en-GB" sz="2800" dirty="0"/>
              <a:t>Internal schema changes (e.g. using different file organizations, storage structures/devices) should not require change to conceptual or external schemas</a:t>
            </a:r>
            <a:r>
              <a:rPr lang="en-GB" sz="2800" dirty="0">
                <a:latin typeface="Times" pitchFamily="18" charset="0"/>
              </a:rPr>
              <a:t>.</a:t>
            </a:r>
          </a:p>
        </p:txBody>
      </p:sp>
      <p:sp>
        <p:nvSpPr>
          <p:cNvPr id="30724" name="Slide Number Placeholder 5"/>
          <p:cNvSpPr>
            <a:spLocks noGrp="1"/>
          </p:cNvSpPr>
          <p:nvPr>
            <p:ph type="sldNum" sz="quarter" idx="12"/>
          </p:nvPr>
        </p:nvSpPr>
        <p:spPr>
          <a:noFill/>
        </p:spPr>
        <p:txBody>
          <a:bodyPr/>
          <a:lstStyle/>
          <a:p>
            <a:fld id="{73E43D5A-3B96-4F80-8FBD-A9BEA28F8F99}" type="slidenum">
              <a:rPr lang="en-US" smtClean="0">
                <a:latin typeface="Arial" pitchFamily="34" charset="0"/>
                <a:ea typeface="ＭＳ Ｐゴシック" pitchFamily="34" charset="-128"/>
              </a:rPr>
              <a:pPr/>
              <a:t>33</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745334E4-D719-425C-AC33-AE757AE4C863}"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9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99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99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99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500034" y="857238"/>
            <a:ext cx="7772400" cy="857250"/>
          </a:xfrm>
        </p:spPr>
        <p:txBody>
          <a:bodyPr/>
          <a:lstStyle/>
          <a:p>
            <a:pPr eaLnBrk="1" hangingPunct="1"/>
            <a:r>
              <a:rPr lang="en-US" sz="3200" b="1" dirty="0">
                <a:latin typeface="Times" pitchFamily="18" charset="0"/>
              </a:rPr>
              <a:t>MAPPINGS</a:t>
            </a:r>
          </a:p>
        </p:txBody>
      </p:sp>
      <p:sp>
        <p:nvSpPr>
          <p:cNvPr id="31747" name="Content Placeholder 2" descr="Rectangle: Click to edit Master text styles&#10;Second level&#10;Third level&#10;Fourth level&#10;Fifth level"/>
          <p:cNvSpPr>
            <a:spLocks noGrp="1"/>
          </p:cNvSpPr>
          <p:nvPr>
            <p:ph idx="1"/>
          </p:nvPr>
        </p:nvSpPr>
        <p:spPr>
          <a:xfrm>
            <a:off x="214313" y="1714500"/>
            <a:ext cx="8715375" cy="4929188"/>
          </a:xfrm>
        </p:spPr>
        <p:txBody>
          <a:bodyPr/>
          <a:lstStyle/>
          <a:p>
            <a:pPr eaLnBrk="1" hangingPunct="1"/>
            <a:r>
              <a:rPr lang="en-US" dirty="0">
                <a:latin typeface="Times" pitchFamily="18" charset="0"/>
              </a:rPr>
              <a:t>Mappings between the different database schemas allows for data independence. The DBMS manages these mappings and checks the schemas for consistency.</a:t>
            </a:r>
          </a:p>
          <a:p>
            <a:pPr lvl="1" eaLnBrk="1" hangingPunct="1">
              <a:spcBef>
                <a:spcPts val="600"/>
              </a:spcBef>
              <a:spcAft>
                <a:spcPts val="600"/>
              </a:spcAft>
              <a:buClr>
                <a:schemeClr val="bg2"/>
              </a:buClr>
              <a:buSzPct val="100000"/>
              <a:buFont typeface="Wingdings" pitchFamily="2" charset="2"/>
              <a:buChar char="ü"/>
            </a:pPr>
            <a:r>
              <a:rPr lang="en-US" b="1" dirty="0">
                <a:latin typeface="Times" pitchFamily="18" charset="0"/>
              </a:rPr>
              <a:t>External-Conceptual mappings </a:t>
            </a:r>
            <a:r>
              <a:rPr lang="en-US" i="1" dirty="0">
                <a:latin typeface="Times" pitchFamily="18" charset="0"/>
              </a:rPr>
              <a:t>enable the DBMS to match names of data items etc... in the user's view with the parts of the conceptual schema that correspond to those items</a:t>
            </a:r>
            <a:r>
              <a:rPr lang="en-US" sz="1800" i="1" dirty="0">
                <a:latin typeface="Times" pitchFamily="18" charset="0"/>
              </a:rPr>
              <a:t>.</a:t>
            </a:r>
          </a:p>
          <a:p>
            <a:pPr lvl="1" eaLnBrk="1" hangingPunct="1">
              <a:spcBef>
                <a:spcPts val="600"/>
              </a:spcBef>
              <a:spcAft>
                <a:spcPts val="600"/>
              </a:spcAft>
              <a:buClr>
                <a:schemeClr val="bg2"/>
              </a:buClr>
              <a:buSzPct val="100000"/>
              <a:buFont typeface="Wingdings" pitchFamily="2" charset="2"/>
              <a:buChar char="ü"/>
            </a:pPr>
            <a:r>
              <a:rPr lang="en-US" b="1" dirty="0">
                <a:latin typeface="Times" pitchFamily="18" charset="0"/>
              </a:rPr>
              <a:t>Internal-Conceptual mappings </a:t>
            </a:r>
            <a:r>
              <a:rPr lang="en-US" i="1" dirty="0">
                <a:latin typeface="Times" pitchFamily="18" charset="0"/>
              </a:rPr>
              <a:t>enable</a:t>
            </a:r>
            <a:r>
              <a:rPr lang="en-US" sz="3200" i="1" dirty="0">
                <a:latin typeface="Times" pitchFamily="18" charset="0"/>
              </a:rPr>
              <a:t> the DBMS </a:t>
            </a:r>
            <a:r>
              <a:rPr lang="en-US" dirty="0">
                <a:latin typeface="Times" pitchFamily="18" charset="0"/>
                <a:ea typeface="+mn-ea"/>
              </a:rPr>
              <a:t>to find records within the database storage medium that correspond to the logical record in the conceptual schema.</a:t>
            </a:r>
          </a:p>
          <a:p>
            <a:pPr lvl="1" eaLnBrk="1" hangingPunct="1">
              <a:spcBef>
                <a:spcPts val="600"/>
              </a:spcBef>
              <a:spcAft>
                <a:spcPts val="600"/>
              </a:spcAft>
              <a:buClr>
                <a:schemeClr val="bg2"/>
              </a:buClr>
              <a:buSzPct val="100000"/>
              <a:buFont typeface="Wingdings" pitchFamily="2" charset="2"/>
              <a:buChar char="ü"/>
            </a:pPr>
            <a:endParaRPr lang="en-US" dirty="0">
              <a:latin typeface="Times" pitchFamily="18" charset="0"/>
              <a:ea typeface="+mn-ea"/>
            </a:endParaRPr>
          </a:p>
        </p:txBody>
      </p:sp>
      <p:sp>
        <p:nvSpPr>
          <p:cNvPr id="31748" name="Slide Number Placeholder 3"/>
          <p:cNvSpPr>
            <a:spLocks noGrp="1"/>
          </p:cNvSpPr>
          <p:nvPr>
            <p:ph type="sldNum" sz="quarter" idx="12"/>
          </p:nvPr>
        </p:nvSpPr>
        <p:spPr>
          <a:noFill/>
        </p:spPr>
        <p:txBody>
          <a:bodyPr/>
          <a:lstStyle/>
          <a:p>
            <a:fld id="{BB3C9BD4-00A4-4140-837F-20C6F9520B23}" type="slidenum">
              <a:rPr lang="en-US" smtClean="0">
                <a:latin typeface="Arial" pitchFamily="34" charset="0"/>
                <a:ea typeface="ＭＳ Ｐゴシック" pitchFamily="34" charset="-128"/>
              </a:rPr>
              <a:pPr/>
              <a:t>34</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117FFF81-B10F-47C2-A5A0-367EEC998B90}"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6"/>
          <p:cNvSpPr>
            <a:spLocks noGrp="1"/>
          </p:cNvSpPr>
          <p:nvPr>
            <p:ph type="ctrTitle"/>
          </p:nvPr>
        </p:nvSpPr>
        <p:spPr>
          <a:xfrm>
            <a:off x="611188" y="1371600"/>
            <a:ext cx="7921625" cy="2057400"/>
          </a:xfrm>
        </p:spPr>
        <p:txBody>
          <a:bodyPr/>
          <a:lstStyle/>
          <a:p>
            <a:pPr eaLnBrk="1" hangingPunct="1"/>
            <a:r>
              <a:rPr lang="en-US" b="1" dirty="0"/>
              <a:t>Lecture 1 part 3</a:t>
            </a:r>
            <a:r>
              <a:rPr lang="en-US" dirty="0"/>
              <a:t/>
            </a:r>
            <a:br>
              <a:rPr lang="en-US" dirty="0"/>
            </a:br>
            <a:r>
              <a:rPr lang="en-US" dirty="0"/>
              <a:t/>
            </a:r>
            <a:br>
              <a:rPr lang="en-US" dirty="0"/>
            </a:br>
            <a:r>
              <a:rPr lang="en-US" dirty="0"/>
              <a:t>Database System Development Life-cycle</a:t>
            </a:r>
          </a:p>
        </p:txBody>
      </p:sp>
      <p:sp>
        <p:nvSpPr>
          <p:cNvPr id="4" name="Subtitle 3"/>
          <p:cNvSpPr>
            <a:spLocks noGrp="1"/>
          </p:cNvSpPr>
          <p:nvPr>
            <p:ph type="subTitle" idx="1"/>
          </p:nvPr>
        </p:nvSpPr>
        <p:spPr/>
        <p:txBody>
          <a:bodyPr/>
          <a:lstStyle/>
          <a:p>
            <a:pPr eaLnBrk="1" hangingPunct="1">
              <a:defRPr/>
            </a:pPr>
            <a:r>
              <a:rPr lang="en-US" dirty="0">
                <a:latin typeface="+mj-lt"/>
              </a:rPr>
              <a:t>(</a:t>
            </a:r>
            <a:r>
              <a:rPr lang="en-US" b="1" dirty="0">
                <a:solidFill>
                  <a:srgbClr val="FF0000"/>
                </a:solidFill>
                <a:latin typeface="+mj-lt"/>
              </a:rPr>
              <a:t>D</a:t>
            </a:r>
            <a:r>
              <a:rPr lang="en-US" b="1" dirty="0">
                <a:latin typeface="+mj-lt"/>
              </a:rPr>
              <a:t>SDLC</a:t>
            </a:r>
            <a:r>
              <a:rPr lang="en-US" dirty="0">
                <a:latin typeface="+mj-lt"/>
              </a:rPr>
              <a:t>)</a:t>
            </a:r>
          </a:p>
        </p:txBody>
      </p:sp>
      <p:sp>
        <p:nvSpPr>
          <p:cNvPr id="5" name="Date Placeholder 4"/>
          <p:cNvSpPr>
            <a:spLocks noGrp="1"/>
          </p:cNvSpPr>
          <p:nvPr>
            <p:ph type="dt" sz="half" idx="10"/>
          </p:nvPr>
        </p:nvSpPr>
        <p:spPr/>
        <p:txBody>
          <a:bodyPr/>
          <a:lstStyle/>
          <a:p>
            <a:pPr>
              <a:defRPr/>
            </a:pPr>
            <a:fld id="{640C6643-7C65-4C9E-8471-044A888D12E7}" type="datetime1">
              <a:rPr lang="en-US" smtClean="0"/>
              <a:pPr>
                <a:defRPr/>
              </a:pPr>
              <a:t>5/30/2022</a:t>
            </a:fld>
            <a:endParaRPr lang="en-US"/>
          </a:p>
        </p:txBody>
      </p:sp>
      <p:sp>
        <p:nvSpPr>
          <p:cNvPr id="6" name="Slide Number Placeholder 5"/>
          <p:cNvSpPr>
            <a:spLocks noGrp="1"/>
          </p:cNvSpPr>
          <p:nvPr>
            <p:ph type="sldNum" sz="quarter" idx="12"/>
          </p:nvPr>
        </p:nvSpPr>
        <p:spPr/>
        <p:txBody>
          <a:bodyPr/>
          <a:lstStyle/>
          <a:p>
            <a:pPr>
              <a:defRPr/>
            </a:pPr>
            <a:fld id="{CBD16A5B-238A-4A6C-BF38-058D68FB77C6}" type="slidenum">
              <a:rPr lang="en-US" smtClean="0"/>
              <a:pPr>
                <a:defRPr/>
              </a:pPr>
              <a:t>35</a:t>
            </a:fld>
            <a:endParaRPr lang="en-US"/>
          </a:p>
        </p:txBody>
      </p:sp>
      <p:sp>
        <p:nvSpPr>
          <p:cNvPr id="7" name="Footer Placeholder 6"/>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836613"/>
            <a:ext cx="8291513" cy="889000"/>
          </a:xfrm>
        </p:spPr>
        <p:txBody>
          <a:bodyPr lIns="90488" tIns="44450" rIns="90488" bIns="44450"/>
          <a:lstStyle/>
          <a:p>
            <a:pPr algn="just" eaLnBrk="1" hangingPunct="1"/>
            <a:r>
              <a:rPr lang="en-GB" sz="2400" b="1"/>
              <a:t>DATABASE SYSTEM DEVELOPMENT LIFECYCLE</a:t>
            </a:r>
          </a:p>
        </p:txBody>
      </p:sp>
      <p:sp>
        <p:nvSpPr>
          <p:cNvPr id="17411" name="Rectangle 3"/>
          <p:cNvSpPr>
            <a:spLocks noGrp="1" noChangeArrowheads="1"/>
          </p:cNvSpPr>
          <p:nvPr>
            <p:ph idx="1"/>
          </p:nvPr>
        </p:nvSpPr>
        <p:spPr>
          <a:xfrm>
            <a:off x="381000" y="1773238"/>
            <a:ext cx="8294688" cy="1439862"/>
          </a:xfrm>
        </p:spPr>
        <p:txBody>
          <a:bodyPr lIns="90488" tIns="44450" rIns="90488" bIns="44450"/>
          <a:lstStyle/>
          <a:p>
            <a:pPr eaLnBrk="1" hangingPunct="1">
              <a:spcAft>
                <a:spcPts val="600"/>
              </a:spcAft>
              <a:buFont typeface="Wingdings" pitchFamily="2" charset="2"/>
              <a:buNone/>
            </a:pPr>
            <a:r>
              <a:rPr lang="en-US">
                <a:latin typeface="Times" pitchFamily="18" charset="0"/>
                <a:cs typeface="Times New Roman" pitchFamily="18" charset="0"/>
              </a:rPr>
              <a:t>Consists of 11 steps which are not strictly sequential but are iterative to some extent; there are feedback loops between most stages of the lifecycle. </a:t>
            </a:r>
            <a:endParaRPr lang="en-GB">
              <a:latin typeface="Times" pitchFamily="18" charset="0"/>
              <a:cs typeface="Times New Roman" pitchFamily="18" charset="0"/>
            </a:endParaRPr>
          </a:p>
        </p:txBody>
      </p:sp>
      <p:sp>
        <p:nvSpPr>
          <p:cNvPr id="33796" name="Slide Number Placeholder 5"/>
          <p:cNvSpPr>
            <a:spLocks noGrp="1"/>
          </p:cNvSpPr>
          <p:nvPr>
            <p:ph type="sldNum" sz="quarter" idx="12"/>
          </p:nvPr>
        </p:nvSpPr>
        <p:spPr>
          <a:noFill/>
        </p:spPr>
        <p:txBody>
          <a:bodyPr/>
          <a:lstStyle/>
          <a:p>
            <a:fld id="{D4B06CC0-6873-45A4-86C2-6B27DD5DA3F4}" type="slidenum">
              <a:rPr lang="en-US" smtClean="0">
                <a:latin typeface="Arial" pitchFamily="34" charset="0"/>
                <a:ea typeface="ＭＳ Ｐゴシック" pitchFamily="34" charset="-128"/>
              </a:rPr>
              <a:pPr/>
              <a:t>36</a:t>
            </a:fld>
            <a:endParaRPr lang="en-US">
              <a:latin typeface="Arial" pitchFamily="34" charset="0"/>
              <a:ea typeface="ＭＳ Ｐゴシック" pitchFamily="34" charset="-128"/>
            </a:endParaRPr>
          </a:p>
        </p:txBody>
      </p:sp>
      <p:sp>
        <p:nvSpPr>
          <p:cNvPr id="33797" name="TextBox 5"/>
          <p:cNvSpPr txBox="1">
            <a:spLocks noChangeArrowheads="1"/>
          </p:cNvSpPr>
          <p:nvPr/>
        </p:nvSpPr>
        <p:spPr bwMode="auto">
          <a:xfrm>
            <a:off x="4786314" y="2857496"/>
            <a:ext cx="3816350" cy="2894012"/>
          </a:xfrm>
          <a:prstGeom prst="rect">
            <a:avLst/>
          </a:prstGeom>
          <a:noFill/>
          <a:ln w="9525">
            <a:noFill/>
            <a:miter lim="800000"/>
            <a:headEnd/>
            <a:tailEnd/>
          </a:ln>
        </p:spPr>
        <p:txBody>
          <a:bodyPr>
            <a:spAutoFit/>
          </a:bodyPr>
          <a:lstStyle/>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Application design</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Prototyping (optional)</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Implementation</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Data conversion and loading</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Testing</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Operational maintenance.</a:t>
            </a:r>
          </a:p>
        </p:txBody>
      </p:sp>
      <p:sp>
        <p:nvSpPr>
          <p:cNvPr id="33798" name="TextBox 6"/>
          <p:cNvSpPr txBox="1">
            <a:spLocks noChangeArrowheads="1"/>
          </p:cNvSpPr>
          <p:nvPr/>
        </p:nvSpPr>
        <p:spPr bwMode="auto">
          <a:xfrm>
            <a:off x="428596" y="2786058"/>
            <a:ext cx="4032250" cy="2740025"/>
          </a:xfrm>
          <a:prstGeom prst="rect">
            <a:avLst/>
          </a:prstGeom>
          <a:noFill/>
          <a:ln w="9525">
            <a:noFill/>
            <a:miter lim="800000"/>
            <a:headEnd/>
            <a:tailEnd/>
          </a:ln>
        </p:spPr>
        <p:txBody>
          <a:bodyPr>
            <a:spAutoFit/>
          </a:bodyPr>
          <a:lstStyle/>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Database planning</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System definition</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Requirements collection and analysis</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Database design</a:t>
            </a:r>
          </a:p>
          <a:p>
            <a:pPr marL="350838" lvl="1" indent="-350838">
              <a:spcBef>
                <a:spcPts val="600"/>
              </a:spcBef>
              <a:spcAft>
                <a:spcPts val="600"/>
              </a:spcAft>
              <a:buClr>
                <a:schemeClr val="bg2"/>
              </a:buClr>
              <a:buSzPct val="100000"/>
              <a:buFont typeface="Wingdings" pitchFamily="2" charset="2"/>
              <a:buChar char="ü"/>
            </a:pPr>
            <a:r>
              <a:rPr lang="en-GB" sz="2200" i="1" dirty="0">
                <a:latin typeface="Times" pitchFamily="18" charset="0"/>
                <a:cs typeface="Times New Roman" pitchFamily="18" charset="0"/>
              </a:rPr>
              <a:t>DBMS selection (optional)</a:t>
            </a:r>
          </a:p>
        </p:txBody>
      </p:sp>
      <p:sp>
        <p:nvSpPr>
          <p:cNvPr id="7" name="Date Placeholder 6"/>
          <p:cNvSpPr>
            <a:spLocks noGrp="1"/>
          </p:cNvSpPr>
          <p:nvPr>
            <p:ph type="dt" sz="half" idx="10"/>
          </p:nvPr>
        </p:nvSpPr>
        <p:spPr/>
        <p:txBody>
          <a:bodyPr/>
          <a:lstStyle/>
          <a:p>
            <a:pPr>
              <a:defRPr/>
            </a:pPr>
            <a:fld id="{A25D03BB-F236-4B1C-9CB0-568A5E1C3B6A}" type="datetime1">
              <a:rPr lang="en-US" smtClean="0"/>
              <a:pPr>
                <a:defRPr/>
              </a:pPr>
              <a:t>5/30/2022</a:t>
            </a:fld>
            <a:endParaRPr lang="en-US"/>
          </a:p>
        </p:txBody>
      </p:sp>
      <p:sp>
        <p:nvSpPr>
          <p:cNvPr id="8" name="Footer Placeholder 7"/>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p:spPr>
        <p:txBody>
          <a:bodyPr/>
          <a:lstStyle/>
          <a:p>
            <a:fld id="{A10DE0B4-688A-41FB-82F2-B1F111B7CEE5}" type="slidenum">
              <a:rPr lang="en-US" smtClean="0">
                <a:latin typeface="Arial" pitchFamily="34" charset="0"/>
                <a:ea typeface="ＭＳ Ｐゴシック" pitchFamily="34" charset="-128"/>
              </a:rPr>
              <a:pPr/>
              <a:t>37</a:t>
            </a:fld>
            <a:endParaRPr lang="en-US">
              <a:latin typeface="Arial" pitchFamily="34" charset="0"/>
              <a:ea typeface="ＭＳ Ｐゴシック" pitchFamily="34" charset="-128"/>
            </a:endParaRPr>
          </a:p>
        </p:txBody>
      </p:sp>
      <p:pic>
        <p:nvPicPr>
          <p:cNvPr id="122885" name="Picture 1029" descr="DS3-Figure 09-01"/>
          <p:cNvPicPr>
            <a:picLocks noChangeAspect="1" noChangeArrowheads="1"/>
          </p:cNvPicPr>
          <p:nvPr/>
        </p:nvPicPr>
        <p:blipFill>
          <a:blip r:embed="rId2"/>
          <a:srcRect/>
          <a:stretch>
            <a:fillRect/>
          </a:stretch>
        </p:blipFill>
        <p:spPr bwMode="auto">
          <a:xfrm>
            <a:off x="214282" y="500042"/>
            <a:ext cx="8715436" cy="6281758"/>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D1B2D9CE-EFC3-4B50-8BAC-0A419F49841D}"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228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1026"/>
          <p:cNvSpPr>
            <a:spLocks noGrp="1" noChangeArrowheads="1"/>
          </p:cNvSpPr>
          <p:nvPr>
            <p:ph type="title"/>
          </p:nvPr>
        </p:nvSpPr>
        <p:spPr>
          <a:xfrm>
            <a:off x="457200" y="981075"/>
            <a:ext cx="8229600" cy="762000"/>
          </a:xfrm>
        </p:spPr>
        <p:txBody>
          <a:bodyPr lIns="90488" tIns="44450" rIns="90488" bIns="44450"/>
          <a:lstStyle/>
          <a:p>
            <a:pPr eaLnBrk="1" hangingPunct="1"/>
            <a:r>
              <a:rPr lang="en-GB" b="1"/>
              <a:t>Step 1: Database Planning</a:t>
            </a:r>
          </a:p>
        </p:txBody>
      </p:sp>
      <p:sp>
        <p:nvSpPr>
          <p:cNvPr id="123907" name="Rectangle 1027"/>
          <p:cNvSpPr>
            <a:spLocks noGrp="1" noChangeArrowheads="1"/>
          </p:cNvSpPr>
          <p:nvPr>
            <p:ph idx="1"/>
          </p:nvPr>
        </p:nvSpPr>
        <p:spPr>
          <a:xfrm>
            <a:off x="457200" y="1773238"/>
            <a:ext cx="8291513" cy="5029200"/>
          </a:xfrm>
        </p:spPr>
        <p:txBody>
          <a:bodyPr lIns="90488" tIns="44450" rIns="90488" bIns="44450"/>
          <a:lstStyle/>
          <a:p>
            <a:pPr eaLnBrk="1" hangingPunct="1">
              <a:buFontTx/>
              <a:buNone/>
              <a:defRPr/>
            </a:pPr>
            <a:r>
              <a:rPr lang="en-GB" dirty="0"/>
              <a:t>	Management activities that allow stages of database application lifecycle to be realized as efficiently and effectively, as possible.</a:t>
            </a:r>
          </a:p>
          <a:p>
            <a:pPr lvl="1" eaLnBrk="1" hangingPunct="1">
              <a:defRPr/>
            </a:pPr>
            <a:r>
              <a:rPr lang="en-US" dirty="0">
                <a:latin typeface="Times" pitchFamily="18" charset="0"/>
                <a:cs typeface="Times New Roman" pitchFamily="18" charset="0"/>
              </a:rPr>
              <a:t>Must be integrated with overall IS strategy of the organization.</a:t>
            </a:r>
          </a:p>
          <a:p>
            <a:pPr marL="1270001" lvl="3" indent="-350838" eaLnBrk="1" hangingPunct="1">
              <a:spcBef>
                <a:spcPts val="600"/>
              </a:spcBef>
              <a:spcAft>
                <a:spcPts val="60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What the database application is going to do.</a:t>
            </a:r>
          </a:p>
          <a:p>
            <a:pPr marL="1270001" lvl="3" indent="-350838" eaLnBrk="1" hangingPunct="1">
              <a:spcBef>
                <a:spcPts val="600"/>
              </a:spcBef>
              <a:spcAft>
                <a:spcPts val="60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To what area it will be applied.</a:t>
            </a:r>
          </a:p>
          <a:p>
            <a:pPr marL="1270001" lvl="3" indent="-350838" eaLnBrk="1" hangingPunct="1">
              <a:spcBef>
                <a:spcPts val="600"/>
              </a:spcBef>
              <a:spcAft>
                <a:spcPts val="60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Who will be using it.</a:t>
            </a:r>
          </a:p>
        </p:txBody>
      </p:sp>
      <p:sp>
        <p:nvSpPr>
          <p:cNvPr id="35844" name="Slide Number Placeholder 5"/>
          <p:cNvSpPr>
            <a:spLocks noGrp="1"/>
          </p:cNvSpPr>
          <p:nvPr>
            <p:ph type="sldNum" sz="quarter" idx="12"/>
          </p:nvPr>
        </p:nvSpPr>
        <p:spPr>
          <a:noFill/>
        </p:spPr>
        <p:txBody>
          <a:bodyPr/>
          <a:lstStyle/>
          <a:p>
            <a:fld id="{9219FB57-0C1D-4AAE-93F5-4B3F4F859D67}" type="slidenum">
              <a:rPr lang="en-US" smtClean="0">
                <a:latin typeface="Arial" pitchFamily="34" charset="0"/>
                <a:ea typeface="ＭＳ Ｐゴシック" pitchFamily="34" charset="-128"/>
              </a:rPr>
              <a:pPr/>
              <a:t>38</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5C0BFBD2-EBAA-4CCB-B861-5EB1A9BBD5EA}"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39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390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2390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2390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lIns="90488" tIns="44450" rIns="90488" bIns="44450"/>
          <a:lstStyle/>
          <a:p>
            <a:pPr eaLnBrk="1" hangingPunct="1"/>
            <a:r>
              <a:rPr lang="en-GB" b="1"/>
              <a:t>Database Planning – Mission Statement</a:t>
            </a:r>
          </a:p>
        </p:txBody>
      </p:sp>
      <p:sp>
        <p:nvSpPr>
          <p:cNvPr id="19459" name="Rectangle 3"/>
          <p:cNvSpPr>
            <a:spLocks noGrp="1" noChangeArrowheads="1"/>
          </p:cNvSpPr>
          <p:nvPr>
            <p:ph idx="1"/>
          </p:nvPr>
        </p:nvSpPr>
        <p:spPr>
          <a:xfrm>
            <a:off x="228600" y="1752600"/>
            <a:ext cx="8520113" cy="4556125"/>
          </a:xfrm>
        </p:spPr>
        <p:txBody>
          <a:bodyPr lIns="90488" tIns="44450" rIns="90488" bIns="44450"/>
          <a:lstStyle/>
          <a:p>
            <a:pPr eaLnBrk="1" hangingPunct="1">
              <a:lnSpc>
                <a:spcPct val="90000"/>
              </a:lnSpc>
            </a:pPr>
            <a:r>
              <a:rPr lang="en-US" b="1" u="sng" dirty="0">
                <a:latin typeface="Times" pitchFamily="18" charset="0"/>
                <a:cs typeface="Times New Roman" pitchFamily="18" charset="0"/>
              </a:rPr>
              <a:t>Mission statement</a:t>
            </a:r>
            <a:r>
              <a:rPr lang="en-US" b="1" dirty="0">
                <a:latin typeface="Times" pitchFamily="18" charset="0"/>
                <a:cs typeface="Times New Roman" pitchFamily="18" charset="0"/>
              </a:rPr>
              <a:t> </a:t>
            </a:r>
            <a:r>
              <a:rPr lang="en-US" dirty="0">
                <a:latin typeface="Times" pitchFamily="18" charset="0"/>
                <a:cs typeface="Times New Roman" pitchFamily="18" charset="0"/>
              </a:rPr>
              <a:t>for the database project defines major aims of database application. </a:t>
            </a:r>
          </a:p>
          <a:p>
            <a:pPr eaLnBrk="1" hangingPunct="1">
              <a:lnSpc>
                <a:spcPct val="40000"/>
              </a:lnSpc>
            </a:pPr>
            <a:endParaRPr lang="en-US" dirty="0">
              <a:latin typeface="Times" pitchFamily="18" charset="0"/>
              <a:cs typeface="Times New Roman" pitchFamily="18" charset="0"/>
            </a:endParaRPr>
          </a:p>
          <a:p>
            <a:pPr eaLnBrk="1" hangingPunct="1">
              <a:lnSpc>
                <a:spcPct val="90000"/>
              </a:lnSpc>
            </a:pPr>
            <a:r>
              <a:rPr lang="en-US" dirty="0">
                <a:latin typeface="Times" pitchFamily="18" charset="0"/>
                <a:cs typeface="Times New Roman" pitchFamily="18" charset="0"/>
              </a:rPr>
              <a:t>Those driving database projects normally define the mission statement (director/owner).</a:t>
            </a:r>
          </a:p>
          <a:p>
            <a:pPr eaLnBrk="1" hangingPunct="1">
              <a:lnSpc>
                <a:spcPct val="30000"/>
              </a:lnSpc>
            </a:pPr>
            <a:endParaRPr lang="en-US" dirty="0">
              <a:latin typeface="Times" pitchFamily="18" charset="0"/>
              <a:cs typeface="Times New Roman" pitchFamily="18" charset="0"/>
            </a:endParaRPr>
          </a:p>
          <a:p>
            <a:pPr eaLnBrk="1" hangingPunct="1">
              <a:lnSpc>
                <a:spcPct val="90000"/>
              </a:lnSpc>
            </a:pPr>
            <a:r>
              <a:rPr lang="en-US" dirty="0">
                <a:latin typeface="Times" pitchFamily="18" charset="0"/>
                <a:cs typeface="Times New Roman" pitchFamily="18" charset="0"/>
              </a:rPr>
              <a:t>Mission statement </a:t>
            </a:r>
            <a:r>
              <a:rPr lang="en-US" b="1" dirty="0">
                <a:latin typeface="Times" pitchFamily="18" charset="0"/>
                <a:cs typeface="Times New Roman" pitchFamily="18" charset="0"/>
              </a:rPr>
              <a:t>helps clarify purpose of the database project</a:t>
            </a:r>
            <a:r>
              <a:rPr lang="en-US" dirty="0">
                <a:latin typeface="Times" pitchFamily="18" charset="0"/>
                <a:cs typeface="Times New Roman" pitchFamily="18" charset="0"/>
              </a:rPr>
              <a:t> and provides clearer path towards the efficient and effective creation of  required database application. </a:t>
            </a:r>
          </a:p>
          <a:p>
            <a:pPr eaLnBrk="1" hangingPunct="1">
              <a:lnSpc>
                <a:spcPct val="90000"/>
              </a:lnSpc>
            </a:pPr>
            <a:r>
              <a:rPr lang="en-US" dirty="0">
                <a:latin typeface="Times" pitchFamily="18" charset="0"/>
                <a:cs typeface="Times New Roman" pitchFamily="18" charset="0"/>
              </a:rPr>
              <a:t>Example: Development of an information system that will enable the Jomayi Property Agency to manage their branches, clientele and property efficiently</a:t>
            </a:r>
            <a:endParaRPr lang="en-GB" dirty="0"/>
          </a:p>
        </p:txBody>
      </p:sp>
      <p:sp>
        <p:nvSpPr>
          <p:cNvPr id="36868" name="Slide Number Placeholder 5"/>
          <p:cNvSpPr>
            <a:spLocks noGrp="1"/>
          </p:cNvSpPr>
          <p:nvPr>
            <p:ph type="sldNum" sz="quarter" idx="12"/>
          </p:nvPr>
        </p:nvSpPr>
        <p:spPr>
          <a:noFill/>
        </p:spPr>
        <p:txBody>
          <a:bodyPr/>
          <a:lstStyle/>
          <a:p>
            <a:fld id="{D6B994ED-1B81-42AA-AFDD-728B025D0704}" type="slidenum">
              <a:rPr lang="en-US" smtClean="0">
                <a:latin typeface="Arial" pitchFamily="34" charset="0"/>
                <a:ea typeface="ＭＳ Ｐゴシック" pitchFamily="34" charset="-128"/>
              </a:rPr>
              <a:pPr/>
              <a:t>39</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A5708743-1BD9-4CE8-9895-411526BE133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45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45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lIns="90488" tIns="44450" rIns="90488" bIns="44450"/>
          <a:lstStyle/>
          <a:p>
            <a:pPr eaLnBrk="1" hangingPunct="1"/>
            <a:r>
              <a:rPr lang="en-GB" b="1"/>
              <a:t>Database Planning – Mission Objectives</a:t>
            </a:r>
          </a:p>
        </p:txBody>
      </p:sp>
      <p:sp>
        <p:nvSpPr>
          <p:cNvPr id="125955" name="Rectangle 3"/>
          <p:cNvSpPr>
            <a:spLocks noGrp="1" noChangeArrowheads="1"/>
          </p:cNvSpPr>
          <p:nvPr>
            <p:ph idx="1"/>
          </p:nvPr>
        </p:nvSpPr>
        <p:spPr>
          <a:xfrm>
            <a:off x="588963" y="1773238"/>
            <a:ext cx="7727950" cy="4870472"/>
          </a:xfrm>
        </p:spPr>
        <p:txBody>
          <a:bodyPr lIns="90488" tIns="44450" rIns="90488" bIns="44450"/>
          <a:lstStyle/>
          <a:p>
            <a:pPr eaLnBrk="1" hangingPunct="1">
              <a:lnSpc>
                <a:spcPct val="90000"/>
              </a:lnSpc>
            </a:pPr>
            <a:r>
              <a:rPr lang="en-US" sz="2800" dirty="0">
                <a:latin typeface="Times" pitchFamily="18" charset="0"/>
                <a:cs typeface="Times New Roman" pitchFamily="18" charset="0"/>
              </a:rPr>
              <a:t>Once mission statement is defined, </a:t>
            </a:r>
            <a:r>
              <a:rPr lang="en-US" sz="2800" u="sng" dirty="0">
                <a:latin typeface="Times" pitchFamily="18" charset="0"/>
                <a:cs typeface="Times New Roman" pitchFamily="18" charset="0"/>
              </a:rPr>
              <a:t>mission objectives</a:t>
            </a:r>
            <a:r>
              <a:rPr lang="en-US" sz="2800" dirty="0">
                <a:latin typeface="Times" pitchFamily="18" charset="0"/>
                <a:cs typeface="Times New Roman" pitchFamily="18" charset="0"/>
              </a:rPr>
              <a:t> are defined. </a:t>
            </a:r>
          </a:p>
          <a:p>
            <a:pPr eaLnBrk="1" hangingPunct="1">
              <a:lnSpc>
                <a:spcPct val="50000"/>
              </a:lnSpc>
            </a:pPr>
            <a:endParaRPr lang="en-US" sz="2800" dirty="0">
              <a:latin typeface="Times" pitchFamily="18" charset="0"/>
              <a:cs typeface="Times New Roman" pitchFamily="18" charset="0"/>
            </a:endParaRPr>
          </a:p>
          <a:p>
            <a:pPr eaLnBrk="1" hangingPunct="1">
              <a:lnSpc>
                <a:spcPct val="90000"/>
              </a:lnSpc>
            </a:pPr>
            <a:r>
              <a:rPr lang="en-US" sz="2800" b="1" dirty="0">
                <a:latin typeface="Times" pitchFamily="18" charset="0"/>
                <a:cs typeface="Times New Roman" pitchFamily="18" charset="0"/>
              </a:rPr>
              <a:t>Each objective should identify a particular task that the database must support. Efficient </a:t>
            </a:r>
          </a:p>
          <a:p>
            <a:pPr eaLnBrk="1" hangingPunct="1">
              <a:lnSpc>
                <a:spcPct val="30000"/>
              </a:lnSpc>
            </a:pPr>
            <a:endParaRPr lang="en-US" sz="2800" dirty="0">
              <a:latin typeface="Times" pitchFamily="18" charset="0"/>
              <a:cs typeface="Times New Roman" pitchFamily="18" charset="0"/>
            </a:endParaRPr>
          </a:p>
          <a:p>
            <a:pPr eaLnBrk="1" hangingPunct="1">
              <a:lnSpc>
                <a:spcPct val="90000"/>
              </a:lnSpc>
            </a:pPr>
            <a:r>
              <a:rPr lang="en-US" sz="2800" dirty="0">
                <a:latin typeface="Times" pitchFamily="18" charset="0"/>
                <a:cs typeface="Times New Roman" pitchFamily="18" charset="0"/>
              </a:rPr>
              <a:t>May be accompanied with some additional information that specifies the work to be done, the resources with which to do it, and the money to pay for it all. </a:t>
            </a:r>
          </a:p>
        </p:txBody>
      </p:sp>
      <p:sp>
        <p:nvSpPr>
          <p:cNvPr id="37892" name="Slide Number Placeholder 5"/>
          <p:cNvSpPr>
            <a:spLocks noGrp="1"/>
          </p:cNvSpPr>
          <p:nvPr>
            <p:ph type="sldNum" sz="quarter" idx="12"/>
          </p:nvPr>
        </p:nvSpPr>
        <p:spPr>
          <a:noFill/>
        </p:spPr>
        <p:txBody>
          <a:bodyPr/>
          <a:lstStyle/>
          <a:p>
            <a:fld id="{92168F69-F16D-4523-9263-7F053E1A0C34}" type="slidenum">
              <a:rPr lang="en-US" smtClean="0">
                <a:latin typeface="Arial" pitchFamily="34" charset="0"/>
                <a:ea typeface="ＭＳ Ｐゴシック" pitchFamily="34" charset="-128"/>
              </a:rPr>
              <a:pPr/>
              <a:t>40</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865AF7A1-9749-4720-8721-1613646C5BE6}"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59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59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59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lIns="90488" tIns="44450" rIns="90488" bIns="44450"/>
          <a:lstStyle/>
          <a:p>
            <a:pPr eaLnBrk="1" hangingPunct="1"/>
            <a:r>
              <a:rPr lang="en-GB"/>
              <a:t>Database Planning – Mission Objectives</a:t>
            </a:r>
          </a:p>
        </p:txBody>
      </p:sp>
      <p:sp>
        <p:nvSpPr>
          <p:cNvPr id="38915" name="Slide Number Placeholder 3"/>
          <p:cNvSpPr>
            <a:spLocks noGrp="1"/>
          </p:cNvSpPr>
          <p:nvPr>
            <p:ph type="sldNum" sz="quarter" idx="12"/>
          </p:nvPr>
        </p:nvSpPr>
        <p:spPr>
          <a:xfrm>
            <a:off x="8532813" y="6308725"/>
            <a:ext cx="361950" cy="341313"/>
          </a:xfrm>
          <a:noFill/>
        </p:spPr>
        <p:txBody>
          <a:bodyPr/>
          <a:lstStyle/>
          <a:p>
            <a:pPr algn="l"/>
            <a:fld id="{11D17ECA-5625-4005-8231-342CFD429DE4}" type="slidenum">
              <a:rPr lang="en-GB" sz="1200" smtClean="0">
                <a:solidFill>
                  <a:schemeClr val="tx2"/>
                </a:solidFill>
                <a:latin typeface="Arial" pitchFamily="34" charset="0"/>
                <a:ea typeface="ＭＳ Ｐゴシック" pitchFamily="34" charset="-128"/>
              </a:rPr>
              <a:pPr algn="l"/>
              <a:t>41</a:t>
            </a:fld>
            <a:endParaRPr lang="en-GB" sz="1200">
              <a:solidFill>
                <a:schemeClr val="tx2"/>
              </a:solidFill>
              <a:latin typeface="Arial" pitchFamily="34" charset="0"/>
              <a:ea typeface="ＭＳ Ｐゴシック" pitchFamily="34" charset="-128"/>
            </a:endParaRPr>
          </a:p>
        </p:txBody>
      </p:sp>
      <p:graphicFrame>
        <p:nvGraphicFramePr>
          <p:cNvPr id="7" name="Table 6"/>
          <p:cNvGraphicFramePr>
            <a:graphicFrameLocks noGrp="1"/>
          </p:cNvGraphicFramePr>
          <p:nvPr/>
        </p:nvGraphicFramePr>
        <p:xfrm>
          <a:off x="285720" y="1928803"/>
          <a:ext cx="8643998" cy="4714911"/>
        </p:xfrm>
        <a:graphic>
          <a:graphicData uri="http://schemas.openxmlformats.org/drawingml/2006/table">
            <a:tbl>
              <a:tblPr/>
              <a:tblGrid>
                <a:gridCol w="3180714">
                  <a:extLst>
                    <a:ext uri="{9D8B030D-6E8A-4147-A177-3AD203B41FA5}">
                      <a16:colId xmlns:a16="http://schemas.microsoft.com/office/drawing/2014/main" val="20000"/>
                    </a:ext>
                  </a:extLst>
                </a:gridCol>
                <a:gridCol w="917181">
                  <a:extLst>
                    <a:ext uri="{9D8B030D-6E8A-4147-A177-3AD203B41FA5}">
                      <a16:colId xmlns:a16="http://schemas.microsoft.com/office/drawing/2014/main" val="20001"/>
                    </a:ext>
                  </a:extLst>
                </a:gridCol>
                <a:gridCol w="4546103">
                  <a:extLst>
                    <a:ext uri="{9D8B030D-6E8A-4147-A177-3AD203B41FA5}">
                      <a16:colId xmlns:a16="http://schemas.microsoft.com/office/drawing/2014/main" val="20002"/>
                    </a:ext>
                  </a:extLst>
                </a:gridCol>
              </a:tblGrid>
              <a:tr h="47528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Stakeholders</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GoalCode</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Goal</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722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Director</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G1</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To maintain (enter, update, delete) data on branches</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Director/manager</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G2</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To maintain data on staff</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manager/supervisor/assistant</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G3</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To maintain data on properties for rent</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manager/supervisor/assistant</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G4</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To maintain data on properties for sale</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manager/supervisor/assistant</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G5</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To maintain data on property owners</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manager/supervisor/assistant</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G6</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To maintain data on clients</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472250">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manager/supervisor/assistant</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G7</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To maintain data on property viewings</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manager/supervisor/assistant</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G8</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To maintain data on leases</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470732">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Director</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a:ln>
                            <a:noFill/>
                          </a:ln>
                          <a:solidFill>
                            <a:srgbClr val="000000"/>
                          </a:solidFill>
                          <a:effectLst/>
                          <a:latin typeface="Calibri" pitchFamily="34" charset="0"/>
                          <a:cs typeface="Times New Roman" pitchFamily="18" charset="0"/>
                        </a:rPr>
                        <a:t>G9</a:t>
                      </a:r>
                      <a:endParaRPr kumimoji="0" lang="en-US" sz="1400" b="1" i="0" u="none" strike="noStrike" cap="none" normalizeH="0" baseline="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sz="1400" b="1" i="0" u="none" strike="noStrike" cap="none" normalizeH="0" baseline="0" dirty="0">
                          <a:ln>
                            <a:noFill/>
                          </a:ln>
                          <a:solidFill>
                            <a:srgbClr val="000000"/>
                          </a:solidFill>
                          <a:effectLst/>
                          <a:latin typeface="Calibri" pitchFamily="34" charset="0"/>
                          <a:cs typeface="Times New Roman" pitchFamily="18" charset="0"/>
                        </a:rPr>
                        <a:t>To perform searches on branches</a:t>
                      </a:r>
                      <a:endParaRPr kumimoji="0" lang="en-US" sz="1400" b="1" i="0" u="none" strike="noStrike" cap="none" normalizeH="0" baseline="0" dirty="0">
                        <a:ln>
                          <a:noFill/>
                        </a:ln>
                        <a:solidFill>
                          <a:schemeClr val="tx1"/>
                        </a:solidFill>
                        <a:effectLst/>
                        <a:latin typeface="Calibri" pitchFamily="34" charset="0"/>
                        <a:ea typeface="Calibri" pitchFamily="34" charset="0"/>
                        <a:cs typeface="Times New Roman" pitchFamily="18" charset="0"/>
                      </a:endParaRPr>
                    </a:p>
                  </a:txBody>
                  <a:tcPr marL="63420" marR="6342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 name="Date Placeholder 4"/>
          <p:cNvSpPr>
            <a:spLocks noGrp="1"/>
          </p:cNvSpPr>
          <p:nvPr>
            <p:ph type="dt" sz="half" idx="10"/>
          </p:nvPr>
        </p:nvSpPr>
        <p:spPr/>
        <p:txBody>
          <a:bodyPr/>
          <a:lstStyle/>
          <a:p>
            <a:pPr>
              <a:defRPr/>
            </a:pPr>
            <a:fld id="{ED468436-8BAC-486D-9FFD-90EE5405A89A}"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GB" b="1"/>
              <a:t>Database Planning</a:t>
            </a:r>
          </a:p>
        </p:txBody>
      </p:sp>
      <p:sp>
        <p:nvSpPr>
          <p:cNvPr id="126979" name="Rectangle 3"/>
          <p:cNvSpPr>
            <a:spLocks noGrp="1" noChangeArrowheads="1"/>
          </p:cNvSpPr>
          <p:nvPr>
            <p:ph idx="1"/>
          </p:nvPr>
        </p:nvSpPr>
        <p:spPr>
          <a:xfrm>
            <a:off x="457200" y="1700213"/>
            <a:ext cx="8686800" cy="5086350"/>
          </a:xfrm>
        </p:spPr>
        <p:txBody>
          <a:bodyPr/>
          <a:lstStyle/>
          <a:p>
            <a:pPr eaLnBrk="1" hangingPunct="1">
              <a:defRPr/>
            </a:pPr>
            <a:r>
              <a:rPr lang="en-US" dirty="0">
                <a:latin typeface="Times" pitchFamily="18" charset="0"/>
                <a:cs typeface="Times New Roman" pitchFamily="18" charset="0"/>
              </a:rPr>
              <a:t>Database planning should also include </a:t>
            </a:r>
            <a:r>
              <a:rPr lang="en-US" b="1" dirty="0">
                <a:latin typeface="Times" pitchFamily="18" charset="0"/>
                <a:cs typeface="Times New Roman" pitchFamily="18" charset="0"/>
              </a:rPr>
              <a:t>development of standards</a:t>
            </a:r>
            <a:r>
              <a:rPr lang="en-US" dirty="0">
                <a:latin typeface="Times" pitchFamily="18" charset="0"/>
                <a:cs typeface="Times New Roman" pitchFamily="18" charset="0"/>
              </a:rPr>
              <a:t> that govern:</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how data will be collected, </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how the format should be specified, </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what necessary documentation will be needed,</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i="1" kern="1200" dirty="0">
                <a:latin typeface="Times" pitchFamily="18" charset="0"/>
                <a:ea typeface="+mn-ea"/>
                <a:cs typeface="Times New Roman" pitchFamily="18" charset="0"/>
              </a:rPr>
              <a:t>how design and implementation should proceed.</a:t>
            </a:r>
          </a:p>
          <a:p>
            <a:pPr eaLnBrk="1" hangingPunct="1">
              <a:defRPr/>
            </a:pPr>
            <a:r>
              <a:rPr lang="en-GB" b="1" dirty="0">
                <a:latin typeface="Times" pitchFamily="18" charset="0"/>
                <a:cs typeface="Times New Roman" pitchFamily="18" charset="0"/>
              </a:rPr>
              <a:t>This step is critical and provides good basis for</a:t>
            </a:r>
          </a:p>
          <a:p>
            <a:pPr marL="974725" lvl="3" indent="-395288" eaLnBrk="1" hangingPunct="1">
              <a:spcBef>
                <a:spcPts val="600"/>
              </a:spcBef>
              <a:spcAft>
                <a:spcPts val="0"/>
              </a:spcAft>
              <a:buClr>
                <a:schemeClr val="bg2"/>
              </a:buClr>
              <a:buSzPct val="100000"/>
              <a:buFont typeface="Wingdings" pitchFamily="2" charset="2"/>
              <a:buChar char="ü"/>
              <a:defRPr/>
            </a:pPr>
            <a:r>
              <a:rPr lang="en-GB" sz="2400" i="1" kern="1200" dirty="0">
                <a:latin typeface="Times" pitchFamily="18" charset="0"/>
                <a:ea typeface="+mn-ea"/>
                <a:cs typeface="Times New Roman" pitchFamily="18" charset="0"/>
              </a:rPr>
              <a:t>Staff training</a:t>
            </a:r>
          </a:p>
          <a:p>
            <a:pPr marL="974725" lvl="3" indent="-395288" eaLnBrk="1" hangingPunct="1">
              <a:spcBef>
                <a:spcPts val="600"/>
              </a:spcBef>
              <a:spcAft>
                <a:spcPts val="0"/>
              </a:spcAft>
              <a:buClr>
                <a:schemeClr val="bg2"/>
              </a:buClr>
              <a:buSzPct val="100000"/>
              <a:buFont typeface="Wingdings" pitchFamily="2" charset="2"/>
              <a:buChar char="ü"/>
              <a:defRPr/>
            </a:pPr>
            <a:r>
              <a:rPr lang="en-GB" sz="2400" i="1" kern="1200" dirty="0">
                <a:latin typeface="Times" pitchFamily="18" charset="0"/>
                <a:ea typeface="+mn-ea"/>
                <a:cs typeface="Times New Roman" pitchFamily="18" charset="0"/>
              </a:rPr>
              <a:t>Measurement of quality control.</a:t>
            </a:r>
          </a:p>
          <a:p>
            <a:pPr marL="974725" lvl="3" indent="-395288" eaLnBrk="1" hangingPunct="1">
              <a:spcBef>
                <a:spcPts val="600"/>
              </a:spcBef>
              <a:spcAft>
                <a:spcPts val="0"/>
              </a:spcAft>
              <a:buClr>
                <a:schemeClr val="bg2"/>
              </a:buClr>
              <a:buSzPct val="100000"/>
              <a:buFont typeface="Wingdings" pitchFamily="2" charset="2"/>
              <a:buChar char="ü"/>
              <a:defRPr/>
            </a:pPr>
            <a:r>
              <a:rPr lang="en-GB" sz="2400" i="1" kern="1200" dirty="0">
                <a:latin typeface="Times" pitchFamily="18" charset="0"/>
                <a:ea typeface="+mn-ea"/>
                <a:cs typeface="Times New Roman" pitchFamily="18" charset="0"/>
              </a:rPr>
              <a:t>Ensuring work conforms to given pattern irrespective of staff skills and experience</a:t>
            </a:r>
          </a:p>
          <a:p>
            <a:pPr marL="523875" lvl="2" indent="-523875" eaLnBrk="1" hangingPunct="1">
              <a:spcBef>
                <a:spcPts val="600"/>
              </a:spcBef>
              <a:spcAft>
                <a:spcPts val="0"/>
              </a:spcAft>
              <a:buSzPct val="100000"/>
              <a:buFont typeface="Wingdings" pitchFamily="2" charset="2"/>
              <a:buNone/>
              <a:defRPr/>
            </a:pPr>
            <a:r>
              <a:rPr lang="en-GB" sz="2400" b="1" i="1" dirty="0">
                <a:latin typeface="Times" pitchFamily="18" charset="0"/>
                <a:cs typeface="Times New Roman" pitchFamily="18" charset="0"/>
              </a:rPr>
              <a:t>NB: takes a lot of time in terms of development and maintenance.</a:t>
            </a:r>
            <a:endParaRPr lang="en-US" sz="2400" b="1" i="1" kern="1200" dirty="0">
              <a:latin typeface="Times" pitchFamily="18" charset="0"/>
              <a:ea typeface="+mn-ea"/>
              <a:cs typeface="Times New Roman" pitchFamily="18" charset="0"/>
            </a:endParaRPr>
          </a:p>
        </p:txBody>
      </p:sp>
      <p:sp>
        <p:nvSpPr>
          <p:cNvPr id="39940" name="Slide Number Placeholder 5"/>
          <p:cNvSpPr>
            <a:spLocks noGrp="1"/>
          </p:cNvSpPr>
          <p:nvPr>
            <p:ph type="sldNum" sz="quarter" idx="12"/>
          </p:nvPr>
        </p:nvSpPr>
        <p:spPr>
          <a:xfrm>
            <a:off x="7204075" y="6572250"/>
            <a:ext cx="1905000" cy="457200"/>
          </a:xfrm>
          <a:noFill/>
        </p:spPr>
        <p:txBody>
          <a:bodyPr/>
          <a:lstStyle/>
          <a:p>
            <a:fld id="{02733A6B-94A3-44AD-B81F-CA07E087F395}" type="slidenum">
              <a:rPr lang="en-US" smtClean="0">
                <a:latin typeface="Arial" pitchFamily="34" charset="0"/>
                <a:ea typeface="ＭＳ Ｐゴシック" pitchFamily="34" charset="-128"/>
              </a:rPr>
              <a:pPr/>
              <a:t>42</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D88C44BF-14B3-4296-A802-AC7986DE8B16}"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697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2697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2697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2697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2697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2697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12697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12697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126979">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1269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68313" y="836613"/>
            <a:ext cx="7467600" cy="915987"/>
          </a:xfrm>
        </p:spPr>
        <p:txBody>
          <a:bodyPr lIns="90488" tIns="44450" rIns="90488" bIns="44450"/>
          <a:lstStyle/>
          <a:p>
            <a:pPr eaLnBrk="1" hangingPunct="1"/>
            <a:r>
              <a:rPr lang="en-GB" b="1"/>
              <a:t>Step 2: System Definition</a:t>
            </a:r>
          </a:p>
        </p:txBody>
      </p:sp>
      <p:sp>
        <p:nvSpPr>
          <p:cNvPr id="128003" name="Rectangle 3"/>
          <p:cNvSpPr>
            <a:spLocks noGrp="1" noChangeArrowheads="1"/>
          </p:cNvSpPr>
          <p:nvPr>
            <p:ph idx="1"/>
          </p:nvPr>
        </p:nvSpPr>
        <p:spPr>
          <a:xfrm>
            <a:off x="457200" y="1838325"/>
            <a:ext cx="8435975" cy="4398963"/>
          </a:xfrm>
        </p:spPr>
        <p:txBody>
          <a:bodyPr lIns="90488" tIns="44450" rIns="90488" bIns="44450">
            <a:normAutofit/>
          </a:bodyPr>
          <a:lstStyle/>
          <a:p>
            <a:pPr marL="457200" indent="-457200" eaLnBrk="1" fontAlgn="auto" hangingPunct="1">
              <a:spcAft>
                <a:spcPts val="0"/>
              </a:spcAft>
              <a:defRPr/>
            </a:pPr>
            <a:r>
              <a:rPr lang="en-US" dirty="0"/>
              <a:t>Describes scope and boundaries of database application and the major user views (both current and future).</a:t>
            </a:r>
            <a:r>
              <a:rPr lang="en-GB" dirty="0"/>
              <a:t> </a:t>
            </a:r>
          </a:p>
          <a:p>
            <a:pPr marL="274320" indent="-274320" eaLnBrk="1" fontAlgn="auto" hangingPunct="1">
              <a:spcAft>
                <a:spcPts val="0"/>
              </a:spcAft>
              <a:buFontTx/>
              <a:buNone/>
              <a:defRPr/>
            </a:pPr>
            <a:endParaRPr lang="en-GB" dirty="0"/>
          </a:p>
          <a:p>
            <a:pPr marL="457200" indent="-457200" eaLnBrk="1" fontAlgn="auto" hangingPunct="1">
              <a:spcAft>
                <a:spcPts val="0"/>
              </a:spcAft>
              <a:defRPr/>
            </a:pPr>
            <a:r>
              <a:rPr lang="en-US" dirty="0"/>
              <a:t>It also involves describing or identifying how it interfaces with the other parts of the organization's information system. </a:t>
            </a:r>
          </a:p>
          <a:p>
            <a:pPr marL="457200" indent="-457200" eaLnBrk="1" fontAlgn="auto" hangingPunct="1">
              <a:spcAft>
                <a:spcPts val="0"/>
              </a:spcAft>
              <a:buNone/>
              <a:defRPr/>
            </a:pPr>
            <a:endParaRPr lang="en-GB" dirty="0"/>
          </a:p>
          <a:p>
            <a:pPr marL="457200" indent="-457200" eaLnBrk="1" fontAlgn="auto" hangingPunct="1">
              <a:spcAft>
                <a:spcPts val="0"/>
              </a:spcAft>
              <a:defRPr/>
            </a:pPr>
            <a:r>
              <a:rPr lang="en-US" sz="2000" u="sng" dirty="0">
                <a:cs typeface="Times New Roman" pitchFamily="18" charset="0"/>
              </a:rPr>
              <a:t>User view</a:t>
            </a:r>
            <a:r>
              <a:rPr lang="en-US" sz="2000" dirty="0">
                <a:cs typeface="Times New Roman" pitchFamily="18" charset="0"/>
              </a:rPr>
              <a:t> defines what is required of a database application from perspective of:</a:t>
            </a:r>
          </a:p>
          <a:p>
            <a:pPr marL="640080" lvl="1" indent="-274320" eaLnBrk="1" fontAlgn="auto" hangingPunct="1">
              <a:spcAft>
                <a:spcPts val="0"/>
              </a:spcAft>
              <a:buFont typeface="Wingdings 2"/>
              <a:buChar char=""/>
              <a:defRPr/>
            </a:pPr>
            <a:r>
              <a:rPr lang="en-US" sz="2000" dirty="0">
                <a:cs typeface="Times New Roman" pitchFamily="18" charset="0"/>
              </a:rPr>
              <a:t> a particular job role (such as Manager or Supervisor) or </a:t>
            </a:r>
          </a:p>
          <a:p>
            <a:pPr marL="640080" lvl="1" indent="-274320" eaLnBrk="1" fontAlgn="auto" hangingPunct="1">
              <a:spcAft>
                <a:spcPts val="0"/>
              </a:spcAft>
              <a:buFont typeface="Wingdings 2"/>
              <a:buChar char=""/>
              <a:defRPr/>
            </a:pPr>
            <a:r>
              <a:rPr lang="en-US" sz="2000" dirty="0">
                <a:cs typeface="Times New Roman" pitchFamily="18" charset="0"/>
              </a:rPr>
              <a:t>enterprise application area (such as marketing, personnel, or stock control).</a:t>
            </a:r>
            <a:r>
              <a:rPr lang="en-GB" sz="2000" dirty="0"/>
              <a:t> </a:t>
            </a:r>
          </a:p>
        </p:txBody>
      </p:sp>
      <p:sp>
        <p:nvSpPr>
          <p:cNvPr id="40964" name="Slide Number Placeholder 5"/>
          <p:cNvSpPr>
            <a:spLocks noGrp="1"/>
          </p:cNvSpPr>
          <p:nvPr>
            <p:ph type="sldNum" sz="quarter" idx="12"/>
          </p:nvPr>
        </p:nvSpPr>
        <p:spPr>
          <a:noFill/>
        </p:spPr>
        <p:txBody>
          <a:bodyPr/>
          <a:lstStyle/>
          <a:p>
            <a:fld id="{E3DEE630-6027-46B8-8FE7-23E6EEFB51A3}" type="slidenum">
              <a:rPr lang="en-US" smtClean="0">
                <a:latin typeface="Arial" pitchFamily="34" charset="0"/>
                <a:ea typeface="ＭＳ Ｐゴシック" pitchFamily="34" charset="-128"/>
              </a:rPr>
              <a:pPr/>
              <a:t>43</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3BEA20D0-CA95-4449-A3D4-62C9AA4CF612}"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800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800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2800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280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39750" y="1125538"/>
            <a:ext cx="7467600" cy="561975"/>
          </a:xfrm>
        </p:spPr>
        <p:txBody>
          <a:bodyPr lIns="90488" tIns="44450" rIns="90488" bIns="44450"/>
          <a:lstStyle/>
          <a:p>
            <a:pPr eaLnBrk="1" hangingPunct="1"/>
            <a:r>
              <a:rPr lang="en-GB"/>
              <a:t>System Definition</a:t>
            </a:r>
          </a:p>
        </p:txBody>
      </p:sp>
      <p:sp>
        <p:nvSpPr>
          <p:cNvPr id="128003" name="Rectangle 3"/>
          <p:cNvSpPr>
            <a:spLocks noGrp="1" noChangeArrowheads="1"/>
          </p:cNvSpPr>
          <p:nvPr>
            <p:ph idx="1"/>
          </p:nvPr>
        </p:nvSpPr>
        <p:spPr>
          <a:xfrm>
            <a:off x="630238" y="1785938"/>
            <a:ext cx="7727950" cy="4714875"/>
          </a:xfrm>
        </p:spPr>
        <p:txBody>
          <a:bodyPr lIns="90488" tIns="44450" rIns="90488" bIns="44450"/>
          <a:lstStyle/>
          <a:p>
            <a:pPr eaLnBrk="1" hangingPunct="1">
              <a:buFont typeface="Monotype Sorts"/>
              <a:buNone/>
            </a:pPr>
            <a:r>
              <a:rPr lang="en-US">
                <a:latin typeface="Times" pitchFamily="18" charset="0"/>
                <a:cs typeface="Times New Roman" pitchFamily="18" charset="0"/>
              </a:rPr>
              <a:t>	</a:t>
            </a:r>
            <a:endParaRPr lang="en-GB"/>
          </a:p>
        </p:txBody>
      </p:sp>
      <p:sp>
        <p:nvSpPr>
          <p:cNvPr id="41988" name="Slide Number Placeholder 3"/>
          <p:cNvSpPr>
            <a:spLocks noGrp="1"/>
          </p:cNvSpPr>
          <p:nvPr>
            <p:ph type="sldNum" sz="quarter" idx="12"/>
          </p:nvPr>
        </p:nvSpPr>
        <p:spPr>
          <a:xfrm rot="5400000">
            <a:off x="6989763" y="3736975"/>
            <a:ext cx="3200400" cy="365125"/>
          </a:xfrm>
          <a:noFill/>
        </p:spPr>
        <p:txBody>
          <a:bodyPr/>
          <a:lstStyle/>
          <a:p>
            <a:pPr algn="l"/>
            <a:fld id="{7D5BC7D4-53C3-4AF7-A2FE-711458D9674B}" type="slidenum">
              <a:rPr lang="en-GB" sz="1200" smtClean="0">
                <a:solidFill>
                  <a:schemeClr val="tx2"/>
                </a:solidFill>
                <a:latin typeface="Arial" pitchFamily="34" charset="0"/>
                <a:ea typeface="ＭＳ Ｐゴシック" pitchFamily="34" charset="-128"/>
              </a:rPr>
              <a:pPr algn="l"/>
              <a:t>44</a:t>
            </a:fld>
            <a:endParaRPr lang="en-GB" sz="1200">
              <a:solidFill>
                <a:schemeClr val="tx2"/>
              </a:solidFill>
              <a:latin typeface="Arial" pitchFamily="34" charset="0"/>
              <a:ea typeface="ＭＳ Ｐゴシック" pitchFamily="34" charset="-128"/>
            </a:endParaRPr>
          </a:p>
        </p:txBody>
      </p:sp>
      <p:pic>
        <p:nvPicPr>
          <p:cNvPr id="41989" name="Picture 4" descr="system boundary.jpg"/>
          <p:cNvPicPr>
            <a:picLocks noChangeAspect="1"/>
          </p:cNvPicPr>
          <p:nvPr/>
        </p:nvPicPr>
        <p:blipFill>
          <a:blip r:embed="rId3"/>
          <a:srcRect/>
          <a:stretch>
            <a:fillRect/>
          </a:stretch>
        </p:blipFill>
        <p:spPr bwMode="auto">
          <a:xfrm>
            <a:off x="500063" y="1773238"/>
            <a:ext cx="8358187" cy="5084762"/>
          </a:xfrm>
          <a:prstGeom prst="rect">
            <a:avLst/>
          </a:prstGeom>
          <a:noFill/>
          <a:ln w="9525">
            <a:noFill/>
            <a:miter lim="800000"/>
            <a:headEnd/>
            <a:tailEnd/>
          </a:ln>
        </p:spPr>
      </p:pic>
      <p:sp>
        <p:nvSpPr>
          <p:cNvPr id="6" name="Date Placeholder 5"/>
          <p:cNvSpPr>
            <a:spLocks noGrp="1"/>
          </p:cNvSpPr>
          <p:nvPr>
            <p:ph type="dt" sz="half" idx="10"/>
          </p:nvPr>
        </p:nvSpPr>
        <p:spPr/>
        <p:txBody>
          <a:bodyPr/>
          <a:lstStyle/>
          <a:p>
            <a:pPr>
              <a:defRPr/>
            </a:pPr>
            <a:fld id="{DB74E586-E774-495B-BCCF-9314785714A7}" type="datetime1">
              <a:rPr lang="en-US" smtClean="0"/>
              <a:pPr>
                <a:defRPr/>
              </a:pPr>
              <a:t>5/30/2022</a:t>
            </a:fld>
            <a:endParaRPr lang="en-US"/>
          </a:p>
        </p:txBody>
      </p:sp>
      <p:sp>
        <p:nvSpPr>
          <p:cNvPr id="7" name="Footer Placeholder 6"/>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800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858838"/>
            <a:ext cx="7467600" cy="914400"/>
          </a:xfrm>
        </p:spPr>
        <p:txBody>
          <a:bodyPr lIns="90488" tIns="44450" rIns="90488" bIns="44450"/>
          <a:lstStyle/>
          <a:p>
            <a:pPr eaLnBrk="1" hangingPunct="1"/>
            <a:r>
              <a:rPr lang="en-GB" b="1"/>
              <a:t>System Definition</a:t>
            </a:r>
          </a:p>
        </p:txBody>
      </p:sp>
      <p:sp>
        <p:nvSpPr>
          <p:cNvPr id="129027" name="Rectangle 3"/>
          <p:cNvSpPr>
            <a:spLocks noGrp="1" noChangeArrowheads="1"/>
          </p:cNvSpPr>
          <p:nvPr>
            <p:ph idx="1"/>
          </p:nvPr>
        </p:nvSpPr>
        <p:spPr>
          <a:xfrm>
            <a:off x="214282" y="1773238"/>
            <a:ext cx="8715436" cy="4610100"/>
          </a:xfrm>
        </p:spPr>
        <p:txBody>
          <a:bodyPr lIns="90488" tIns="44450" rIns="90488" bIns="44450"/>
          <a:lstStyle/>
          <a:p>
            <a:pPr marL="465138" indent="-465138" eaLnBrk="1" hangingPunct="1"/>
            <a:r>
              <a:rPr lang="en-US" sz="2200" dirty="0">
                <a:latin typeface="+mj-lt"/>
                <a:cs typeface="Times New Roman" pitchFamily="18" charset="0"/>
              </a:rPr>
              <a:t>Database application may have one or more user views and e</a:t>
            </a:r>
            <a:r>
              <a:rPr lang="en-US" sz="2200" dirty="0">
                <a:latin typeface="+mj-lt"/>
              </a:rPr>
              <a:t>ach user view presents the </a:t>
            </a:r>
            <a:r>
              <a:rPr lang="en-US" sz="2200" b="1" dirty="0">
                <a:latin typeface="+mj-lt"/>
              </a:rPr>
              <a:t>data </a:t>
            </a:r>
            <a:r>
              <a:rPr lang="en-US" sz="2200" dirty="0">
                <a:latin typeface="+mj-lt"/>
              </a:rPr>
              <a:t>(what data is to be held or is needed) and transaction (what will be done with that data) requirements of a system. </a:t>
            </a:r>
            <a:endParaRPr lang="en-US" sz="2200" dirty="0">
              <a:latin typeface="+mj-lt"/>
              <a:cs typeface="Times New Roman" pitchFamily="18" charset="0"/>
            </a:endParaRPr>
          </a:p>
          <a:p>
            <a:pPr marL="465138" indent="-465138" eaLnBrk="1" hangingPunct="1">
              <a:lnSpc>
                <a:spcPct val="30000"/>
              </a:lnSpc>
            </a:pPr>
            <a:endParaRPr lang="en-US" sz="2200" dirty="0">
              <a:latin typeface="+mj-lt"/>
              <a:cs typeface="Times New Roman" pitchFamily="18" charset="0"/>
            </a:endParaRPr>
          </a:p>
          <a:p>
            <a:pPr marL="465138" indent="-465138" eaLnBrk="1" hangingPunct="1"/>
            <a:r>
              <a:rPr lang="en-US" sz="2200" dirty="0">
                <a:latin typeface="+mj-lt"/>
                <a:cs typeface="Times New Roman" pitchFamily="18" charset="0"/>
              </a:rPr>
              <a:t>Identifying user views helps ensure that no major users of the database are forgotten when developing requirements for new application (Requirement Elicitation). </a:t>
            </a:r>
          </a:p>
          <a:p>
            <a:pPr marL="465138" indent="-465138" eaLnBrk="1" hangingPunct="1">
              <a:lnSpc>
                <a:spcPct val="30000"/>
              </a:lnSpc>
            </a:pPr>
            <a:endParaRPr lang="en-US" sz="2200" dirty="0">
              <a:latin typeface="+mj-lt"/>
              <a:cs typeface="Times New Roman" pitchFamily="18" charset="0"/>
            </a:endParaRPr>
          </a:p>
          <a:p>
            <a:pPr marL="465138" indent="-465138" eaLnBrk="1" hangingPunct="1"/>
            <a:r>
              <a:rPr lang="en-US" sz="2200" dirty="0">
                <a:latin typeface="+mj-lt"/>
                <a:cs typeface="Times New Roman" pitchFamily="18" charset="0"/>
              </a:rPr>
              <a:t>User views also help in development of complex database application allowing requirements to be broken down into manageable pieces. </a:t>
            </a:r>
            <a:endParaRPr lang="en-GB" sz="2200" dirty="0">
              <a:latin typeface="+mj-lt"/>
              <a:cs typeface="Times New Roman" pitchFamily="18" charset="0"/>
            </a:endParaRPr>
          </a:p>
        </p:txBody>
      </p:sp>
      <p:sp>
        <p:nvSpPr>
          <p:cNvPr id="43012" name="Slide Number Placeholder 5"/>
          <p:cNvSpPr>
            <a:spLocks noGrp="1"/>
          </p:cNvSpPr>
          <p:nvPr>
            <p:ph type="sldNum" sz="quarter" idx="12"/>
          </p:nvPr>
        </p:nvSpPr>
        <p:spPr>
          <a:noFill/>
        </p:spPr>
        <p:txBody>
          <a:bodyPr/>
          <a:lstStyle/>
          <a:p>
            <a:fld id="{5B4935D7-444F-45A3-85A1-52E9F2B2EC5C}" type="slidenum">
              <a:rPr lang="en-US" smtClean="0">
                <a:latin typeface="Arial" pitchFamily="34" charset="0"/>
                <a:ea typeface="ＭＳ Ｐゴシック" pitchFamily="34" charset="-128"/>
              </a:rPr>
              <a:pPr/>
              <a:t>45</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A320E70A-EB7D-474F-B92F-A57BED73DBEE}"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90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902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290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lIns="90488" tIns="44450" rIns="90488" bIns="44450"/>
          <a:lstStyle/>
          <a:p>
            <a:pPr eaLnBrk="1" hangingPunct="1"/>
            <a:r>
              <a:rPr lang="en-US" sz="3200" b="1" dirty="0">
                <a:latin typeface="Times" pitchFamily="18" charset="0"/>
                <a:cs typeface="Times New Roman" pitchFamily="18" charset="0"/>
              </a:rPr>
              <a:t>Representation of a database application with multiple user views</a:t>
            </a:r>
            <a:endParaRPr lang="en-GB" sz="3200" b="1" dirty="0">
              <a:latin typeface="Times" pitchFamily="18" charset="0"/>
              <a:cs typeface="Times New Roman" pitchFamily="18" charset="0"/>
            </a:endParaRPr>
          </a:p>
        </p:txBody>
      </p:sp>
      <p:sp>
        <p:nvSpPr>
          <p:cNvPr id="44035" name="Slide Number Placeholder 5"/>
          <p:cNvSpPr>
            <a:spLocks noGrp="1"/>
          </p:cNvSpPr>
          <p:nvPr>
            <p:ph type="sldNum" sz="quarter" idx="12"/>
          </p:nvPr>
        </p:nvSpPr>
        <p:spPr>
          <a:noFill/>
        </p:spPr>
        <p:txBody>
          <a:bodyPr/>
          <a:lstStyle/>
          <a:p>
            <a:fld id="{C4BC7200-8B50-4AC0-9FDF-7F15739FC302}" type="slidenum">
              <a:rPr lang="en-US" smtClean="0">
                <a:latin typeface="Arial" pitchFamily="34" charset="0"/>
                <a:ea typeface="ＭＳ Ｐゴシック" pitchFamily="34" charset="-128"/>
              </a:rPr>
              <a:pPr/>
              <a:t>46</a:t>
            </a:fld>
            <a:endParaRPr lang="en-US">
              <a:latin typeface="Arial" pitchFamily="34" charset="0"/>
              <a:ea typeface="ＭＳ Ｐゴシック" pitchFamily="34" charset="-128"/>
            </a:endParaRPr>
          </a:p>
        </p:txBody>
      </p:sp>
      <p:pic>
        <p:nvPicPr>
          <p:cNvPr id="44036" name="Picture 4" descr="DS3-Figure 09-02"/>
          <p:cNvPicPr>
            <a:picLocks noChangeAspect="1" noChangeArrowheads="1"/>
          </p:cNvPicPr>
          <p:nvPr/>
        </p:nvPicPr>
        <p:blipFill>
          <a:blip r:embed="rId2"/>
          <a:srcRect/>
          <a:stretch>
            <a:fillRect/>
          </a:stretch>
        </p:blipFill>
        <p:spPr bwMode="auto">
          <a:xfrm>
            <a:off x="1071538" y="1773238"/>
            <a:ext cx="6286543" cy="4441844"/>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9FF07FD1-50BF-4D6B-8057-D51961227F55}"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p>
            <a:fld id="{33A4E3F8-BE5F-4E80-A0FE-585E70ADAABF}" type="slidenum">
              <a:rPr lang="en-GB" smtClean="0"/>
              <a:pPr/>
              <a:t>47</a:t>
            </a:fld>
            <a:endParaRPr lang="en-GB"/>
          </a:p>
        </p:txBody>
      </p:sp>
      <p:sp>
        <p:nvSpPr>
          <p:cNvPr id="19459" name="Rectangle 2"/>
          <p:cNvSpPr>
            <a:spLocks noGrp="1" noChangeArrowheads="1"/>
          </p:cNvSpPr>
          <p:nvPr>
            <p:ph type="title"/>
          </p:nvPr>
        </p:nvSpPr>
        <p:spPr>
          <a:xfrm>
            <a:off x="428596" y="714356"/>
            <a:ext cx="8477250" cy="947738"/>
          </a:xfrm>
          <a:noFill/>
        </p:spPr>
        <p:txBody>
          <a:bodyPr lIns="90488" tIns="44450" rIns="90488" bIns="44450"/>
          <a:lstStyle/>
          <a:p>
            <a:r>
              <a:rPr lang="en-GB" b="1" dirty="0"/>
              <a:t>Step 3 Requirements Collection and Analysis</a:t>
            </a:r>
          </a:p>
        </p:txBody>
      </p:sp>
      <p:sp>
        <p:nvSpPr>
          <p:cNvPr id="22531" name="Rectangle 3"/>
          <p:cNvSpPr>
            <a:spLocks noGrp="1" noChangeArrowheads="1"/>
          </p:cNvSpPr>
          <p:nvPr>
            <p:ph type="body" idx="1"/>
          </p:nvPr>
        </p:nvSpPr>
        <p:spPr>
          <a:xfrm>
            <a:off x="285750" y="1643050"/>
            <a:ext cx="8572500" cy="5072098"/>
          </a:xfrm>
          <a:noFill/>
        </p:spPr>
        <p:txBody>
          <a:bodyPr lIns="90488" tIns="44450" rIns="90488" bIns="44450"/>
          <a:lstStyle/>
          <a:p>
            <a:pPr algn="just"/>
            <a:r>
              <a:rPr lang="en-GB" sz="2400" dirty="0"/>
              <a:t>Process of collecting and analyzing information about the part of organization to be supported by the database system, and using this information to identify users’ requirements (Needs or wants) of new system.</a:t>
            </a:r>
          </a:p>
          <a:p>
            <a:pPr algn="just"/>
            <a:endParaRPr lang="en-GB" sz="2400" dirty="0">
              <a:latin typeface="Times" pitchFamily="18" charset="0"/>
              <a:cs typeface="Times New Roman" pitchFamily="18" charset="0"/>
            </a:endParaRPr>
          </a:p>
          <a:p>
            <a:pPr algn="just"/>
            <a:r>
              <a:rPr lang="en-GB" sz="2400" dirty="0"/>
              <a:t>At this stage, the designers efforts are focused on:</a:t>
            </a:r>
          </a:p>
          <a:p>
            <a:pPr lvl="1" algn="just"/>
            <a:r>
              <a:rPr lang="en-GB" sz="2300" dirty="0"/>
              <a:t>Information Users (who will use the information?)</a:t>
            </a:r>
          </a:p>
          <a:p>
            <a:pPr lvl="1" algn="just"/>
            <a:r>
              <a:rPr lang="en-GB" sz="2300" dirty="0"/>
              <a:t>Information needs (What kind of information is needed?)</a:t>
            </a:r>
          </a:p>
          <a:p>
            <a:pPr lvl="1" algn="just"/>
            <a:r>
              <a:rPr lang="en-GB" sz="2300" dirty="0"/>
              <a:t>Information Sources (Where is the information to be found and how is it to be extracted?)</a:t>
            </a:r>
          </a:p>
          <a:p>
            <a:pPr lvl="1" algn="just"/>
            <a:r>
              <a:rPr lang="en-GB" sz="2300" dirty="0"/>
              <a:t>Information Constitution (What data entities are needed, attributes and their relationships) </a:t>
            </a:r>
          </a:p>
          <a:p>
            <a:pPr lvl="1" algn="just"/>
            <a:endParaRPr lang="en-GB" sz="2300" dirty="0"/>
          </a:p>
        </p:txBody>
      </p:sp>
      <p:sp>
        <p:nvSpPr>
          <p:cNvPr id="5" name="Date Placeholder 4"/>
          <p:cNvSpPr>
            <a:spLocks noGrp="1"/>
          </p:cNvSpPr>
          <p:nvPr>
            <p:ph type="dt" sz="half" idx="10"/>
          </p:nvPr>
        </p:nvSpPr>
        <p:spPr/>
        <p:txBody>
          <a:bodyPr/>
          <a:lstStyle/>
          <a:p>
            <a:pPr>
              <a:defRPr/>
            </a:pPr>
            <a:fld id="{1BA1AA9C-D56F-4CFC-B8F3-101CF0112042}"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25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253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253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253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225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981075"/>
            <a:ext cx="7467600" cy="715963"/>
          </a:xfrm>
        </p:spPr>
        <p:txBody>
          <a:bodyPr/>
          <a:lstStyle/>
          <a:p>
            <a:pPr eaLnBrk="1" hangingPunct="1"/>
            <a:r>
              <a:rPr lang="en-US" sz="2800" b="1"/>
              <a:t>Requirements Collection and Analysis</a:t>
            </a:r>
          </a:p>
        </p:txBody>
      </p:sp>
      <p:sp>
        <p:nvSpPr>
          <p:cNvPr id="20483" name="Content Placeholder 2"/>
          <p:cNvSpPr>
            <a:spLocks noGrp="1"/>
          </p:cNvSpPr>
          <p:nvPr>
            <p:ph idx="1"/>
          </p:nvPr>
        </p:nvSpPr>
        <p:spPr>
          <a:xfrm>
            <a:off x="214282" y="1773238"/>
            <a:ext cx="8750331" cy="4870472"/>
          </a:xfrm>
        </p:spPr>
        <p:txBody>
          <a:bodyPr/>
          <a:lstStyle/>
          <a:p>
            <a:pPr eaLnBrk="1" hangingPunct="1"/>
            <a:r>
              <a:rPr lang="en-US" dirty="0"/>
              <a:t>Gathered information may be poorly structured or in form of informal requests.</a:t>
            </a:r>
          </a:p>
          <a:p>
            <a:pPr eaLnBrk="1" hangingPunct="1">
              <a:spcBef>
                <a:spcPct val="0"/>
              </a:spcBef>
            </a:pPr>
            <a:endParaRPr lang="en-US" dirty="0"/>
          </a:p>
          <a:p>
            <a:pPr eaLnBrk="1" hangingPunct="1"/>
            <a:r>
              <a:rPr lang="en-US" dirty="0"/>
              <a:t>Must be converted into more structured statements of requirements using requirement specification techniques such as </a:t>
            </a:r>
            <a:r>
              <a:rPr lang="en-US" b="1" dirty="0"/>
              <a:t>data flow diagrams</a:t>
            </a:r>
            <a:r>
              <a:rPr lang="en-US" dirty="0"/>
              <a:t>, </a:t>
            </a:r>
            <a:r>
              <a:rPr lang="en-US" b="1" dirty="0"/>
              <a:t>structured analysis and Design (SAD) </a:t>
            </a:r>
            <a:r>
              <a:rPr lang="en-US" dirty="0"/>
              <a:t>techniques, </a:t>
            </a:r>
            <a:r>
              <a:rPr lang="en-US" b="1" dirty="0"/>
              <a:t>CASE tools</a:t>
            </a:r>
            <a:r>
              <a:rPr lang="en-US" dirty="0"/>
              <a:t>; to ensure that the  requirements are complete and consistent. </a:t>
            </a:r>
          </a:p>
          <a:p>
            <a:pPr eaLnBrk="1" hangingPunct="1">
              <a:spcBef>
                <a:spcPct val="0"/>
              </a:spcBef>
            </a:pPr>
            <a:endParaRPr lang="en-US" dirty="0"/>
          </a:p>
          <a:p>
            <a:pPr eaLnBrk="1" hangingPunct="1"/>
            <a:r>
              <a:rPr lang="en-US" dirty="0"/>
              <a:t>Information is analyzed to obtain the requirements which are stored in documents collectively known as Requirements Specification (SRS) for the new database application.</a:t>
            </a:r>
          </a:p>
        </p:txBody>
      </p:sp>
      <p:sp>
        <p:nvSpPr>
          <p:cNvPr id="22532" name="Slide Number Placeholder 3"/>
          <p:cNvSpPr>
            <a:spLocks noGrp="1"/>
          </p:cNvSpPr>
          <p:nvPr>
            <p:ph type="sldNum" sz="quarter" idx="12"/>
          </p:nvPr>
        </p:nvSpPr>
        <p:spPr/>
        <p:txBody>
          <a:bodyPr/>
          <a:lstStyle/>
          <a:p>
            <a:pPr>
              <a:defRPr/>
            </a:pPr>
            <a:fld id="{219C6947-76AF-456A-9A43-4274AE1A3C8B}" type="slidenum">
              <a:rPr lang="en-US" smtClean="0"/>
              <a:pPr>
                <a:defRPr/>
              </a:pPr>
              <a:t>48</a:t>
            </a:fld>
            <a:endParaRPr lang="en-US"/>
          </a:p>
        </p:txBody>
      </p:sp>
      <p:sp>
        <p:nvSpPr>
          <p:cNvPr id="5" name="Date Placeholder 4"/>
          <p:cNvSpPr>
            <a:spLocks noGrp="1"/>
          </p:cNvSpPr>
          <p:nvPr>
            <p:ph type="dt" sz="half" idx="10"/>
          </p:nvPr>
        </p:nvSpPr>
        <p:spPr/>
        <p:txBody>
          <a:bodyPr/>
          <a:lstStyle/>
          <a:p>
            <a:pPr>
              <a:defRPr/>
            </a:pPr>
            <a:fld id="{F6C681CF-9E06-46EA-A119-3E533813F1F6}"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1026"/>
          <p:cNvSpPr>
            <a:spLocks noGrp="1" noChangeArrowheads="1"/>
          </p:cNvSpPr>
          <p:nvPr>
            <p:ph type="title"/>
          </p:nvPr>
        </p:nvSpPr>
        <p:spPr/>
        <p:txBody>
          <a:bodyPr lIns="90488" tIns="44450" rIns="90488" bIns="44450"/>
          <a:lstStyle/>
          <a:p>
            <a:pPr eaLnBrk="1" hangingPunct="1"/>
            <a:r>
              <a:rPr lang="en-GB" b="1"/>
              <a:t>Requirements Collection and Analysis</a:t>
            </a:r>
          </a:p>
        </p:txBody>
      </p:sp>
      <p:sp>
        <p:nvSpPr>
          <p:cNvPr id="134147" name="Rectangle 1027"/>
          <p:cNvSpPr>
            <a:spLocks noGrp="1" noChangeArrowheads="1"/>
          </p:cNvSpPr>
          <p:nvPr>
            <p:ph idx="1"/>
          </p:nvPr>
        </p:nvSpPr>
        <p:spPr>
          <a:xfrm>
            <a:off x="457200" y="1835150"/>
            <a:ext cx="8291513" cy="4114800"/>
          </a:xfrm>
        </p:spPr>
        <p:txBody>
          <a:bodyPr lIns="90488" tIns="44450" rIns="90488" bIns="44450"/>
          <a:lstStyle/>
          <a:p>
            <a:pPr eaLnBrk="1" hangingPunct="1">
              <a:defRPr/>
            </a:pPr>
            <a:r>
              <a:rPr lang="en-US" sz="2800" dirty="0">
                <a:latin typeface="Times" pitchFamily="18" charset="0"/>
                <a:cs typeface="Times New Roman" pitchFamily="18" charset="0"/>
              </a:rPr>
              <a:t>Another important activity is deciding how to manage database application with multiple user views. </a:t>
            </a:r>
          </a:p>
          <a:p>
            <a:pPr eaLnBrk="1" hangingPunct="1">
              <a:defRPr/>
            </a:pPr>
            <a:endParaRPr lang="en-US" sz="2800" dirty="0">
              <a:latin typeface="Times" pitchFamily="18" charset="0"/>
              <a:cs typeface="Times New Roman" pitchFamily="18" charset="0"/>
            </a:endParaRPr>
          </a:p>
          <a:p>
            <a:pPr eaLnBrk="1" hangingPunct="1">
              <a:defRPr/>
            </a:pPr>
            <a:r>
              <a:rPr lang="en-US" sz="2800" dirty="0">
                <a:latin typeface="Times" pitchFamily="18" charset="0"/>
                <a:cs typeface="Times New Roman" pitchFamily="18" charset="0"/>
              </a:rPr>
              <a:t>Three main approaches:</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b="1" i="1" kern="1200" dirty="0">
                <a:latin typeface="Times" pitchFamily="18" charset="0"/>
                <a:ea typeface="+mn-ea"/>
                <a:cs typeface="Times New Roman" pitchFamily="18" charset="0"/>
              </a:rPr>
              <a:t>centralized approach</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b="1" i="1" kern="1200" dirty="0">
                <a:latin typeface="Times" pitchFamily="18" charset="0"/>
                <a:ea typeface="+mn-ea"/>
                <a:cs typeface="Times New Roman" pitchFamily="18" charset="0"/>
              </a:rPr>
              <a:t>view integration approach</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b="1" i="1" kern="1200" dirty="0">
                <a:latin typeface="Times" pitchFamily="18" charset="0"/>
                <a:ea typeface="+mn-ea"/>
                <a:cs typeface="Times New Roman" pitchFamily="18" charset="0"/>
              </a:rPr>
              <a:t>combination of both approaches.</a:t>
            </a:r>
          </a:p>
        </p:txBody>
      </p:sp>
      <p:sp>
        <p:nvSpPr>
          <p:cNvPr id="46084" name="Slide Number Placeholder 5"/>
          <p:cNvSpPr>
            <a:spLocks noGrp="1"/>
          </p:cNvSpPr>
          <p:nvPr>
            <p:ph type="sldNum" sz="quarter" idx="12"/>
          </p:nvPr>
        </p:nvSpPr>
        <p:spPr>
          <a:noFill/>
        </p:spPr>
        <p:txBody>
          <a:bodyPr/>
          <a:lstStyle/>
          <a:p>
            <a:fld id="{5B9BAF2E-0240-40CA-9D6A-46AE305AF9F4}" type="slidenum">
              <a:rPr lang="en-US" smtClean="0">
                <a:latin typeface="Arial" pitchFamily="34" charset="0"/>
                <a:ea typeface="ＭＳ Ｐゴシック" pitchFamily="34" charset="-128"/>
              </a:rPr>
              <a:pPr/>
              <a:t>49</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4BBB9B7E-D44E-45E8-A835-2033FE2FD688}"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41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41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3414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13414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341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lIns="90488" tIns="44450" rIns="90488" bIns="44450"/>
          <a:lstStyle/>
          <a:p>
            <a:pPr eaLnBrk="1" hangingPunct="1"/>
            <a:r>
              <a:rPr lang="en-GB" b="1"/>
              <a:t>Requirements Collection and Analysis</a:t>
            </a:r>
          </a:p>
        </p:txBody>
      </p:sp>
      <p:sp>
        <p:nvSpPr>
          <p:cNvPr id="133123" name="Rectangle 3"/>
          <p:cNvSpPr>
            <a:spLocks noGrp="1" noChangeArrowheads="1"/>
          </p:cNvSpPr>
          <p:nvPr>
            <p:ph idx="1"/>
          </p:nvPr>
        </p:nvSpPr>
        <p:spPr>
          <a:xfrm>
            <a:off x="533400" y="1744663"/>
            <a:ext cx="7999413" cy="4564062"/>
          </a:xfrm>
        </p:spPr>
        <p:txBody>
          <a:bodyPr lIns="90488" tIns="44450" rIns="90488" bIns="44450"/>
          <a:lstStyle/>
          <a:p>
            <a:pPr eaLnBrk="1" hangingPunct="1">
              <a:buFont typeface="Wingdings" pitchFamily="2" charset="2"/>
              <a:buNone/>
              <a:defRPr/>
            </a:pPr>
            <a:r>
              <a:rPr lang="en-US" sz="2800" b="1" dirty="0">
                <a:latin typeface="Times" pitchFamily="18" charset="0"/>
                <a:cs typeface="Times New Roman" pitchFamily="18" charset="0"/>
              </a:rPr>
              <a:t>Centralized approach </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b="1" i="1" kern="1200" dirty="0">
                <a:ea typeface="+mn-ea"/>
                <a:cs typeface="Times New Roman" pitchFamily="18" charset="0"/>
              </a:rPr>
              <a:t>Requirements for each user view are merged into a single set of requirements. </a:t>
            </a:r>
          </a:p>
          <a:p>
            <a:pPr marL="974725" lvl="3" indent="-395288" eaLnBrk="1" hangingPunct="1">
              <a:spcBef>
                <a:spcPts val="600"/>
              </a:spcBef>
              <a:spcAft>
                <a:spcPts val="0"/>
              </a:spcAft>
              <a:buClr>
                <a:schemeClr val="bg2"/>
              </a:buClr>
              <a:buSzPct val="100000"/>
              <a:buFont typeface="Wingdings" pitchFamily="2" charset="2"/>
              <a:buChar char="ü"/>
              <a:defRPr/>
            </a:pPr>
            <a:r>
              <a:rPr lang="en-US" sz="2400" kern="1200" dirty="0">
                <a:ea typeface="+mn-ea"/>
                <a:cs typeface="Times New Roman" pitchFamily="18" charset="0"/>
              </a:rPr>
              <a:t>A global data model is created based on the merged requirements (which represents all user views). </a:t>
            </a:r>
          </a:p>
          <a:p>
            <a:pPr eaLnBrk="1" hangingPunct="1">
              <a:defRPr/>
            </a:pPr>
            <a:endParaRPr lang="en-US" sz="2800" dirty="0">
              <a:cs typeface="Times New Roman" pitchFamily="18" charset="0"/>
            </a:endParaRPr>
          </a:p>
          <a:p>
            <a:pPr eaLnBrk="1" hangingPunct="1">
              <a:defRPr/>
            </a:pPr>
            <a:r>
              <a:rPr lang="en-US" dirty="0">
                <a:cs typeface="Times New Roman" pitchFamily="18" charset="0"/>
              </a:rPr>
              <a:t>Suitable when there is a significant overlap in requirements for each user view and the database system is not overly complex. </a:t>
            </a:r>
          </a:p>
        </p:txBody>
      </p:sp>
      <p:sp>
        <p:nvSpPr>
          <p:cNvPr id="47108" name="Slide Number Placeholder 5"/>
          <p:cNvSpPr>
            <a:spLocks noGrp="1"/>
          </p:cNvSpPr>
          <p:nvPr>
            <p:ph type="sldNum" sz="quarter" idx="12"/>
          </p:nvPr>
        </p:nvSpPr>
        <p:spPr>
          <a:noFill/>
        </p:spPr>
        <p:txBody>
          <a:bodyPr/>
          <a:lstStyle/>
          <a:p>
            <a:fld id="{EF1F46F4-1FE9-4C6E-BEF9-A80D398B4F1E}" type="slidenum">
              <a:rPr lang="en-US" smtClean="0">
                <a:latin typeface="Arial" pitchFamily="34" charset="0"/>
                <a:ea typeface="ＭＳ Ｐゴシック" pitchFamily="34" charset="-128"/>
              </a:rPr>
              <a:pPr/>
              <a:t>50</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6FEFB1D2-F5A2-4DE6-A9EB-8BA6C9F8EC87}"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1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3312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33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lIns="90488" tIns="44450" rIns="90488" bIns="44450"/>
          <a:lstStyle/>
          <a:p>
            <a:pPr eaLnBrk="1" hangingPunct="1"/>
            <a:r>
              <a:rPr lang="en-US" b="1">
                <a:latin typeface="Times" pitchFamily="18" charset="0"/>
                <a:cs typeface="Times New Roman" pitchFamily="18" charset="0"/>
              </a:rPr>
              <a:t>Centralized approach to managing multiple user views </a:t>
            </a:r>
            <a:endParaRPr lang="en-GB" b="1">
              <a:latin typeface="Times" pitchFamily="18" charset="0"/>
              <a:cs typeface="Times New Roman" pitchFamily="18" charset="0"/>
            </a:endParaRPr>
          </a:p>
        </p:txBody>
      </p:sp>
      <p:sp>
        <p:nvSpPr>
          <p:cNvPr id="48131" name="Slide Number Placeholder 5"/>
          <p:cNvSpPr>
            <a:spLocks noGrp="1"/>
          </p:cNvSpPr>
          <p:nvPr>
            <p:ph type="sldNum" sz="quarter" idx="12"/>
          </p:nvPr>
        </p:nvSpPr>
        <p:spPr>
          <a:noFill/>
        </p:spPr>
        <p:txBody>
          <a:bodyPr/>
          <a:lstStyle/>
          <a:p>
            <a:fld id="{C0974AFD-44D9-4EE4-8592-02A6BF37C1FD}" type="slidenum">
              <a:rPr lang="en-US" smtClean="0">
                <a:latin typeface="Arial" pitchFamily="34" charset="0"/>
                <a:ea typeface="ＭＳ Ｐゴシック" pitchFamily="34" charset="-128"/>
              </a:rPr>
              <a:pPr/>
              <a:t>51</a:t>
            </a:fld>
            <a:endParaRPr lang="en-US">
              <a:latin typeface="Arial" pitchFamily="34" charset="0"/>
              <a:ea typeface="ＭＳ Ｐゴシック" pitchFamily="34" charset="-128"/>
            </a:endParaRPr>
          </a:p>
        </p:txBody>
      </p:sp>
      <p:pic>
        <p:nvPicPr>
          <p:cNvPr id="136197" name="Picture 5" descr="DS3-Figure 09-03"/>
          <p:cNvPicPr>
            <a:picLocks noChangeAspect="1" noChangeArrowheads="1"/>
          </p:cNvPicPr>
          <p:nvPr/>
        </p:nvPicPr>
        <p:blipFill>
          <a:blip r:embed="rId2"/>
          <a:srcRect/>
          <a:stretch>
            <a:fillRect/>
          </a:stretch>
        </p:blipFill>
        <p:spPr bwMode="auto">
          <a:xfrm>
            <a:off x="533400" y="1892300"/>
            <a:ext cx="8070850" cy="4306888"/>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39971C5C-5E3C-47A4-B85E-03E154ED12CC}"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36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lIns="90488" tIns="44450" rIns="90488" bIns="44450"/>
          <a:lstStyle/>
          <a:p>
            <a:pPr eaLnBrk="1" hangingPunct="1"/>
            <a:r>
              <a:rPr lang="en-GB" b="1"/>
              <a:t>Requirements Collection and Analysis</a:t>
            </a:r>
          </a:p>
        </p:txBody>
      </p:sp>
      <p:sp>
        <p:nvSpPr>
          <p:cNvPr id="137219" name="Rectangle 3"/>
          <p:cNvSpPr>
            <a:spLocks noGrp="1" noChangeArrowheads="1"/>
          </p:cNvSpPr>
          <p:nvPr>
            <p:ph idx="1"/>
          </p:nvPr>
        </p:nvSpPr>
        <p:spPr>
          <a:xfrm>
            <a:off x="395288" y="1762125"/>
            <a:ext cx="8534400" cy="5095875"/>
          </a:xfrm>
        </p:spPr>
        <p:txBody>
          <a:bodyPr lIns="90488" tIns="44450" rIns="90488" bIns="44450"/>
          <a:lstStyle/>
          <a:p>
            <a:pPr eaLnBrk="1" hangingPunct="1">
              <a:buFont typeface="Wingdings" pitchFamily="2" charset="2"/>
              <a:buNone/>
              <a:defRPr/>
            </a:pPr>
            <a:r>
              <a:rPr lang="en-US" sz="2800" b="1" dirty="0">
                <a:latin typeface="Times" pitchFamily="18" charset="0"/>
                <a:cs typeface="Times New Roman" pitchFamily="18" charset="0"/>
              </a:rPr>
              <a:t>View integration approach</a:t>
            </a:r>
          </a:p>
          <a:p>
            <a:pPr marL="974725" lvl="3" indent="-395288" eaLnBrk="1" hangingPunct="1">
              <a:spcBef>
                <a:spcPts val="600"/>
              </a:spcBef>
              <a:spcAft>
                <a:spcPts val="600"/>
              </a:spcAft>
              <a:buClr>
                <a:schemeClr val="bg2"/>
              </a:buClr>
              <a:buSzPct val="100000"/>
              <a:buFont typeface="Wingdings" pitchFamily="2" charset="2"/>
              <a:buChar char="ü"/>
              <a:defRPr/>
            </a:pPr>
            <a:r>
              <a:rPr lang="en-US" sz="2400" b="1" i="1" kern="1200" dirty="0">
                <a:latin typeface="+mj-lt"/>
                <a:ea typeface="+mn-ea"/>
                <a:cs typeface="Times New Roman" pitchFamily="18" charset="0"/>
              </a:rPr>
              <a:t>Requirements for each user view are used to build a separate data model.</a:t>
            </a:r>
          </a:p>
          <a:p>
            <a:pPr eaLnBrk="1" hangingPunct="1">
              <a:spcAft>
                <a:spcPts val="600"/>
              </a:spcAft>
              <a:defRPr/>
            </a:pPr>
            <a:r>
              <a:rPr lang="en-US" dirty="0">
                <a:latin typeface="+mj-lt"/>
              </a:rPr>
              <a:t>Suitable when there are significant differences between the user views and the database application is sufficiently complex and requires to be broken into manageable pieces.</a:t>
            </a:r>
          </a:p>
          <a:p>
            <a:pPr eaLnBrk="1" hangingPunct="1">
              <a:spcAft>
                <a:spcPts val="600"/>
              </a:spcAft>
              <a:defRPr/>
            </a:pPr>
            <a:r>
              <a:rPr lang="en-US" dirty="0">
                <a:latin typeface="+mj-lt"/>
                <a:cs typeface="Times New Roman" pitchFamily="18" charset="0"/>
              </a:rPr>
              <a:t>Data model representing single user view is called a </a:t>
            </a:r>
            <a:r>
              <a:rPr lang="en-US" u="sng" dirty="0">
                <a:latin typeface="+mj-lt"/>
                <a:cs typeface="Times New Roman" pitchFamily="18" charset="0"/>
              </a:rPr>
              <a:t>local data model</a:t>
            </a:r>
            <a:r>
              <a:rPr lang="en-US" dirty="0">
                <a:latin typeface="+mj-lt"/>
                <a:cs typeface="Times New Roman" pitchFamily="18" charset="0"/>
              </a:rPr>
              <a:t>, composed of diagrams and documentation describing requirements of a particular user view of  database. </a:t>
            </a:r>
          </a:p>
          <a:p>
            <a:pPr eaLnBrk="1" hangingPunct="1">
              <a:spcAft>
                <a:spcPts val="600"/>
              </a:spcAft>
              <a:defRPr/>
            </a:pPr>
            <a:r>
              <a:rPr lang="en-US" dirty="0">
                <a:latin typeface="+mj-lt"/>
                <a:cs typeface="Times New Roman" pitchFamily="18" charset="0"/>
              </a:rPr>
              <a:t>Local data models are then merged to produce a </a:t>
            </a:r>
            <a:r>
              <a:rPr lang="en-US" u="sng" dirty="0">
                <a:latin typeface="+mj-lt"/>
                <a:cs typeface="Times New Roman" pitchFamily="18" charset="0"/>
              </a:rPr>
              <a:t>global data model</a:t>
            </a:r>
            <a:r>
              <a:rPr lang="en-US" dirty="0">
                <a:latin typeface="+mj-lt"/>
                <a:cs typeface="Times New Roman" pitchFamily="18" charset="0"/>
              </a:rPr>
              <a:t>, which represents all user views for the database</a:t>
            </a:r>
            <a:r>
              <a:rPr lang="en-US" dirty="0">
                <a:latin typeface="Times" pitchFamily="18" charset="0"/>
                <a:cs typeface="Times New Roman" pitchFamily="18" charset="0"/>
              </a:rPr>
              <a:t>. </a:t>
            </a:r>
            <a:endParaRPr lang="en-GB" dirty="0">
              <a:latin typeface="Times" pitchFamily="18" charset="0"/>
              <a:cs typeface="Times New Roman" pitchFamily="18" charset="0"/>
            </a:endParaRPr>
          </a:p>
          <a:p>
            <a:pPr eaLnBrk="1" hangingPunct="1">
              <a:buFont typeface="Wingdings" pitchFamily="2" charset="2"/>
              <a:buNone/>
              <a:defRPr/>
            </a:pPr>
            <a:r>
              <a:rPr lang="en-US" dirty="0"/>
              <a:t> </a:t>
            </a:r>
          </a:p>
          <a:p>
            <a:pPr lvl="1" eaLnBrk="1" hangingPunct="1">
              <a:defRPr/>
            </a:pPr>
            <a:endParaRPr lang="en-GB" sz="3200" b="1" dirty="0">
              <a:latin typeface="Times" pitchFamily="18" charset="0"/>
              <a:cs typeface="Times New Roman" pitchFamily="18" charset="0"/>
            </a:endParaRPr>
          </a:p>
        </p:txBody>
      </p:sp>
      <p:sp>
        <p:nvSpPr>
          <p:cNvPr id="49156" name="Slide Number Placeholder 5"/>
          <p:cNvSpPr>
            <a:spLocks noGrp="1"/>
          </p:cNvSpPr>
          <p:nvPr>
            <p:ph type="sldNum" sz="quarter" idx="12"/>
          </p:nvPr>
        </p:nvSpPr>
        <p:spPr>
          <a:noFill/>
        </p:spPr>
        <p:txBody>
          <a:bodyPr/>
          <a:lstStyle/>
          <a:p>
            <a:fld id="{C790A891-B134-4B68-9713-6B3E470A9A4F}" type="slidenum">
              <a:rPr lang="en-US" smtClean="0">
                <a:latin typeface="Arial" pitchFamily="34" charset="0"/>
                <a:ea typeface="ＭＳ Ｐゴシック" pitchFamily="34" charset="-128"/>
              </a:rPr>
              <a:pPr/>
              <a:t>52</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CF0ED73E-5976-4337-B002-034C6DCAF8F2}"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7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37219">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37219">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7219">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37219">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3721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lIns="90488" tIns="44450" rIns="90488" bIns="44450"/>
          <a:lstStyle/>
          <a:p>
            <a:pPr eaLnBrk="1" hangingPunct="1"/>
            <a:r>
              <a:rPr lang="en-US" b="1">
                <a:latin typeface="Times" pitchFamily="18" charset="0"/>
                <a:cs typeface="Times New Roman" pitchFamily="18" charset="0"/>
              </a:rPr>
              <a:t>View integration approach to managing multiple user views </a:t>
            </a:r>
            <a:endParaRPr lang="en-GB" b="1">
              <a:latin typeface="Times" pitchFamily="18" charset="0"/>
              <a:cs typeface="Times New Roman" pitchFamily="18" charset="0"/>
            </a:endParaRPr>
          </a:p>
        </p:txBody>
      </p:sp>
      <p:sp>
        <p:nvSpPr>
          <p:cNvPr id="50179" name="Slide Number Placeholder 5"/>
          <p:cNvSpPr>
            <a:spLocks noGrp="1"/>
          </p:cNvSpPr>
          <p:nvPr>
            <p:ph type="sldNum" sz="quarter" idx="12"/>
          </p:nvPr>
        </p:nvSpPr>
        <p:spPr>
          <a:noFill/>
        </p:spPr>
        <p:txBody>
          <a:bodyPr/>
          <a:lstStyle/>
          <a:p>
            <a:fld id="{0B9BE1FF-C064-4D83-8AC0-1573F25D5133}" type="slidenum">
              <a:rPr lang="en-US" smtClean="0">
                <a:latin typeface="Arial" pitchFamily="34" charset="0"/>
                <a:ea typeface="ＭＳ Ｐゴシック" pitchFamily="34" charset="-128"/>
              </a:rPr>
              <a:pPr/>
              <a:t>53</a:t>
            </a:fld>
            <a:endParaRPr lang="en-US">
              <a:latin typeface="Arial" pitchFamily="34" charset="0"/>
              <a:ea typeface="ＭＳ Ｐゴシック" pitchFamily="34" charset="-128"/>
            </a:endParaRPr>
          </a:p>
        </p:txBody>
      </p:sp>
      <p:pic>
        <p:nvPicPr>
          <p:cNvPr id="50180" name="Picture 5" descr="DS3-Figure 09-04"/>
          <p:cNvPicPr>
            <a:picLocks noChangeAspect="1" noChangeArrowheads="1"/>
          </p:cNvPicPr>
          <p:nvPr/>
        </p:nvPicPr>
        <p:blipFill>
          <a:blip r:embed="rId2"/>
          <a:srcRect/>
          <a:stretch>
            <a:fillRect/>
          </a:stretch>
        </p:blipFill>
        <p:spPr bwMode="auto">
          <a:xfrm>
            <a:off x="1030288" y="1803400"/>
            <a:ext cx="6781800" cy="5010150"/>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24A3F208-CABA-4EF1-8FE6-2FBE234C1FF4}"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0450"/>
            <a:ext cx="7467600" cy="639763"/>
          </a:xfrm>
        </p:spPr>
        <p:txBody>
          <a:bodyPr>
            <a:normAutofit fontScale="90000"/>
          </a:bodyPr>
          <a:lstStyle/>
          <a:p>
            <a:pPr eaLnBrk="1" fontAlgn="auto" hangingPunct="1">
              <a:spcAft>
                <a:spcPts val="0"/>
              </a:spcAft>
              <a:defRPr/>
            </a:pPr>
            <a:r>
              <a:rPr lang="en-GB" b="1" dirty="0"/>
              <a:t>Requirements Collection and Analysis</a:t>
            </a:r>
            <a:endParaRPr lang="en-US" dirty="0"/>
          </a:p>
        </p:txBody>
      </p:sp>
      <p:sp>
        <p:nvSpPr>
          <p:cNvPr id="51203" name="Content Placeholder 2"/>
          <p:cNvSpPr>
            <a:spLocks noGrp="1"/>
          </p:cNvSpPr>
          <p:nvPr>
            <p:ph idx="1"/>
          </p:nvPr>
        </p:nvSpPr>
        <p:spPr>
          <a:xfrm>
            <a:off x="457200" y="1773238"/>
            <a:ext cx="8435975" cy="4700587"/>
          </a:xfrm>
        </p:spPr>
        <p:txBody>
          <a:bodyPr/>
          <a:lstStyle/>
          <a:p>
            <a:pPr eaLnBrk="1" hangingPunct="1">
              <a:buFont typeface="Wingdings" pitchFamily="2" charset="2"/>
              <a:buNone/>
            </a:pPr>
            <a:r>
              <a:rPr lang="en-US" sz="2800" b="1">
                <a:latin typeface="Times" pitchFamily="18" charset="0"/>
                <a:cs typeface="Times New Roman" pitchFamily="18" charset="0"/>
              </a:rPr>
              <a:t>Combination of both; </a:t>
            </a:r>
          </a:p>
          <a:p>
            <a:pPr eaLnBrk="1" hangingPunct="1"/>
            <a:r>
              <a:rPr lang="en-US"/>
              <a:t>In case of overlapping requirements from different user views, a combined list of requirements is generated. </a:t>
            </a:r>
          </a:p>
          <a:p>
            <a:pPr eaLnBrk="1" hangingPunct="1"/>
            <a:endParaRPr lang="en-US"/>
          </a:p>
          <a:p>
            <a:pPr eaLnBrk="1" hangingPunct="1"/>
            <a:r>
              <a:rPr lang="en-US"/>
              <a:t>User views that have significantly different requirements are left as separate requirements lists. </a:t>
            </a:r>
          </a:p>
          <a:p>
            <a:pPr eaLnBrk="1" hangingPunct="1"/>
            <a:endParaRPr lang="en-US"/>
          </a:p>
          <a:p>
            <a:pPr eaLnBrk="1" hangingPunct="1"/>
            <a:r>
              <a:rPr lang="en-US"/>
              <a:t>The resulting requirements lists are then fed into the database design stage where the data models are built. </a:t>
            </a:r>
          </a:p>
        </p:txBody>
      </p:sp>
      <p:sp>
        <p:nvSpPr>
          <p:cNvPr id="51204" name="Slide Number Placeholder 3"/>
          <p:cNvSpPr>
            <a:spLocks noGrp="1"/>
          </p:cNvSpPr>
          <p:nvPr>
            <p:ph type="sldNum" sz="quarter" idx="12"/>
          </p:nvPr>
        </p:nvSpPr>
        <p:spPr>
          <a:noFill/>
        </p:spPr>
        <p:txBody>
          <a:bodyPr/>
          <a:lstStyle/>
          <a:p>
            <a:fld id="{8434E8DD-BD9E-4EC3-9E8C-3831D74F18A9}" type="slidenum">
              <a:rPr lang="en-US" smtClean="0">
                <a:latin typeface="Arial" pitchFamily="34" charset="0"/>
                <a:ea typeface="ＭＳ Ｐゴシック" pitchFamily="34" charset="-128"/>
              </a:rPr>
              <a:pPr/>
              <a:t>54</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9B7E47B-F573-4C05-BCB0-F580E1A1CA40}"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lIns="90488" tIns="44450" rIns="90488" bIns="44450"/>
          <a:lstStyle/>
          <a:p>
            <a:pPr eaLnBrk="1" hangingPunct="1"/>
            <a:r>
              <a:rPr lang="en-US" sz="3200" b="1" dirty="0">
                <a:latin typeface="Times" pitchFamily="18" charset="0"/>
                <a:cs typeface="Times New Roman" pitchFamily="18" charset="0"/>
              </a:rPr>
              <a:t>Representation of a database application with multiple user views</a:t>
            </a:r>
            <a:endParaRPr lang="en-GB" sz="3200" b="1" dirty="0">
              <a:latin typeface="Times" pitchFamily="18" charset="0"/>
              <a:cs typeface="Times New Roman" pitchFamily="18" charset="0"/>
            </a:endParaRPr>
          </a:p>
        </p:txBody>
      </p:sp>
      <p:sp>
        <p:nvSpPr>
          <p:cNvPr id="52227" name="Slide Number Placeholder 5"/>
          <p:cNvSpPr>
            <a:spLocks noGrp="1"/>
          </p:cNvSpPr>
          <p:nvPr>
            <p:ph type="sldNum" sz="quarter" idx="12"/>
          </p:nvPr>
        </p:nvSpPr>
        <p:spPr>
          <a:noFill/>
        </p:spPr>
        <p:txBody>
          <a:bodyPr/>
          <a:lstStyle/>
          <a:p>
            <a:fld id="{1A6020D7-EEE2-4F29-B897-DBE81DE42417}" type="slidenum">
              <a:rPr lang="en-US" smtClean="0">
                <a:latin typeface="Arial" pitchFamily="34" charset="0"/>
                <a:ea typeface="ＭＳ Ｐゴシック" pitchFamily="34" charset="-128"/>
              </a:rPr>
              <a:pPr/>
              <a:t>55</a:t>
            </a:fld>
            <a:endParaRPr lang="en-US">
              <a:latin typeface="Arial" pitchFamily="34" charset="0"/>
              <a:ea typeface="ＭＳ Ｐゴシック" pitchFamily="34" charset="-128"/>
            </a:endParaRPr>
          </a:p>
        </p:txBody>
      </p:sp>
      <p:pic>
        <p:nvPicPr>
          <p:cNvPr id="52228" name="Picture 4" descr="DS3-Figure 09-02"/>
          <p:cNvPicPr>
            <a:picLocks noChangeAspect="1" noChangeArrowheads="1"/>
          </p:cNvPicPr>
          <p:nvPr/>
        </p:nvPicPr>
        <p:blipFill>
          <a:blip r:embed="rId2"/>
          <a:srcRect/>
          <a:stretch>
            <a:fillRect/>
          </a:stretch>
        </p:blipFill>
        <p:spPr bwMode="auto">
          <a:xfrm>
            <a:off x="1919288" y="1754188"/>
            <a:ext cx="5461000" cy="4843462"/>
          </a:xfrm>
          <a:prstGeom prst="rect">
            <a:avLst/>
          </a:prstGeom>
          <a:noFill/>
          <a:ln w="9525">
            <a:noFill/>
            <a:miter lim="800000"/>
            <a:headEnd/>
            <a:tailEnd/>
          </a:ln>
        </p:spPr>
      </p:pic>
      <p:sp>
        <p:nvSpPr>
          <p:cNvPr id="5" name="Date Placeholder 4"/>
          <p:cNvSpPr>
            <a:spLocks noGrp="1"/>
          </p:cNvSpPr>
          <p:nvPr>
            <p:ph type="dt" sz="half" idx="10"/>
          </p:nvPr>
        </p:nvSpPr>
        <p:spPr/>
        <p:txBody>
          <a:bodyPr/>
          <a:lstStyle/>
          <a:p>
            <a:pPr>
              <a:defRPr/>
            </a:pPr>
            <a:fld id="{4B6D26FE-AF1D-4231-8CFE-803AF0249222}"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approach wd u use?</a:t>
            </a:r>
          </a:p>
        </p:txBody>
      </p:sp>
      <p:sp>
        <p:nvSpPr>
          <p:cNvPr id="4" name="Date Placeholder 3"/>
          <p:cNvSpPr>
            <a:spLocks noGrp="1"/>
          </p:cNvSpPr>
          <p:nvPr>
            <p:ph type="dt" sz="half" idx="10"/>
          </p:nvPr>
        </p:nvSpPr>
        <p:spPr/>
        <p:txBody>
          <a:bodyPr/>
          <a:lstStyle/>
          <a:p>
            <a:pPr>
              <a:defRPr/>
            </a:pPr>
            <a:fld id="{98303464-372A-410C-8FE6-8B1AA1057586}" type="datetime1">
              <a:rPr lang="en-US" smtClean="0"/>
              <a:pPr>
                <a:defRPr/>
              </a:pPr>
              <a:t>5/30/2022</a:t>
            </a:fld>
            <a:endParaRPr lang="en-US"/>
          </a:p>
        </p:txBody>
      </p:sp>
      <p:sp>
        <p:nvSpPr>
          <p:cNvPr id="5" name="Footer Placeholder 4"/>
          <p:cNvSpPr>
            <a:spLocks noGrp="1"/>
          </p:cNvSpPr>
          <p:nvPr>
            <p:ph type="ftr" sz="quarter" idx="11"/>
          </p:nvPr>
        </p:nvSpPr>
        <p:spPr/>
        <p:txBody>
          <a:bodyPr/>
          <a:lstStyle/>
          <a:p>
            <a:pPr>
              <a:defRPr/>
            </a:pPr>
            <a:r>
              <a:rPr lang="en-US"/>
              <a:t>BIS1204</a:t>
            </a:r>
          </a:p>
        </p:txBody>
      </p:sp>
      <p:sp>
        <p:nvSpPr>
          <p:cNvPr id="6" name="Slide Number Placeholder 5"/>
          <p:cNvSpPr>
            <a:spLocks noGrp="1"/>
          </p:cNvSpPr>
          <p:nvPr>
            <p:ph type="sldNum" sz="quarter" idx="12"/>
          </p:nvPr>
        </p:nvSpPr>
        <p:spPr/>
        <p:txBody>
          <a:bodyPr/>
          <a:lstStyle/>
          <a:p>
            <a:pPr>
              <a:defRPr/>
            </a:pPr>
            <a:fld id="{70EFCDA5-C848-48A8-B81F-AE302B9463AB}" type="slidenum">
              <a:rPr lang="en-US" smtClean="0"/>
              <a:pPr>
                <a:defRPr/>
              </a:pPr>
              <a:t>56</a:t>
            </a:fld>
            <a:endParaRPr lang="en-US"/>
          </a:p>
        </p:txBody>
      </p:sp>
      <p:pic>
        <p:nvPicPr>
          <p:cNvPr id="7" name="Content Placeholder 6"/>
          <p:cNvPicPr>
            <a:picLocks noGrp="1"/>
          </p:cNvPicPr>
          <p:nvPr>
            <p:ph idx="1"/>
          </p:nvPr>
        </p:nvPicPr>
        <p:blipFill>
          <a:blip r:embed="rId2"/>
          <a:srcRect/>
          <a:stretch>
            <a:fillRect/>
          </a:stretch>
        </p:blipFill>
        <p:spPr bwMode="auto">
          <a:xfrm>
            <a:off x="2000232" y="1928802"/>
            <a:ext cx="5143535" cy="428628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539750" y="1125538"/>
            <a:ext cx="7467600" cy="638175"/>
          </a:xfrm>
        </p:spPr>
        <p:txBody>
          <a:bodyPr lIns="90488" tIns="44450" rIns="90488" bIns="44450"/>
          <a:lstStyle/>
          <a:p>
            <a:pPr eaLnBrk="1" hangingPunct="1"/>
            <a:r>
              <a:rPr lang="en-GB" b="1" dirty="0"/>
              <a:t>STEP 4: Database Design</a:t>
            </a:r>
          </a:p>
        </p:txBody>
      </p:sp>
      <p:sp>
        <p:nvSpPr>
          <p:cNvPr id="23555" name="Rectangle 3"/>
          <p:cNvSpPr>
            <a:spLocks noGrp="1" noChangeArrowheads="1"/>
          </p:cNvSpPr>
          <p:nvPr>
            <p:ph idx="1"/>
          </p:nvPr>
        </p:nvSpPr>
        <p:spPr>
          <a:xfrm>
            <a:off x="468313" y="1773238"/>
            <a:ext cx="8280400" cy="4679950"/>
          </a:xfrm>
        </p:spPr>
        <p:txBody>
          <a:bodyPr lIns="90488" tIns="44450" rIns="90488" bIns="44450"/>
          <a:lstStyle/>
          <a:p>
            <a:pPr eaLnBrk="1" hangingPunct="1">
              <a:buFontTx/>
              <a:buNone/>
            </a:pPr>
            <a:r>
              <a:rPr lang="en-GB" b="1" dirty="0"/>
              <a:t>Process of creating a design for a database that will support the enterprise’s operations and objectives.</a:t>
            </a:r>
          </a:p>
          <a:p>
            <a:pPr eaLnBrk="1" hangingPunct="1">
              <a:spcBef>
                <a:spcPct val="0"/>
              </a:spcBef>
              <a:buFontTx/>
              <a:buNone/>
            </a:pPr>
            <a:endParaRPr lang="en-GB" sz="2800" dirty="0"/>
          </a:p>
          <a:p>
            <a:pPr eaLnBrk="1" hangingPunct="1">
              <a:buFont typeface="Wingdings" pitchFamily="2" charset="2"/>
              <a:buNone/>
            </a:pPr>
            <a:r>
              <a:rPr lang="en-GB" b="1" dirty="0"/>
              <a:t>Major aims:</a:t>
            </a:r>
          </a:p>
          <a:p>
            <a:pPr lvl="1" eaLnBrk="1" hangingPunct="1">
              <a:buClr>
                <a:schemeClr val="bg2"/>
              </a:buClr>
              <a:buSzPct val="100000"/>
              <a:buFont typeface="Wingdings" pitchFamily="2" charset="2"/>
              <a:buChar char="ü"/>
            </a:pPr>
            <a:r>
              <a:rPr lang="en-GB" dirty="0"/>
              <a:t>Represent data and relationships between data required by all major application areas and user groups.</a:t>
            </a:r>
          </a:p>
          <a:p>
            <a:pPr lvl="1" eaLnBrk="1" hangingPunct="1">
              <a:buClr>
                <a:schemeClr val="bg2"/>
              </a:buClr>
              <a:buSzPct val="100000"/>
              <a:buFont typeface="Wingdings" pitchFamily="2" charset="2"/>
              <a:buChar char="ü"/>
            </a:pPr>
            <a:r>
              <a:rPr lang="en-GB" dirty="0"/>
              <a:t>Provide data model that supports any transactions required on the data.</a:t>
            </a:r>
          </a:p>
          <a:p>
            <a:pPr lvl="1" eaLnBrk="1" hangingPunct="1">
              <a:buClr>
                <a:schemeClr val="bg2"/>
              </a:buClr>
              <a:buSzPct val="100000"/>
              <a:buFont typeface="Wingdings" pitchFamily="2" charset="2"/>
              <a:buChar char="ü"/>
            </a:pPr>
            <a:r>
              <a:rPr lang="en-GB" dirty="0"/>
              <a:t>Specify a minimal design that is appropriately structured to achieve stated performance requirements for the system (such as response times).</a:t>
            </a:r>
          </a:p>
          <a:p>
            <a:pPr eaLnBrk="1" hangingPunct="1">
              <a:buFontTx/>
              <a:buNone/>
            </a:pPr>
            <a:endParaRPr lang="en-GB" sz="2800" dirty="0"/>
          </a:p>
        </p:txBody>
      </p:sp>
      <p:sp>
        <p:nvSpPr>
          <p:cNvPr id="53252" name="Slide Number Placeholder 5"/>
          <p:cNvSpPr>
            <a:spLocks noGrp="1"/>
          </p:cNvSpPr>
          <p:nvPr>
            <p:ph type="sldNum" sz="quarter" idx="12"/>
          </p:nvPr>
        </p:nvSpPr>
        <p:spPr>
          <a:noFill/>
        </p:spPr>
        <p:txBody>
          <a:bodyPr/>
          <a:lstStyle/>
          <a:p>
            <a:fld id="{5D8F7779-7FF6-43FA-98DF-047F85BDA546}" type="slidenum">
              <a:rPr lang="en-US" smtClean="0">
                <a:latin typeface="Arial" pitchFamily="34" charset="0"/>
                <a:ea typeface="ＭＳ Ｐゴシック" pitchFamily="34" charset="-128"/>
              </a:rPr>
              <a:pPr/>
              <a:t>57</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BA5C988-B52A-436C-BC4B-02C64D158B45}"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5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355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2355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2355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355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468313" y="1125538"/>
            <a:ext cx="7467600" cy="638175"/>
          </a:xfrm>
        </p:spPr>
        <p:txBody>
          <a:bodyPr/>
          <a:lstStyle/>
          <a:p>
            <a:pPr eaLnBrk="1" hangingPunct="1"/>
            <a:r>
              <a:rPr lang="en-GB" b="1"/>
              <a:t>Database Design: Approaches</a:t>
            </a:r>
            <a:endParaRPr lang="en-US"/>
          </a:p>
        </p:txBody>
      </p:sp>
      <p:sp>
        <p:nvSpPr>
          <p:cNvPr id="33795" name="Content Placeholder 2"/>
          <p:cNvSpPr>
            <a:spLocks noGrp="1"/>
          </p:cNvSpPr>
          <p:nvPr>
            <p:ph idx="1"/>
          </p:nvPr>
        </p:nvSpPr>
        <p:spPr>
          <a:xfrm>
            <a:off x="457200" y="1773238"/>
            <a:ext cx="8362950" cy="4700587"/>
          </a:xfrm>
        </p:spPr>
        <p:txBody>
          <a:bodyPr/>
          <a:lstStyle/>
          <a:p>
            <a:pPr marL="273050" indent="-273050" eaLnBrk="1" hangingPunct="1">
              <a:buFont typeface="Wingdings" pitchFamily="2" charset="2"/>
              <a:buNone/>
              <a:defRPr/>
            </a:pPr>
            <a:r>
              <a:rPr lang="en-US" b="1" dirty="0"/>
              <a:t>Top-down: </a:t>
            </a:r>
            <a:r>
              <a:rPr lang="en-US" sz="2300" dirty="0"/>
              <a:t>Starts by developing a model containing few high-level entities and relationships, after which low level entities are identified e.g. For example the ER model.</a:t>
            </a:r>
          </a:p>
          <a:p>
            <a:pPr marL="688975" lvl="1" indent="-344488" eaLnBrk="1" hangingPunct="1">
              <a:buClr>
                <a:schemeClr val="bg2"/>
              </a:buClr>
              <a:buSzPct val="100000"/>
              <a:buFont typeface="Wingdings" pitchFamily="2" charset="2"/>
              <a:buChar char="ü"/>
              <a:defRPr/>
            </a:pPr>
            <a:r>
              <a:rPr lang="en-US" sz="2300" dirty="0"/>
              <a:t>Suitable for complex databases.</a:t>
            </a:r>
            <a:endParaRPr lang="en-US" sz="400" b="1" dirty="0"/>
          </a:p>
          <a:p>
            <a:pPr marL="273050" indent="-273050" eaLnBrk="1" hangingPunct="1">
              <a:buFont typeface="Wingdings" pitchFamily="2" charset="2"/>
              <a:buNone/>
              <a:defRPr/>
            </a:pPr>
            <a:r>
              <a:rPr lang="en-US" b="1" dirty="0"/>
              <a:t>Bottom-up: </a:t>
            </a:r>
            <a:r>
              <a:rPr lang="en-US" sz="2300" dirty="0"/>
              <a:t>Begins at a fundamental level of attributes (properties of entities and relationships). </a:t>
            </a:r>
          </a:p>
          <a:p>
            <a:pPr marL="465138" lvl="1" indent="-344488" eaLnBrk="1" hangingPunct="1">
              <a:buClr>
                <a:schemeClr val="bg2"/>
              </a:buClr>
              <a:buSzPct val="100000"/>
              <a:buFont typeface="Wingdings" pitchFamily="2" charset="2"/>
              <a:buChar char="ü"/>
              <a:defRPr/>
            </a:pPr>
            <a:r>
              <a:rPr lang="en-US" sz="2300" dirty="0"/>
              <a:t>The associations between the attributes are analyzed.</a:t>
            </a:r>
          </a:p>
          <a:p>
            <a:pPr marL="465138" lvl="1" indent="-344488" eaLnBrk="1" hangingPunct="1">
              <a:buClr>
                <a:schemeClr val="bg2"/>
              </a:buClr>
              <a:buSzPct val="100000"/>
              <a:buFont typeface="Wingdings" pitchFamily="2" charset="2"/>
              <a:buChar char="ü"/>
              <a:defRPr/>
            </a:pPr>
            <a:r>
              <a:rPr lang="en-US" sz="2300" dirty="0"/>
              <a:t>Attributes that are closely related are then grouped into relations that represent types of entities and relationships between entities.</a:t>
            </a:r>
          </a:p>
          <a:p>
            <a:pPr eaLnBrk="1" hangingPunct="1">
              <a:defRPr/>
            </a:pPr>
            <a:r>
              <a:rPr lang="en-US" sz="2300" dirty="0"/>
              <a:t>This approach is therefore suitable for simple databases; those that have a manageable number of attributes. </a:t>
            </a:r>
            <a:r>
              <a:rPr lang="en-US" sz="2300" b="1" i="1" dirty="0"/>
              <a:t>N.B: It is difficult to identify all the attributes for complex database and hence the functional dependencies between them </a:t>
            </a:r>
          </a:p>
          <a:p>
            <a:pPr marL="688975" lvl="1" indent="-344488" eaLnBrk="1" hangingPunct="1">
              <a:buClr>
                <a:schemeClr val="bg2"/>
              </a:buClr>
              <a:buSzPct val="100000"/>
              <a:buFont typeface="Wingdings" pitchFamily="2" charset="2"/>
              <a:buChar char="ü"/>
              <a:defRPr/>
            </a:pPr>
            <a:endParaRPr lang="en-US" dirty="0"/>
          </a:p>
          <a:p>
            <a:pPr marL="639763" lvl="1" indent="-273050" eaLnBrk="1" hangingPunct="1">
              <a:buFont typeface="Wingdings 2" pitchFamily="18" charset="2"/>
              <a:buChar char=""/>
              <a:defRPr/>
            </a:pPr>
            <a:endParaRPr lang="en-US" b="1" dirty="0"/>
          </a:p>
          <a:p>
            <a:pPr marL="273050" indent="-273050" eaLnBrk="1" hangingPunct="1">
              <a:buFont typeface="Wingdings" pitchFamily="2" charset="2"/>
              <a:buChar char=""/>
              <a:defRPr/>
            </a:pPr>
            <a:endParaRPr lang="en-US" b="1" dirty="0"/>
          </a:p>
          <a:p>
            <a:pPr marL="273050" indent="-273050" eaLnBrk="1" hangingPunct="1">
              <a:buFont typeface="Wingdings" pitchFamily="2" charset="2"/>
              <a:buChar char=""/>
              <a:defRPr/>
            </a:pPr>
            <a:endParaRPr lang="en-US" b="1" dirty="0"/>
          </a:p>
        </p:txBody>
      </p:sp>
      <p:sp>
        <p:nvSpPr>
          <p:cNvPr id="54276" name="Slide Number Placeholder 3"/>
          <p:cNvSpPr>
            <a:spLocks noGrp="1"/>
          </p:cNvSpPr>
          <p:nvPr>
            <p:ph type="sldNum" sz="quarter" idx="12"/>
          </p:nvPr>
        </p:nvSpPr>
        <p:spPr>
          <a:xfrm>
            <a:off x="6781800" y="6427788"/>
            <a:ext cx="1905000" cy="457200"/>
          </a:xfrm>
          <a:noFill/>
        </p:spPr>
        <p:txBody>
          <a:bodyPr/>
          <a:lstStyle/>
          <a:p>
            <a:fld id="{966F50D9-D7DD-4EC8-A70E-8DBADB86E1A7}" type="slidenum">
              <a:rPr lang="en-US" smtClean="0">
                <a:latin typeface="Arial" pitchFamily="34" charset="0"/>
                <a:ea typeface="ＭＳ Ｐゴシック" pitchFamily="34" charset="-128"/>
              </a:rPr>
              <a:pPr/>
              <a:t>58</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8FB6FD00-7188-4A85-9486-28D2682B746E}"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050"/>
          <p:cNvSpPr>
            <a:spLocks noGrp="1" noChangeArrowheads="1"/>
          </p:cNvSpPr>
          <p:nvPr>
            <p:ph type="title"/>
          </p:nvPr>
        </p:nvSpPr>
        <p:spPr>
          <a:xfrm>
            <a:off x="468313" y="1125538"/>
            <a:ext cx="7467600" cy="561975"/>
          </a:xfrm>
        </p:spPr>
        <p:txBody>
          <a:bodyPr lIns="90488" tIns="44450" rIns="90488" bIns="44450"/>
          <a:lstStyle/>
          <a:p>
            <a:pPr algn="just" eaLnBrk="1" hangingPunct="1"/>
            <a:r>
              <a:rPr lang="en-GB" b="1" dirty="0"/>
              <a:t>Database Design: Data Modeling</a:t>
            </a:r>
          </a:p>
        </p:txBody>
      </p:sp>
      <p:sp>
        <p:nvSpPr>
          <p:cNvPr id="139267" name="Rectangle 2051"/>
          <p:cNvSpPr>
            <a:spLocks noGrp="1" noChangeArrowheads="1"/>
          </p:cNvSpPr>
          <p:nvPr>
            <p:ph idx="1"/>
          </p:nvPr>
        </p:nvSpPr>
        <p:spPr>
          <a:xfrm>
            <a:off x="457200" y="1773238"/>
            <a:ext cx="8291513" cy="4824412"/>
          </a:xfrm>
        </p:spPr>
        <p:txBody>
          <a:bodyPr lIns="90488" tIns="44450" rIns="90488" bIns="44450"/>
          <a:lstStyle/>
          <a:p>
            <a:pPr marL="225425" lvl="1" indent="-225425" eaLnBrk="1" hangingPunct="1">
              <a:buClr>
                <a:schemeClr val="bg2"/>
              </a:buClr>
              <a:buSzPct val="100000"/>
              <a:buFont typeface="Wingdings" pitchFamily="2" charset="2"/>
              <a:buNone/>
              <a:defRPr/>
            </a:pPr>
            <a:r>
              <a:rPr lang="en-US" dirty="0">
                <a:latin typeface="Times" pitchFamily="18" charset="0"/>
                <a:cs typeface="Times New Roman" pitchFamily="18" charset="0"/>
              </a:rPr>
              <a:t>	</a:t>
            </a:r>
            <a:r>
              <a:rPr lang="en-US" dirty="0">
                <a:cs typeface="Times New Roman" pitchFamily="18" charset="0"/>
              </a:rPr>
              <a:t>This is the process of building data models to represent a designer’s understanding of the information requirements of an enterprise </a:t>
            </a:r>
          </a:p>
          <a:p>
            <a:pPr algn="just" eaLnBrk="1" hangingPunct="1">
              <a:buFont typeface="Wingdings" pitchFamily="2" charset="2"/>
              <a:buNone/>
              <a:defRPr/>
            </a:pPr>
            <a:r>
              <a:rPr lang="en-US" b="1" dirty="0">
                <a:latin typeface="+mj-lt"/>
                <a:cs typeface="Times New Roman" pitchFamily="18" charset="0"/>
              </a:rPr>
              <a:t>Main Purposes</a:t>
            </a:r>
          </a:p>
          <a:p>
            <a:pPr algn="just" eaLnBrk="1" hangingPunct="1">
              <a:defRPr/>
            </a:pPr>
            <a:r>
              <a:rPr lang="en-US" b="1" dirty="0">
                <a:latin typeface="+mj-lt"/>
                <a:cs typeface="Times New Roman" pitchFamily="18" charset="0"/>
              </a:rPr>
              <a:t>To assist in understanding the meaning (semantics) of the data. </a:t>
            </a:r>
            <a:endParaRPr lang="en-US" dirty="0">
              <a:latin typeface="+mj-lt"/>
              <a:cs typeface="Times New Roman" pitchFamily="18" charset="0"/>
            </a:endParaRPr>
          </a:p>
          <a:p>
            <a:pPr lvl="1" eaLnBrk="1" hangingPunct="1">
              <a:buClr>
                <a:schemeClr val="bg2"/>
              </a:buClr>
              <a:buSzPct val="100000"/>
              <a:buFont typeface="Wingdings" pitchFamily="2" charset="2"/>
              <a:buChar char="ü"/>
              <a:defRPr/>
            </a:pPr>
            <a:r>
              <a:rPr lang="en-US" sz="2300" i="1" dirty="0">
                <a:latin typeface="Times" pitchFamily="18" charset="0"/>
                <a:cs typeface="Times New Roman" pitchFamily="18" charset="0"/>
              </a:rPr>
              <a:t>T</a:t>
            </a:r>
            <a:r>
              <a:rPr lang="en-US" sz="2300" i="1" dirty="0"/>
              <a:t>his involves answering questions about entities, relationships and attributes. </a:t>
            </a:r>
          </a:p>
          <a:p>
            <a:pPr lvl="1" eaLnBrk="1" hangingPunct="1">
              <a:buClr>
                <a:schemeClr val="bg2"/>
              </a:buClr>
              <a:buSzPct val="100000"/>
              <a:buFont typeface="Wingdings" pitchFamily="2" charset="2"/>
              <a:buChar char="ü"/>
              <a:defRPr/>
            </a:pPr>
            <a:r>
              <a:rPr lang="en-US" sz="2300" i="1" dirty="0"/>
              <a:t>Answering such questions enables one to understand each user view’s perspective of the data, nature of the data itself, independent of its physical representations; and use of data across user views. </a:t>
            </a:r>
          </a:p>
          <a:p>
            <a:pPr lvl="1" eaLnBrk="1" hangingPunct="1">
              <a:defRPr/>
            </a:pPr>
            <a:endParaRPr lang="en-US" b="1" dirty="0">
              <a:latin typeface="Times" pitchFamily="18" charset="0"/>
              <a:cs typeface="Times New Roman" pitchFamily="18" charset="0"/>
            </a:endParaRPr>
          </a:p>
        </p:txBody>
      </p:sp>
      <p:sp>
        <p:nvSpPr>
          <p:cNvPr id="55300" name="Slide Number Placeholder 5"/>
          <p:cNvSpPr>
            <a:spLocks noGrp="1"/>
          </p:cNvSpPr>
          <p:nvPr>
            <p:ph type="sldNum" sz="quarter" idx="12"/>
          </p:nvPr>
        </p:nvSpPr>
        <p:spPr>
          <a:noFill/>
        </p:spPr>
        <p:txBody>
          <a:bodyPr/>
          <a:lstStyle/>
          <a:p>
            <a:fld id="{71F7FE07-C1F3-4BF6-A06C-32D153FEBAC1}" type="slidenum">
              <a:rPr lang="en-US" smtClean="0">
                <a:latin typeface="Arial" pitchFamily="34" charset="0"/>
                <a:ea typeface="ＭＳ Ｐゴシック" pitchFamily="34" charset="-128"/>
              </a:rPr>
              <a:pPr/>
              <a:t>59</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F3639A4F-3E87-4C36-8AC9-617ECB936491}"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9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926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926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13926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139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1026"/>
          <p:cNvSpPr>
            <a:spLocks noGrp="1" noChangeArrowheads="1"/>
          </p:cNvSpPr>
          <p:nvPr>
            <p:ph type="title"/>
          </p:nvPr>
        </p:nvSpPr>
        <p:spPr/>
        <p:txBody>
          <a:bodyPr lIns="90488" tIns="44450" rIns="90488" bIns="44450"/>
          <a:lstStyle/>
          <a:p>
            <a:pPr algn="just" eaLnBrk="1" hangingPunct="1"/>
            <a:r>
              <a:rPr lang="en-GB" b="1"/>
              <a:t>Database Design: Data Modeling</a:t>
            </a:r>
          </a:p>
        </p:txBody>
      </p:sp>
      <p:sp>
        <p:nvSpPr>
          <p:cNvPr id="140291" name="Rectangle 1027"/>
          <p:cNvSpPr>
            <a:spLocks noGrp="1" noChangeArrowheads="1"/>
          </p:cNvSpPr>
          <p:nvPr>
            <p:ph idx="1"/>
          </p:nvPr>
        </p:nvSpPr>
        <p:spPr>
          <a:xfrm>
            <a:off x="609600" y="1773238"/>
            <a:ext cx="7727950" cy="4319587"/>
          </a:xfrm>
        </p:spPr>
        <p:txBody>
          <a:bodyPr lIns="90488" tIns="44450" rIns="90488" bIns="44450"/>
          <a:lstStyle/>
          <a:p>
            <a:pPr eaLnBrk="1" hangingPunct="1"/>
            <a:r>
              <a:rPr lang="en-US" b="1" dirty="0">
                <a:latin typeface="+mj-lt"/>
                <a:cs typeface="Times New Roman" pitchFamily="18" charset="0"/>
              </a:rPr>
              <a:t>To facilitate communication about the information requirements.  </a:t>
            </a:r>
          </a:p>
          <a:p>
            <a:pPr lvl="1" eaLnBrk="1" hangingPunct="1">
              <a:buClr>
                <a:schemeClr val="bg2"/>
              </a:buClr>
              <a:buSzPct val="100000"/>
              <a:buFont typeface="Wingdings" pitchFamily="2" charset="2"/>
              <a:buChar char="ü"/>
            </a:pPr>
            <a:r>
              <a:rPr lang="en-US" sz="2300" i="1" dirty="0">
                <a:latin typeface="+mj-lt"/>
                <a:cs typeface="Times New Roman" pitchFamily="18" charset="0"/>
              </a:rPr>
              <a:t>Data models are a means by which a designer conveys his/her understanding of an enterprise’s information requirements. </a:t>
            </a:r>
          </a:p>
          <a:p>
            <a:pPr lvl="1" eaLnBrk="1" hangingPunct="1">
              <a:buClr>
                <a:schemeClr val="bg2"/>
              </a:buClr>
              <a:buSzPct val="100000"/>
              <a:buFont typeface="Wingdings" pitchFamily="2" charset="2"/>
              <a:buChar char="ü"/>
            </a:pPr>
            <a:r>
              <a:rPr lang="en-US" sz="2300" i="1" dirty="0">
                <a:latin typeface="+mj-lt"/>
                <a:cs typeface="Times New Roman" pitchFamily="18" charset="0"/>
              </a:rPr>
              <a:t>Provided the two parties are familiar with the notation, these provide a basis for communication e.g. Entity Relationship Diagrams (ERD). </a:t>
            </a:r>
          </a:p>
          <a:p>
            <a:pPr lvl="1" eaLnBrk="1" hangingPunct="1"/>
            <a:endParaRPr lang="en-US" b="1" dirty="0">
              <a:latin typeface="Times" pitchFamily="18" charset="0"/>
              <a:cs typeface="Times New Roman" pitchFamily="18" charset="0"/>
            </a:endParaRPr>
          </a:p>
          <a:p>
            <a:pPr lvl="1" algn="just" eaLnBrk="1" hangingPunct="1">
              <a:lnSpc>
                <a:spcPct val="30000"/>
              </a:lnSpc>
            </a:pPr>
            <a:endParaRPr lang="en-US" b="1" dirty="0">
              <a:latin typeface="Times" pitchFamily="18" charset="0"/>
              <a:cs typeface="Times New Roman" pitchFamily="18" charset="0"/>
            </a:endParaRPr>
          </a:p>
        </p:txBody>
      </p:sp>
      <p:sp>
        <p:nvSpPr>
          <p:cNvPr id="56324" name="Slide Number Placeholder 5"/>
          <p:cNvSpPr>
            <a:spLocks noGrp="1"/>
          </p:cNvSpPr>
          <p:nvPr>
            <p:ph type="sldNum" sz="quarter" idx="12"/>
          </p:nvPr>
        </p:nvSpPr>
        <p:spPr>
          <a:noFill/>
        </p:spPr>
        <p:txBody>
          <a:bodyPr/>
          <a:lstStyle/>
          <a:p>
            <a:fld id="{FE2B8E91-293E-41DD-A7F6-DEA15AC54513}" type="slidenum">
              <a:rPr lang="en-US" smtClean="0">
                <a:latin typeface="Arial" pitchFamily="34" charset="0"/>
                <a:ea typeface="ＭＳ Ｐゴシック" pitchFamily="34" charset="-128"/>
              </a:rPr>
              <a:pPr/>
              <a:t>60</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21522FCE-EFAA-44B9-BE18-1A027F1B539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402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02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40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95288" y="981075"/>
            <a:ext cx="7467600" cy="771525"/>
          </a:xfrm>
        </p:spPr>
        <p:txBody>
          <a:bodyPr/>
          <a:lstStyle/>
          <a:p>
            <a:pPr eaLnBrk="1" hangingPunct="1"/>
            <a:r>
              <a:rPr lang="en-GB" b="1"/>
              <a:t>Database Design: Phases</a:t>
            </a:r>
          </a:p>
        </p:txBody>
      </p:sp>
      <p:sp>
        <p:nvSpPr>
          <p:cNvPr id="142339" name="Rectangle 3"/>
          <p:cNvSpPr>
            <a:spLocks noGrp="1" noChangeArrowheads="1"/>
          </p:cNvSpPr>
          <p:nvPr>
            <p:ph idx="1"/>
          </p:nvPr>
        </p:nvSpPr>
        <p:spPr>
          <a:xfrm>
            <a:off x="468313" y="1773238"/>
            <a:ext cx="8213725" cy="4679950"/>
          </a:xfrm>
        </p:spPr>
        <p:txBody>
          <a:bodyPr/>
          <a:lstStyle/>
          <a:p>
            <a:pPr eaLnBrk="1" hangingPunct="1">
              <a:defRPr/>
            </a:pPr>
            <a:r>
              <a:rPr lang="en-GB" dirty="0"/>
              <a:t>Three phases of database design:</a:t>
            </a:r>
          </a:p>
          <a:p>
            <a:pPr marL="974725" lvl="3" indent="-395288" eaLnBrk="1" hangingPunct="1">
              <a:spcBef>
                <a:spcPts val="600"/>
              </a:spcBef>
              <a:spcAft>
                <a:spcPts val="0"/>
              </a:spcAft>
              <a:buClr>
                <a:schemeClr val="bg2"/>
              </a:buClr>
              <a:buSzPct val="100000"/>
              <a:buFont typeface="Wingdings" pitchFamily="2" charset="2"/>
              <a:buChar char="ü"/>
              <a:defRPr/>
            </a:pPr>
            <a:r>
              <a:rPr lang="en-GB" sz="2400" b="1" i="1" kern="1200" dirty="0">
                <a:latin typeface="+mj-lt"/>
                <a:ea typeface="+mn-ea"/>
                <a:cs typeface="Times New Roman" pitchFamily="18" charset="0"/>
              </a:rPr>
              <a:t>Conceptual database design: </a:t>
            </a:r>
          </a:p>
          <a:p>
            <a:pPr marL="974725" lvl="3" indent="-395288" eaLnBrk="1" hangingPunct="1">
              <a:spcBef>
                <a:spcPts val="600"/>
              </a:spcBef>
              <a:spcAft>
                <a:spcPts val="0"/>
              </a:spcAft>
              <a:buClr>
                <a:schemeClr val="bg2"/>
              </a:buClr>
              <a:buSzPct val="100000"/>
              <a:buFont typeface="Wingdings" pitchFamily="2" charset="2"/>
              <a:buChar char="ü"/>
              <a:defRPr/>
            </a:pPr>
            <a:r>
              <a:rPr lang="en-GB" sz="2400" b="1" i="1" kern="1200" dirty="0">
                <a:latin typeface="+mj-lt"/>
                <a:ea typeface="+mn-ea"/>
                <a:cs typeface="Times New Roman" pitchFamily="18" charset="0"/>
              </a:rPr>
              <a:t>Logical database design</a:t>
            </a:r>
          </a:p>
          <a:p>
            <a:pPr marL="974725" lvl="3" indent="-395288" eaLnBrk="1" hangingPunct="1">
              <a:spcBef>
                <a:spcPts val="600"/>
              </a:spcBef>
              <a:spcAft>
                <a:spcPts val="0"/>
              </a:spcAft>
              <a:buClr>
                <a:schemeClr val="bg2"/>
              </a:buClr>
              <a:buSzPct val="100000"/>
              <a:buFont typeface="Wingdings" pitchFamily="2" charset="2"/>
              <a:buChar char="ü"/>
              <a:defRPr/>
            </a:pPr>
            <a:r>
              <a:rPr lang="en-GB" sz="2400" b="1" i="1" kern="1200" dirty="0">
                <a:latin typeface="+mj-lt"/>
                <a:ea typeface="+mn-ea"/>
                <a:cs typeface="Times New Roman" pitchFamily="18" charset="0"/>
              </a:rPr>
              <a:t>Physical database design.</a:t>
            </a:r>
          </a:p>
          <a:p>
            <a:pPr lvl="1" eaLnBrk="1" hangingPunct="1">
              <a:buNone/>
              <a:defRPr/>
            </a:pPr>
            <a:endParaRPr lang="en-US" dirty="0"/>
          </a:p>
          <a:p>
            <a:pPr eaLnBrk="1" hangingPunct="1">
              <a:defRPr/>
            </a:pPr>
            <a:r>
              <a:rPr lang="en-US" dirty="0"/>
              <a:t>The Conceptual and logical design phases correspond to the first two levels of the ANSI-SPARC architecture of a database system.</a:t>
            </a:r>
          </a:p>
          <a:p>
            <a:pPr eaLnBrk="1" hangingPunct="1">
              <a:defRPr/>
            </a:pPr>
            <a:endParaRPr lang="en-US" dirty="0"/>
          </a:p>
          <a:p>
            <a:pPr eaLnBrk="1" hangingPunct="1">
              <a:defRPr/>
            </a:pPr>
            <a:r>
              <a:rPr lang="en-US" dirty="0"/>
              <a:t> The physical design phase provides the basis to define the internal schema. </a:t>
            </a:r>
            <a:endParaRPr lang="en-GB" b="1" dirty="0"/>
          </a:p>
        </p:txBody>
      </p:sp>
      <p:sp>
        <p:nvSpPr>
          <p:cNvPr id="57348" name="Slide Number Placeholder 5"/>
          <p:cNvSpPr>
            <a:spLocks noGrp="1"/>
          </p:cNvSpPr>
          <p:nvPr>
            <p:ph type="sldNum" sz="quarter" idx="12"/>
          </p:nvPr>
        </p:nvSpPr>
        <p:spPr>
          <a:noFill/>
        </p:spPr>
        <p:txBody>
          <a:bodyPr/>
          <a:lstStyle/>
          <a:p>
            <a:fld id="{467083EB-D2BE-48F0-8A94-CFBB459E6F98}" type="slidenum">
              <a:rPr lang="en-US" smtClean="0">
                <a:latin typeface="Arial" pitchFamily="34" charset="0"/>
                <a:ea typeface="ＭＳ Ｐゴシック" pitchFamily="34" charset="-128"/>
              </a:rPr>
              <a:pPr/>
              <a:t>61</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7B291A91-F8C7-4BF5-8BCB-0A93B0C121BB}"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233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14233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14233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14233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1052513"/>
            <a:ext cx="7467600" cy="639762"/>
          </a:xfrm>
        </p:spPr>
        <p:txBody>
          <a:bodyPr lIns="90488" tIns="44450" rIns="90488" bIns="44450"/>
          <a:lstStyle/>
          <a:p>
            <a:pPr algn="just" eaLnBrk="1" hangingPunct="1"/>
            <a:r>
              <a:rPr lang="en-GB" b="1"/>
              <a:t>Conceptual Database Design</a:t>
            </a:r>
          </a:p>
        </p:txBody>
      </p:sp>
      <p:sp>
        <p:nvSpPr>
          <p:cNvPr id="36867" name="Rectangle 3"/>
          <p:cNvSpPr>
            <a:spLocks noGrp="1" noChangeArrowheads="1"/>
          </p:cNvSpPr>
          <p:nvPr>
            <p:ph idx="1"/>
          </p:nvPr>
        </p:nvSpPr>
        <p:spPr>
          <a:xfrm>
            <a:off x="609600" y="1773238"/>
            <a:ext cx="8139113" cy="4535487"/>
          </a:xfrm>
        </p:spPr>
        <p:txBody>
          <a:bodyPr lIns="90488" tIns="44450" rIns="90488" bIns="44450"/>
          <a:lstStyle/>
          <a:p>
            <a:pPr eaLnBrk="1" hangingPunct="1">
              <a:buFontTx/>
              <a:buNone/>
            </a:pPr>
            <a:r>
              <a:rPr lang="en-GB" b="1"/>
              <a:t>Process of constructing a model of the information used in an enterprise, independent of </a:t>
            </a:r>
            <a:r>
              <a:rPr lang="en-GB" b="1" i="1"/>
              <a:t>all </a:t>
            </a:r>
            <a:r>
              <a:rPr lang="en-GB" b="1"/>
              <a:t>physical considerations, </a:t>
            </a:r>
            <a:r>
              <a:rPr lang="en-GB" i="1"/>
              <a:t>such as; </a:t>
            </a:r>
            <a:r>
              <a:rPr lang="en-US" i="1"/>
              <a:t>target DBMS software, Application program, Programming language and Hardware platform. </a:t>
            </a:r>
            <a:endParaRPr lang="en-GB" i="1"/>
          </a:p>
          <a:p>
            <a:pPr eaLnBrk="1" hangingPunct="1">
              <a:lnSpc>
                <a:spcPct val="40000"/>
              </a:lnSpc>
            </a:pPr>
            <a:endParaRPr lang="en-GB"/>
          </a:p>
          <a:p>
            <a:pPr eaLnBrk="1" hangingPunct="1"/>
            <a:r>
              <a:rPr lang="en-GB"/>
              <a:t>Data model is built using the information in  users’ requirements specification and is tested and validated against the user requirements.  </a:t>
            </a:r>
          </a:p>
          <a:p>
            <a:pPr eaLnBrk="1" hangingPunct="1">
              <a:lnSpc>
                <a:spcPct val="40000"/>
              </a:lnSpc>
            </a:pPr>
            <a:endParaRPr lang="en-GB"/>
          </a:p>
          <a:p>
            <a:pPr eaLnBrk="1" hangingPunct="1"/>
            <a:r>
              <a:rPr lang="en-GB"/>
              <a:t>Output of this phase is the source of information (</a:t>
            </a:r>
            <a:r>
              <a:rPr lang="en-GB" i="1"/>
              <a:t>input</a:t>
            </a:r>
            <a:r>
              <a:rPr lang="en-GB"/>
              <a:t>) for logical design phase. </a:t>
            </a:r>
          </a:p>
        </p:txBody>
      </p:sp>
      <p:sp>
        <p:nvSpPr>
          <p:cNvPr id="58372" name="Slide Number Placeholder 5"/>
          <p:cNvSpPr>
            <a:spLocks noGrp="1"/>
          </p:cNvSpPr>
          <p:nvPr>
            <p:ph type="sldNum" sz="quarter" idx="12"/>
          </p:nvPr>
        </p:nvSpPr>
        <p:spPr>
          <a:noFill/>
        </p:spPr>
        <p:txBody>
          <a:bodyPr/>
          <a:lstStyle/>
          <a:p>
            <a:fld id="{40D6F3B6-D5C5-43F9-A634-40971F5729DF}" type="slidenum">
              <a:rPr lang="en-US" smtClean="0">
                <a:latin typeface="Arial" pitchFamily="34" charset="0"/>
                <a:ea typeface="ＭＳ Ｐゴシック" pitchFamily="34" charset="-128"/>
              </a:rPr>
              <a:pPr/>
              <a:t>62</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38D76A74-3CF7-4988-B478-79E6006D06BF}"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68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68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57200" y="1057275"/>
            <a:ext cx="7467600" cy="715963"/>
          </a:xfrm>
        </p:spPr>
        <p:txBody>
          <a:bodyPr lIns="90488" tIns="44450" rIns="90488" bIns="44450"/>
          <a:lstStyle/>
          <a:p>
            <a:pPr algn="just" eaLnBrk="1" hangingPunct="1"/>
            <a:r>
              <a:rPr lang="en-GB" b="1"/>
              <a:t>Conceptual Database Design</a:t>
            </a:r>
          </a:p>
        </p:txBody>
      </p:sp>
      <p:sp>
        <p:nvSpPr>
          <p:cNvPr id="36867" name="Rectangle 3"/>
          <p:cNvSpPr>
            <a:spLocks noGrp="1" noChangeArrowheads="1"/>
          </p:cNvSpPr>
          <p:nvPr>
            <p:ph idx="1"/>
          </p:nvPr>
        </p:nvSpPr>
        <p:spPr>
          <a:xfrm>
            <a:off x="539750" y="1773238"/>
            <a:ext cx="8281988" cy="4799012"/>
          </a:xfrm>
        </p:spPr>
        <p:txBody>
          <a:bodyPr lIns="90488" tIns="44450" rIns="90488" bIns="44450"/>
          <a:lstStyle/>
          <a:p>
            <a:pPr eaLnBrk="1" hangingPunct="1">
              <a:buFont typeface="Wingdings" pitchFamily="2" charset="2"/>
              <a:buNone/>
              <a:defRPr/>
            </a:pPr>
            <a:r>
              <a:rPr lang="en-GB" dirty="0"/>
              <a:t>Steps to building conceptual data model </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Identify entity types and relationship types</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Identify and associate attributes with entity or relationship types</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Determine attribute domains</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Consider use of enhanced modelling concepts(opt)</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Check model for redundancy</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Validate conceptual model against user transactions</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Review conceptual data model with user</a:t>
            </a:r>
          </a:p>
        </p:txBody>
      </p:sp>
      <p:sp>
        <p:nvSpPr>
          <p:cNvPr id="59396" name="Slide Number Placeholder 3"/>
          <p:cNvSpPr>
            <a:spLocks noGrp="1"/>
          </p:cNvSpPr>
          <p:nvPr>
            <p:ph type="sldNum" sz="quarter" idx="12"/>
          </p:nvPr>
        </p:nvSpPr>
        <p:spPr>
          <a:xfrm>
            <a:off x="8358188" y="6427788"/>
            <a:ext cx="390525" cy="314325"/>
          </a:xfrm>
          <a:noFill/>
        </p:spPr>
        <p:txBody>
          <a:bodyPr/>
          <a:lstStyle/>
          <a:p>
            <a:pPr algn="l"/>
            <a:fld id="{A2ACB5F3-26DC-4818-AD41-AE85C3CEEDD4}" type="slidenum">
              <a:rPr lang="en-GB" sz="1200" smtClean="0">
                <a:solidFill>
                  <a:schemeClr val="tx2"/>
                </a:solidFill>
                <a:latin typeface="Arial" pitchFamily="34" charset="0"/>
                <a:ea typeface="ＭＳ Ｐゴシック" pitchFamily="34" charset="-128"/>
              </a:rPr>
              <a:pPr algn="l"/>
              <a:t>63</a:t>
            </a:fld>
            <a:endParaRPr lang="en-GB" sz="1200">
              <a:solidFill>
                <a:schemeClr val="tx2"/>
              </a:solidFill>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1203292-2F91-4D8B-8A75-44034536404F}"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68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686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686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686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686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686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686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68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1052513"/>
            <a:ext cx="7467600" cy="639762"/>
          </a:xfrm>
        </p:spPr>
        <p:txBody>
          <a:bodyPr lIns="90488" tIns="44450" rIns="90488" bIns="44450"/>
          <a:lstStyle/>
          <a:p>
            <a:pPr eaLnBrk="1" hangingPunct="1"/>
            <a:r>
              <a:rPr lang="en-GB" b="1"/>
              <a:t>Logical Database Design</a:t>
            </a:r>
          </a:p>
        </p:txBody>
      </p:sp>
      <p:sp>
        <p:nvSpPr>
          <p:cNvPr id="37891" name="Rectangle 3"/>
          <p:cNvSpPr>
            <a:spLocks noGrp="1" noChangeArrowheads="1"/>
          </p:cNvSpPr>
          <p:nvPr>
            <p:ph idx="1"/>
          </p:nvPr>
        </p:nvSpPr>
        <p:spPr>
          <a:xfrm>
            <a:off x="457200" y="1773238"/>
            <a:ext cx="8435975" cy="4724400"/>
          </a:xfrm>
        </p:spPr>
        <p:txBody>
          <a:bodyPr lIns="90488" tIns="44450" rIns="90488" bIns="44450"/>
          <a:lstStyle/>
          <a:p>
            <a:pPr eaLnBrk="1" hangingPunct="1">
              <a:buFontTx/>
              <a:buNone/>
            </a:pPr>
            <a:r>
              <a:rPr lang="en-GB" b="1"/>
              <a:t>Process of constructing a model of the information used in an enterprise based on a specific data model (e.g. relational), but independent of a particular DBMS and other physical considerations.</a:t>
            </a:r>
            <a:endParaRPr lang="en-GB"/>
          </a:p>
          <a:p>
            <a:pPr eaLnBrk="1" hangingPunct="1">
              <a:lnSpc>
                <a:spcPct val="40000"/>
              </a:lnSpc>
            </a:pPr>
            <a:endParaRPr lang="en-GB" b="1"/>
          </a:p>
          <a:p>
            <a:pPr eaLnBrk="1" hangingPunct="1"/>
            <a:r>
              <a:rPr lang="en-US"/>
              <a:t>This means that the data model is built knowing the underlying data model of the target database management system e.g. the DBMS may be relational, hierarchical, network or object oriented. </a:t>
            </a:r>
          </a:p>
          <a:p>
            <a:pPr eaLnBrk="1" hangingPunct="1"/>
            <a:endParaRPr lang="en-GB"/>
          </a:p>
          <a:p>
            <a:pPr eaLnBrk="1" hangingPunct="1"/>
            <a:r>
              <a:rPr lang="en-GB"/>
              <a:t>Conceptual data model is refined and mapped on to a  logical data model e.g. Relational model.</a:t>
            </a:r>
          </a:p>
        </p:txBody>
      </p:sp>
      <p:sp>
        <p:nvSpPr>
          <p:cNvPr id="60420" name="Slide Number Placeholder 5"/>
          <p:cNvSpPr>
            <a:spLocks noGrp="1"/>
          </p:cNvSpPr>
          <p:nvPr>
            <p:ph type="sldNum" sz="quarter" idx="12"/>
          </p:nvPr>
        </p:nvSpPr>
        <p:spPr>
          <a:noFill/>
        </p:spPr>
        <p:txBody>
          <a:bodyPr/>
          <a:lstStyle/>
          <a:p>
            <a:fld id="{A16CF79F-01ED-40C2-B05E-C7A21BEBBD8F}" type="slidenum">
              <a:rPr lang="en-US" smtClean="0">
                <a:latin typeface="Arial" pitchFamily="34" charset="0"/>
                <a:ea typeface="ＭＳ Ｐゴシック" pitchFamily="34" charset="-128"/>
              </a:rPr>
              <a:pPr/>
              <a:t>64</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E134A168-7735-4A7C-AA3C-5F3F1E0D10DF}"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8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789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78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a:xfrm>
            <a:off x="457200" y="1133475"/>
            <a:ext cx="7467600" cy="639763"/>
          </a:xfrm>
        </p:spPr>
        <p:txBody>
          <a:bodyPr/>
          <a:lstStyle/>
          <a:p>
            <a:pPr eaLnBrk="1" hangingPunct="1"/>
            <a:r>
              <a:rPr lang="en-GB" b="1"/>
              <a:t>Logical Database Design</a:t>
            </a:r>
            <a:endParaRPr lang="en-US"/>
          </a:p>
        </p:txBody>
      </p:sp>
      <p:sp>
        <p:nvSpPr>
          <p:cNvPr id="61443" name="Content Placeholder 2"/>
          <p:cNvSpPr>
            <a:spLocks noGrp="1"/>
          </p:cNvSpPr>
          <p:nvPr>
            <p:ph idx="1"/>
          </p:nvPr>
        </p:nvSpPr>
        <p:spPr>
          <a:xfrm>
            <a:off x="457200" y="1773238"/>
            <a:ext cx="8362950" cy="4700587"/>
          </a:xfrm>
        </p:spPr>
        <p:txBody>
          <a:bodyPr/>
          <a:lstStyle/>
          <a:p>
            <a:pPr eaLnBrk="1" hangingPunct="1"/>
            <a:r>
              <a:rPr lang="en-US"/>
              <a:t>The model is also tested and validated against user requirements. </a:t>
            </a:r>
          </a:p>
          <a:p>
            <a:pPr eaLnBrk="1" hangingPunct="1"/>
            <a:endParaRPr lang="en-US"/>
          </a:p>
          <a:p>
            <a:pPr eaLnBrk="1" hangingPunct="1"/>
            <a:r>
              <a:rPr lang="en-US"/>
              <a:t>The correctness of the data model (relational) is tested using a technique known as normalization which ensures that the relations derived from the data model have no data redundancy displayed. </a:t>
            </a:r>
          </a:p>
          <a:p>
            <a:pPr eaLnBrk="1" hangingPunct="1"/>
            <a:endParaRPr lang="en-US"/>
          </a:p>
          <a:p>
            <a:pPr eaLnBrk="1" hangingPunct="1"/>
            <a:r>
              <a:rPr lang="en-US"/>
              <a:t>The logical data model should also be examined to ensure that it supports all the transactions specified by the users. </a:t>
            </a:r>
          </a:p>
        </p:txBody>
      </p:sp>
      <p:sp>
        <p:nvSpPr>
          <p:cNvPr id="61444" name="Slide Number Placeholder 3"/>
          <p:cNvSpPr>
            <a:spLocks noGrp="1"/>
          </p:cNvSpPr>
          <p:nvPr>
            <p:ph type="sldNum" sz="quarter" idx="12"/>
          </p:nvPr>
        </p:nvSpPr>
        <p:spPr>
          <a:noFill/>
        </p:spPr>
        <p:txBody>
          <a:bodyPr/>
          <a:lstStyle/>
          <a:p>
            <a:fld id="{CAD5ADBF-8D76-4FD8-AAEC-5FCD8622004C}" type="slidenum">
              <a:rPr lang="en-US" smtClean="0">
                <a:latin typeface="Arial" pitchFamily="34" charset="0"/>
                <a:ea typeface="ＭＳ Ｐゴシック" pitchFamily="34" charset="-128"/>
              </a:rPr>
              <a:pPr/>
              <a:t>65</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56511434-AD5B-4FF8-AB5E-5A7CCCCE9D47}"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lIns="90488" tIns="44450" rIns="90488" bIns="44450"/>
          <a:lstStyle/>
          <a:p>
            <a:pPr eaLnBrk="1" hangingPunct="1"/>
            <a:r>
              <a:rPr lang="en-GB"/>
              <a:t>Logical Database Design</a:t>
            </a:r>
          </a:p>
        </p:txBody>
      </p:sp>
      <p:sp>
        <p:nvSpPr>
          <p:cNvPr id="37891" name="Rectangle 3"/>
          <p:cNvSpPr>
            <a:spLocks noGrp="1" noChangeArrowheads="1"/>
          </p:cNvSpPr>
          <p:nvPr>
            <p:ph idx="1"/>
          </p:nvPr>
        </p:nvSpPr>
        <p:spPr>
          <a:xfrm>
            <a:off x="701675" y="1754188"/>
            <a:ext cx="7727950" cy="4843462"/>
          </a:xfrm>
        </p:spPr>
        <p:txBody>
          <a:bodyPr lIns="90488" tIns="44450" rIns="90488" bIns="44450"/>
          <a:lstStyle/>
          <a:p>
            <a:pPr eaLnBrk="1" hangingPunct="1">
              <a:buFont typeface="Monotype Sorts" pitchFamily="2" charset="2"/>
              <a:buNone/>
              <a:defRPr/>
            </a:pPr>
            <a:r>
              <a:rPr lang="en-GB" dirty="0"/>
              <a:t>Steps to building and validating logical data model</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Derive relations for logical data model</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Validate relations using normalization</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Validate relations against user transactions</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Check integrity constraints</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Review logical data model with user</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Merge local data models into global model(opt)</a:t>
            </a:r>
          </a:p>
          <a:p>
            <a:pPr marL="1093787" lvl="3" indent="-514350" eaLnBrk="1" hangingPunct="1">
              <a:spcBef>
                <a:spcPts val="600"/>
              </a:spcBef>
              <a:spcAft>
                <a:spcPts val="0"/>
              </a:spcAft>
              <a:buClr>
                <a:schemeClr val="bg2"/>
              </a:buClr>
              <a:buSzPct val="100000"/>
              <a:buFont typeface="+mj-lt"/>
              <a:buAutoNum type="romanLcPeriod"/>
              <a:defRPr/>
            </a:pPr>
            <a:r>
              <a:rPr lang="en-GB" sz="2400" kern="1200" dirty="0">
                <a:latin typeface="Times" pitchFamily="18" charset="0"/>
                <a:ea typeface="+mn-ea"/>
                <a:cs typeface="Times New Roman" pitchFamily="18" charset="0"/>
              </a:rPr>
              <a:t>Check for future growth</a:t>
            </a:r>
          </a:p>
        </p:txBody>
      </p:sp>
      <p:sp>
        <p:nvSpPr>
          <p:cNvPr id="62468" name="Slide Number Placeholder 3"/>
          <p:cNvSpPr>
            <a:spLocks noGrp="1"/>
          </p:cNvSpPr>
          <p:nvPr>
            <p:ph type="sldNum" sz="quarter" idx="12"/>
          </p:nvPr>
        </p:nvSpPr>
        <p:spPr>
          <a:xfrm rot="5400000">
            <a:off x="6989763" y="3736975"/>
            <a:ext cx="3200400" cy="365125"/>
          </a:xfrm>
          <a:noFill/>
        </p:spPr>
        <p:txBody>
          <a:bodyPr/>
          <a:lstStyle/>
          <a:p>
            <a:pPr algn="l"/>
            <a:fld id="{CDCB847C-7207-4143-A23B-98A99A85A74A}" type="slidenum">
              <a:rPr lang="en-GB" sz="1200" smtClean="0">
                <a:solidFill>
                  <a:schemeClr val="tx2"/>
                </a:solidFill>
                <a:latin typeface="Arial" pitchFamily="34" charset="0"/>
                <a:ea typeface="ＭＳ Ｐゴシック" pitchFamily="34" charset="-128"/>
              </a:rPr>
              <a:pPr algn="l"/>
              <a:t>66</a:t>
            </a:fld>
            <a:endParaRPr lang="en-GB" sz="1200">
              <a:solidFill>
                <a:schemeClr val="tx2"/>
              </a:solidFill>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D01D7821-610A-4026-AC74-BD247B64E2B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78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789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789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789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789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789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789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78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68313" y="981075"/>
            <a:ext cx="7467600" cy="715963"/>
          </a:xfrm>
        </p:spPr>
        <p:txBody>
          <a:bodyPr lIns="90488" tIns="44450" rIns="90488" bIns="44450"/>
          <a:lstStyle/>
          <a:p>
            <a:pPr eaLnBrk="1" hangingPunct="1"/>
            <a:r>
              <a:rPr lang="en-GB" b="1"/>
              <a:t>Physical Database Design</a:t>
            </a:r>
          </a:p>
        </p:txBody>
      </p:sp>
      <p:sp>
        <p:nvSpPr>
          <p:cNvPr id="40963" name="Rectangle 3"/>
          <p:cNvSpPr>
            <a:spLocks noGrp="1" noChangeArrowheads="1"/>
          </p:cNvSpPr>
          <p:nvPr>
            <p:ph idx="1"/>
          </p:nvPr>
        </p:nvSpPr>
        <p:spPr>
          <a:xfrm>
            <a:off x="381000" y="1773238"/>
            <a:ext cx="8001000" cy="4017962"/>
          </a:xfrm>
        </p:spPr>
        <p:txBody>
          <a:bodyPr lIns="90488" tIns="44450" rIns="90488" bIns="44450"/>
          <a:lstStyle/>
          <a:p>
            <a:pPr eaLnBrk="1" hangingPunct="1">
              <a:buFontTx/>
              <a:buNone/>
            </a:pPr>
            <a:r>
              <a:rPr lang="en-GB" b="1"/>
              <a:t>Process of producing a description of the database implementation on secondary storage.</a:t>
            </a:r>
          </a:p>
          <a:p>
            <a:pPr eaLnBrk="1" hangingPunct="1">
              <a:buFontTx/>
              <a:buNone/>
            </a:pPr>
            <a:endParaRPr lang="en-GB" b="1"/>
          </a:p>
          <a:p>
            <a:pPr eaLnBrk="1" hangingPunct="1"/>
            <a:r>
              <a:rPr lang="en-US"/>
              <a:t>The physical database design deals with the </a:t>
            </a:r>
            <a:r>
              <a:rPr lang="en-US" b="1"/>
              <a:t>how</a:t>
            </a:r>
            <a:r>
              <a:rPr lang="en-US"/>
              <a:t> while the logical and conceptual design deal with the </a:t>
            </a:r>
            <a:r>
              <a:rPr lang="en-US" b="1"/>
              <a:t>what</a:t>
            </a:r>
            <a:r>
              <a:rPr lang="en-US"/>
              <a:t>.</a:t>
            </a:r>
          </a:p>
          <a:p>
            <a:pPr eaLnBrk="1" hangingPunct="1">
              <a:buFont typeface="Wingdings" pitchFamily="2" charset="2"/>
              <a:buNone/>
            </a:pPr>
            <a:endParaRPr lang="en-US"/>
          </a:p>
          <a:p>
            <a:pPr eaLnBrk="1" hangingPunct="1"/>
            <a:r>
              <a:rPr lang="en-US"/>
              <a:t>The physical database design is therefore a description of how the logical database design (logical data model) will be implemented. </a:t>
            </a:r>
          </a:p>
          <a:p>
            <a:pPr eaLnBrk="1" hangingPunct="1">
              <a:buFontTx/>
              <a:buNone/>
            </a:pPr>
            <a:endParaRPr lang="en-GB" b="1"/>
          </a:p>
          <a:p>
            <a:pPr eaLnBrk="1" hangingPunct="1">
              <a:lnSpc>
                <a:spcPct val="40000"/>
              </a:lnSpc>
              <a:buFont typeface="Wingdings" pitchFamily="2" charset="2"/>
              <a:buNone/>
            </a:pPr>
            <a:endParaRPr lang="en-GB" sz="2800" b="1"/>
          </a:p>
        </p:txBody>
      </p:sp>
      <p:sp>
        <p:nvSpPr>
          <p:cNvPr id="63492" name="Slide Number Placeholder 5"/>
          <p:cNvSpPr>
            <a:spLocks noGrp="1"/>
          </p:cNvSpPr>
          <p:nvPr>
            <p:ph type="sldNum" sz="quarter" idx="12"/>
          </p:nvPr>
        </p:nvSpPr>
        <p:spPr>
          <a:noFill/>
        </p:spPr>
        <p:txBody>
          <a:bodyPr/>
          <a:lstStyle/>
          <a:p>
            <a:fld id="{77D77A83-F295-4D0E-B7E8-F1D6903ED936}" type="slidenum">
              <a:rPr lang="en-US" smtClean="0">
                <a:latin typeface="Arial" pitchFamily="34" charset="0"/>
                <a:ea typeface="ＭＳ Ｐゴシック" pitchFamily="34" charset="-128"/>
              </a:rPr>
              <a:pPr/>
              <a:t>67</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8E7DFE64-7646-4534-8F39-4A4BA1B5716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539750" y="1052513"/>
            <a:ext cx="7467600" cy="715962"/>
          </a:xfrm>
        </p:spPr>
        <p:txBody>
          <a:bodyPr/>
          <a:lstStyle/>
          <a:p>
            <a:pPr eaLnBrk="1" hangingPunct="1"/>
            <a:r>
              <a:rPr lang="en-US" b="1"/>
              <a:t>Physical Design Cont’d</a:t>
            </a:r>
          </a:p>
        </p:txBody>
      </p:sp>
      <p:sp>
        <p:nvSpPr>
          <p:cNvPr id="64515" name="Content Placeholder 2"/>
          <p:cNvSpPr>
            <a:spLocks noGrp="1"/>
          </p:cNvSpPr>
          <p:nvPr>
            <p:ph idx="1"/>
          </p:nvPr>
        </p:nvSpPr>
        <p:spPr>
          <a:xfrm>
            <a:off x="457200" y="1773238"/>
            <a:ext cx="8507413" cy="1150937"/>
          </a:xfrm>
        </p:spPr>
        <p:txBody>
          <a:bodyPr/>
          <a:lstStyle/>
          <a:p>
            <a:pPr eaLnBrk="1" hangingPunct="1"/>
            <a:r>
              <a:rPr lang="en-US"/>
              <a:t>In physical database design the logical schema is transformed to suit a specific database management system and choices are made on the following:</a:t>
            </a:r>
          </a:p>
          <a:p>
            <a:pPr lvl="1" eaLnBrk="1" hangingPunct="1"/>
            <a:endParaRPr lang="en-US"/>
          </a:p>
        </p:txBody>
      </p:sp>
      <p:sp>
        <p:nvSpPr>
          <p:cNvPr id="64516" name="Slide Number Placeholder 3"/>
          <p:cNvSpPr>
            <a:spLocks noGrp="1"/>
          </p:cNvSpPr>
          <p:nvPr>
            <p:ph type="sldNum" sz="quarter" idx="12"/>
          </p:nvPr>
        </p:nvSpPr>
        <p:spPr>
          <a:noFill/>
        </p:spPr>
        <p:txBody>
          <a:bodyPr/>
          <a:lstStyle/>
          <a:p>
            <a:fld id="{0ED15BFF-5E4E-4117-A192-3B7AD9E96988}" type="slidenum">
              <a:rPr lang="en-GB" smtClean="0">
                <a:latin typeface="Arial" pitchFamily="34" charset="0"/>
                <a:ea typeface="ＭＳ Ｐゴシック" pitchFamily="34" charset="-128"/>
              </a:rPr>
              <a:pPr/>
              <a:t>68</a:t>
            </a:fld>
            <a:endParaRPr lang="en-GB">
              <a:latin typeface="Arial" pitchFamily="34" charset="0"/>
              <a:ea typeface="ＭＳ Ｐゴシック" pitchFamily="34" charset="-128"/>
            </a:endParaRPr>
          </a:p>
        </p:txBody>
      </p:sp>
      <p:sp>
        <p:nvSpPr>
          <p:cNvPr id="7" name="TextBox 6"/>
          <p:cNvSpPr txBox="1"/>
          <p:nvPr/>
        </p:nvSpPr>
        <p:spPr>
          <a:xfrm>
            <a:off x="1116013" y="2924175"/>
            <a:ext cx="3600450" cy="1801813"/>
          </a:xfrm>
          <a:prstGeom prst="rect">
            <a:avLst/>
          </a:prstGeom>
          <a:noFill/>
        </p:spPr>
        <p:txBody>
          <a:bodyPr>
            <a:spAutoFit/>
          </a:bodyPr>
          <a:lstStyle/>
          <a:p>
            <a:pPr marL="630238" lvl="1" indent="-465138">
              <a:spcBef>
                <a:spcPts val="600"/>
              </a:spcBef>
              <a:buFont typeface="Wingdings" pitchFamily="2" charset="2"/>
              <a:buChar char="q"/>
              <a:defRPr/>
            </a:pPr>
            <a:r>
              <a:rPr lang="en-US" dirty="0">
                <a:latin typeface="+mn-lt"/>
                <a:ea typeface="+mn-ea"/>
              </a:rPr>
              <a:t>Data types</a:t>
            </a:r>
          </a:p>
          <a:p>
            <a:pPr marL="630238" lvl="1" indent="-465138">
              <a:spcBef>
                <a:spcPts val="600"/>
              </a:spcBef>
              <a:buFont typeface="Wingdings" pitchFamily="2" charset="2"/>
              <a:buChar char="q"/>
              <a:defRPr/>
            </a:pPr>
            <a:r>
              <a:rPr lang="en-US" dirty="0">
                <a:latin typeface="+mn-lt"/>
                <a:ea typeface="+mn-ea"/>
              </a:rPr>
              <a:t>Data range constraints</a:t>
            </a:r>
          </a:p>
          <a:p>
            <a:pPr marL="630238" lvl="1" indent="-465138">
              <a:spcBef>
                <a:spcPts val="600"/>
              </a:spcBef>
              <a:buFont typeface="Wingdings" pitchFamily="2" charset="2"/>
              <a:buChar char="q"/>
              <a:defRPr/>
            </a:pPr>
            <a:r>
              <a:rPr lang="en-US" dirty="0">
                <a:latin typeface="+mn-lt"/>
                <a:ea typeface="+mn-ea"/>
              </a:rPr>
              <a:t>Requirement rules</a:t>
            </a:r>
          </a:p>
          <a:p>
            <a:pPr marL="630238" lvl="1" indent="-465138">
              <a:spcBef>
                <a:spcPts val="600"/>
              </a:spcBef>
              <a:buFont typeface="Wingdings" pitchFamily="2" charset="2"/>
              <a:buChar char="q"/>
              <a:defRPr/>
            </a:pPr>
            <a:r>
              <a:rPr lang="en-US" dirty="0">
                <a:latin typeface="+mn-lt"/>
                <a:ea typeface="+mn-ea"/>
              </a:rPr>
              <a:t>Default values</a:t>
            </a:r>
          </a:p>
        </p:txBody>
      </p:sp>
      <p:sp>
        <p:nvSpPr>
          <p:cNvPr id="8" name="TextBox 7"/>
          <p:cNvSpPr txBox="1"/>
          <p:nvPr/>
        </p:nvSpPr>
        <p:spPr>
          <a:xfrm>
            <a:off x="4932363" y="2947988"/>
            <a:ext cx="4032250" cy="1277937"/>
          </a:xfrm>
          <a:prstGeom prst="rect">
            <a:avLst/>
          </a:prstGeom>
          <a:noFill/>
        </p:spPr>
        <p:txBody>
          <a:bodyPr>
            <a:spAutoFit/>
          </a:bodyPr>
          <a:lstStyle/>
          <a:p>
            <a:pPr lvl="1" indent="-396875">
              <a:spcBef>
                <a:spcPts val="600"/>
              </a:spcBef>
              <a:buFont typeface="Wingdings" pitchFamily="2" charset="2"/>
              <a:buChar char="q"/>
              <a:defRPr/>
            </a:pPr>
            <a:r>
              <a:rPr lang="en-US" dirty="0">
                <a:latin typeface="+mn-lt"/>
                <a:ea typeface="+mn-ea"/>
              </a:rPr>
              <a:t>Cascading rules</a:t>
            </a:r>
          </a:p>
          <a:p>
            <a:pPr lvl="1" indent="-396875">
              <a:spcBef>
                <a:spcPts val="600"/>
              </a:spcBef>
              <a:buFont typeface="Wingdings" pitchFamily="2" charset="2"/>
              <a:buChar char="q"/>
              <a:defRPr/>
            </a:pPr>
            <a:r>
              <a:rPr lang="en-US" dirty="0">
                <a:latin typeface="+mn-lt"/>
                <a:ea typeface="+mn-ea"/>
              </a:rPr>
              <a:t>Representation of derived attributes</a:t>
            </a:r>
          </a:p>
        </p:txBody>
      </p:sp>
      <p:sp>
        <p:nvSpPr>
          <p:cNvPr id="9" name="TextBox 8"/>
          <p:cNvSpPr txBox="1"/>
          <p:nvPr/>
        </p:nvSpPr>
        <p:spPr>
          <a:xfrm>
            <a:off x="468313" y="4667250"/>
            <a:ext cx="8351837" cy="1646238"/>
          </a:xfrm>
          <a:prstGeom prst="rect">
            <a:avLst/>
          </a:prstGeom>
          <a:noFill/>
        </p:spPr>
        <p:txBody>
          <a:bodyPr>
            <a:spAutoFit/>
          </a:bodyPr>
          <a:lstStyle/>
          <a:p>
            <a:pPr marL="284163" indent="-284163">
              <a:spcBef>
                <a:spcPts val="600"/>
              </a:spcBef>
              <a:buClr>
                <a:schemeClr val="bg2"/>
              </a:buClr>
              <a:buFont typeface="Times New Roman" pitchFamily="18" charset="0"/>
              <a:buChar char="□"/>
              <a:defRPr/>
            </a:pPr>
            <a:r>
              <a:rPr lang="en-US" dirty="0">
                <a:latin typeface="+mn-lt"/>
                <a:ea typeface="+mn-ea"/>
              </a:rPr>
              <a:t>These decisions are placed in a data dictionary and are some times referred to as meta data.</a:t>
            </a:r>
          </a:p>
          <a:p>
            <a:pPr marL="284163" indent="-284163">
              <a:spcBef>
                <a:spcPts val="600"/>
              </a:spcBef>
              <a:buClr>
                <a:schemeClr val="bg2"/>
              </a:buClr>
              <a:buFont typeface="Times New Roman" pitchFamily="18" charset="0"/>
              <a:buChar char="□"/>
              <a:defRPr/>
            </a:pPr>
            <a:r>
              <a:rPr lang="en-US" dirty="0">
                <a:latin typeface="+mn-lt"/>
                <a:ea typeface="+mn-ea"/>
              </a:rPr>
              <a:t>Developers use the data from the data dictionary to create the tables of the database application.</a:t>
            </a:r>
          </a:p>
        </p:txBody>
      </p:sp>
      <p:sp>
        <p:nvSpPr>
          <p:cNvPr id="10" name="Date Placeholder 9"/>
          <p:cNvSpPr>
            <a:spLocks noGrp="1"/>
          </p:cNvSpPr>
          <p:nvPr>
            <p:ph type="dt" sz="half" idx="10"/>
          </p:nvPr>
        </p:nvSpPr>
        <p:spPr/>
        <p:txBody>
          <a:bodyPr/>
          <a:lstStyle/>
          <a:p>
            <a:pPr>
              <a:defRPr/>
            </a:pPr>
            <a:fld id="{428F26E6-94C2-4284-9586-A5B7F035775A}" type="datetime1">
              <a:rPr lang="en-US" smtClean="0"/>
              <a:pPr>
                <a:defRPr/>
              </a:pPr>
              <a:t>5/30/2022</a:t>
            </a:fld>
            <a:endParaRPr lang="en-US"/>
          </a:p>
        </p:txBody>
      </p:sp>
      <p:sp>
        <p:nvSpPr>
          <p:cNvPr id="11" name="Footer Placeholder 10"/>
          <p:cNvSpPr>
            <a:spLocks noGrp="1"/>
          </p:cNvSpPr>
          <p:nvPr>
            <p:ph type="ftr" sz="quarter" idx="11"/>
          </p:nvPr>
        </p:nvSpPr>
        <p:spPr/>
        <p:txBody>
          <a:bodyPr/>
          <a:lstStyle/>
          <a:p>
            <a:pPr>
              <a:defRPr/>
            </a:pPr>
            <a:r>
              <a:rPr lang="en-US"/>
              <a:t>BIS1204</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a:xfrm>
            <a:off x="468313" y="908050"/>
            <a:ext cx="7467600" cy="792163"/>
          </a:xfrm>
        </p:spPr>
        <p:txBody>
          <a:bodyPr/>
          <a:lstStyle/>
          <a:p>
            <a:pPr eaLnBrk="1" hangingPunct="1"/>
            <a:r>
              <a:rPr lang="en-US" b="1"/>
              <a:t>Physical Design Cont’d</a:t>
            </a:r>
          </a:p>
        </p:txBody>
      </p:sp>
      <p:sp>
        <p:nvSpPr>
          <p:cNvPr id="65539" name="Content Placeholder 2"/>
          <p:cNvSpPr>
            <a:spLocks noGrp="1"/>
          </p:cNvSpPr>
          <p:nvPr>
            <p:ph idx="1"/>
          </p:nvPr>
        </p:nvSpPr>
        <p:spPr>
          <a:xfrm>
            <a:off x="468313" y="1773238"/>
            <a:ext cx="8280400" cy="4700587"/>
          </a:xfrm>
        </p:spPr>
        <p:txBody>
          <a:bodyPr/>
          <a:lstStyle/>
          <a:p>
            <a:pPr eaLnBrk="1" hangingPunct="1">
              <a:buFont typeface="Wingdings" pitchFamily="2" charset="2"/>
              <a:buNone/>
            </a:pPr>
            <a:r>
              <a:rPr lang="en-US" b="1"/>
              <a:t>Note: </a:t>
            </a:r>
          </a:p>
          <a:p>
            <a:pPr eaLnBrk="1" hangingPunct="1">
              <a:buSzPct val="100000"/>
              <a:buFont typeface="Wingdings" pitchFamily="2" charset="2"/>
              <a:buChar char="ü"/>
            </a:pPr>
            <a:r>
              <a:rPr lang="en-US"/>
              <a:t>A highly normalized database is free from data redundancy, but may be slow due to the many joins that have to be made when querying it. </a:t>
            </a:r>
          </a:p>
          <a:p>
            <a:pPr eaLnBrk="1" hangingPunct="1">
              <a:buSzPct val="100000"/>
              <a:buFont typeface="Wingdings" pitchFamily="2" charset="2"/>
              <a:buChar char="ü"/>
            </a:pPr>
            <a:r>
              <a:rPr lang="en-US"/>
              <a:t>In the interest of speed, some denormalization may have to be made so as to reduce the number of joins that are to be made when the system is operational.</a:t>
            </a:r>
          </a:p>
          <a:p>
            <a:pPr eaLnBrk="1" hangingPunct="1">
              <a:buSzPct val="100000"/>
              <a:buFont typeface="Wingdings" pitchFamily="2" charset="2"/>
              <a:buChar char="ü"/>
            </a:pPr>
            <a:r>
              <a:rPr lang="en-US"/>
              <a:t>Denormalization may occur before system implementation when the system is operational and reported to be slow.</a:t>
            </a:r>
          </a:p>
          <a:p>
            <a:pPr eaLnBrk="1" hangingPunct="1">
              <a:buSzPct val="100000"/>
              <a:buFont typeface="Wingdings" pitchFamily="2" charset="2"/>
              <a:buChar char="ü"/>
            </a:pPr>
            <a:r>
              <a:rPr lang="en-US"/>
              <a:t>Either way a database needs fine-tuning in order to speed up its operations. </a:t>
            </a:r>
          </a:p>
        </p:txBody>
      </p:sp>
      <p:sp>
        <p:nvSpPr>
          <p:cNvPr id="65540" name="Slide Number Placeholder 3"/>
          <p:cNvSpPr>
            <a:spLocks noGrp="1"/>
          </p:cNvSpPr>
          <p:nvPr>
            <p:ph type="sldNum" sz="quarter" idx="12"/>
          </p:nvPr>
        </p:nvSpPr>
        <p:spPr>
          <a:noFill/>
        </p:spPr>
        <p:txBody>
          <a:bodyPr/>
          <a:lstStyle/>
          <a:p>
            <a:fld id="{5CC42CCF-9BA1-4EA9-BBA8-6DAED9C13EC8}" type="slidenum">
              <a:rPr lang="en-GB" smtClean="0">
                <a:latin typeface="Arial" pitchFamily="34" charset="0"/>
                <a:ea typeface="ＭＳ Ｐゴシック" pitchFamily="34" charset="-128"/>
              </a:rPr>
              <a:pPr/>
              <a:t>69</a:t>
            </a:fld>
            <a:endParaRPr lang="en-GB">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5D40E820-37A4-4904-A5C2-4C72301A5FE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68313" y="1125538"/>
            <a:ext cx="7467600" cy="561975"/>
          </a:xfrm>
        </p:spPr>
        <p:txBody>
          <a:bodyPr/>
          <a:lstStyle/>
          <a:p>
            <a:pPr eaLnBrk="1" hangingPunct="1"/>
            <a:r>
              <a:rPr lang="en-US"/>
              <a:t>Database Design Conclusion</a:t>
            </a:r>
          </a:p>
        </p:txBody>
      </p:sp>
      <p:sp>
        <p:nvSpPr>
          <p:cNvPr id="49155" name="Content Placeholder 2"/>
          <p:cNvSpPr>
            <a:spLocks noGrp="1"/>
          </p:cNvSpPr>
          <p:nvPr>
            <p:ph idx="1"/>
          </p:nvPr>
        </p:nvSpPr>
        <p:spPr>
          <a:xfrm>
            <a:off x="457200" y="1773238"/>
            <a:ext cx="8291513" cy="4700587"/>
          </a:xfrm>
        </p:spPr>
        <p:txBody>
          <a:bodyPr/>
          <a:lstStyle/>
          <a:p>
            <a:pPr marL="274320" indent="-274320" eaLnBrk="1" fontAlgn="auto" hangingPunct="1">
              <a:spcAft>
                <a:spcPts val="0"/>
              </a:spcAft>
              <a:buFont typeface="Wingdings" pitchFamily="2" charset="2"/>
              <a:buChar char="q"/>
              <a:defRPr/>
            </a:pPr>
            <a:r>
              <a:rPr lang="en-US" dirty="0"/>
              <a:t>The importance of database design phase includes; </a:t>
            </a:r>
          </a:p>
          <a:p>
            <a:pPr marL="640080" lvl="1" indent="-274320" eaLnBrk="1" fontAlgn="auto" hangingPunct="1">
              <a:spcAft>
                <a:spcPts val="0"/>
              </a:spcAft>
              <a:buClr>
                <a:schemeClr val="bg2"/>
              </a:buClr>
              <a:buSzPct val="100000"/>
              <a:buFont typeface="Wingdings" pitchFamily="2" charset="2"/>
              <a:buChar char="ü"/>
              <a:defRPr/>
            </a:pPr>
            <a:r>
              <a:rPr lang="en-US" i="1" dirty="0"/>
              <a:t>Definition of the user views </a:t>
            </a:r>
          </a:p>
          <a:p>
            <a:pPr marL="640080" lvl="1" indent="-274320" eaLnBrk="1" fontAlgn="auto" hangingPunct="1">
              <a:spcAft>
                <a:spcPts val="0"/>
              </a:spcAft>
              <a:buClr>
                <a:schemeClr val="bg2"/>
              </a:buClr>
              <a:buSzPct val="100000"/>
              <a:buFont typeface="Wingdings" pitchFamily="2" charset="2"/>
              <a:buChar char="ü"/>
              <a:defRPr/>
            </a:pPr>
            <a:r>
              <a:rPr lang="en-US" i="1" dirty="0"/>
              <a:t>Maintenance of data integrity </a:t>
            </a:r>
          </a:p>
          <a:p>
            <a:pPr marL="640080" lvl="1" indent="-274320" eaLnBrk="1" fontAlgn="auto" hangingPunct="1">
              <a:spcAft>
                <a:spcPts val="0"/>
              </a:spcAft>
              <a:buClr>
                <a:schemeClr val="bg2"/>
              </a:buClr>
              <a:buSzPct val="100000"/>
              <a:buFont typeface="Wingdings" pitchFamily="2" charset="2"/>
              <a:buChar char="ü"/>
              <a:defRPr/>
            </a:pPr>
            <a:r>
              <a:rPr lang="en-US" i="1" dirty="0"/>
              <a:t>Maintenance of acceptable performance </a:t>
            </a:r>
            <a:endParaRPr lang="en-US" dirty="0"/>
          </a:p>
          <a:p>
            <a:pPr marL="284163" indent="-284163" eaLnBrk="1" hangingPunct="1">
              <a:defRPr/>
            </a:pPr>
            <a:r>
              <a:rPr lang="en-US" dirty="0"/>
              <a:t>It is an iterative process with a starting point, and an almost endless procession of refinement.</a:t>
            </a:r>
          </a:p>
          <a:p>
            <a:pPr lvl="1" eaLnBrk="1" hangingPunct="1">
              <a:buClr>
                <a:schemeClr val="bg2"/>
              </a:buClr>
              <a:buSzPct val="100000"/>
              <a:buFont typeface="Wingdings" pitchFamily="2" charset="2"/>
              <a:buChar char="ü"/>
              <a:defRPr/>
            </a:pPr>
            <a:r>
              <a:rPr lang="en-US" i="1" dirty="0"/>
              <a:t>It is a process for designers to understand the workings of an enterprise and meaning of its data, and to correctly present its information requirements in a data model.</a:t>
            </a:r>
          </a:p>
          <a:p>
            <a:pPr lvl="1" eaLnBrk="1" hangingPunct="1">
              <a:buClr>
                <a:schemeClr val="bg2"/>
              </a:buClr>
              <a:buSzPct val="100000"/>
              <a:buFont typeface="Wingdings" pitchFamily="2" charset="2"/>
              <a:buChar char="ü"/>
              <a:defRPr/>
            </a:pPr>
            <a:r>
              <a:rPr lang="en-US" i="1" dirty="0"/>
              <a:t>New information gained may require changes in other parts of the design</a:t>
            </a:r>
          </a:p>
        </p:txBody>
      </p:sp>
      <p:sp>
        <p:nvSpPr>
          <p:cNvPr id="66564" name="Slide Number Placeholder 3"/>
          <p:cNvSpPr>
            <a:spLocks noGrp="1"/>
          </p:cNvSpPr>
          <p:nvPr>
            <p:ph type="sldNum" sz="quarter" idx="12"/>
          </p:nvPr>
        </p:nvSpPr>
        <p:spPr>
          <a:noFill/>
        </p:spPr>
        <p:txBody>
          <a:bodyPr/>
          <a:lstStyle/>
          <a:p>
            <a:fld id="{A6D9AB00-7BF5-478B-A101-6E7D192D88F7}" type="slidenum">
              <a:rPr lang="en-US" smtClean="0">
                <a:latin typeface="Arial" pitchFamily="34" charset="0"/>
                <a:ea typeface="ＭＳ Ｐゴシック" pitchFamily="34" charset="-128"/>
              </a:rPr>
              <a:pPr/>
              <a:t>70</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034A8975-D829-44F0-ACFC-634B9CAAF71C}"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pPr eaLnBrk="1" hangingPunct="1"/>
            <a:r>
              <a:rPr lang="en-US" b="1"/>
              <a:t>Step 5: DBMS Selection (optional)</a:t>
            </a:r>
          </a:p>
        </p:txBody>
      </p:sp>
      <p:sp>
        <p:nvSpPr>
          <p:cNvPr id="67587" name="Content Placeholder 2"/>
          <p:cNvSpPr>
            <a:spLocks noGrp="1"/>
          </p:cNvSpPr>
          <p:nvPr>
            <p:ph sz="quarter" idx="1"/>
          </p:nvPr>
        </p:nvSpPr>
        <p:spPr>
          <a:xfrm>
            <a:off x="457200" y="1795463"/>
            <a:ext cx="8291513" cy="4873625"/>
          </a:xfrm>
        </p:spPr>
        <p:txBody>
          <a:bodyPr/>
          <a:lstStyle/>
          <a:p>
            <a:pPr eaLnBrk="1" hangingPunct="1">
              <a:buFont typeface="Wingdings" pitchFamily="2" charset="2"/>
              <a:buNone/>
            </a:pPr>
            <a:r>
              <a:rPr lang="en-GB" sz="2800"/>
              <a:t>Selection of an appropriate DBMS to support the database application.</a:t>
            </a:r>
          </a:p>
          <a:p>
            <a:pPr eaLnBrk="1" hangingPunct="1"/>
            <a:endParaRPr lang="en-US"/>
          </a:p>
          <a:p>
            <a:pPr eaLnBrk="1" hangingPunct="1"/>
            <a:r>
              <a:rPr lang="en-US" sz="2800"/>
              <a:t>This is done at any time prior to the Logical database design phase provided there is sufficient information regarding the systems requirements e.g. performance, security and integrity constraints.</a:t>
            </a:r>
          </a:p>
          <a:p>
            <a:pPr eaLnBrk="1" hangingPunct="1"/>
            <a:endParaRPr lang="en-US"/>
          </a:p>
        </p:txBody>
      </p:sp>
      <p:sp>
        <p:nvSpPr>
          <p:cNvPr id="67588" name="Slide Number Placeholder 3"/>
          <p:cNvSpPr>
            <a:spLocks noGrp="1"/>
          </p:cNvSpPr>
          <p:nvPr>
            <p:ph type="sldNum" sz="quarter" idx="12"/>
          </p:nvPr>
        </p:nvSpPr>
        <p:spPr>
          <a:xfrm>
            <a:off x="6875463" y="6400800"/>
            <a:ext cx="2895600" cy="457200"/>
          </a:xfrm>
          <a:noFill/>
        </p:spPr>
        <p:txBody>
          <a:bodyPr/>
          <a:lstStyle/>
          <a:p>
            <a:pPr algn="ctr"/>
            <a:fld id="{70C796D5-C32B-44E5-B6BE-12B07642C584}" type="slidenum">
              <a:rPr lang="en-US" smtClean="0">
                <a:latin typeface="Arial" pitchFamily="34" charset="0"/>
                <a:ea typeface="ＭＳ Ｐゴシック" pitchFamily="34" charset="-128"/>
              </a:rPr>
              <a:pPr algn="ctr"/>
              <a:t>71</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1231B93D-D391-4BBC-B365-4BD2E2B9D014}"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lIns="90488" tIns="44450" rIns="90488" bIns="44450"/>
          <a:lstStyle/>
          <a:p>
            <a:pPr eaLnBrk="1" hangingPunct="1"/>
            <a:r>
              <a:rPr lang="en-GB" b="1"/>
              <a:t>DBMS Selection</a:t>
            </a:r>
          </a:p>
        </p:txBody>
      </p:sp>
      <p:sp>
        <p:nvSpPr>
          <p:cNvPr id="145411" name="Rectangle 3"/>
          <p:cNvSpPr>
            <a:spLocks noGrp="1" noChangeArrowheads="1"/>
          </p:cNvSpPr>
          <p:nvPr>
            <p:ph sz="quarter" idx="1"/>
          </p:nvPr>
        </p:nvSpPr>
        <p:spPr>
          <a:xfrm>
            <a:off x="395288" y="1773238"/>
            <a:ext cx="8304212" cy="4608512"/>
          </a:xfrm>
        </p:spPr>
        <p:txBody>
          <a:bodyPr lIns="90488" tIns="44450" rIns="90488" bIns="44450"/>
          <a:lstStyle/>
          <a:p>
            <a:pPr eaLnBrk="1" hangingPunct="1">
              <a:lnSpc>
                <a:spcPct val="90000"/>
              </a:lnSpc>
            </a:pPr>
            <a:r>
              <a:rPr lang="en-US"/>
              <a:t>The DBMS selection process must cater for the enterprise’s current and future requirements, at an optimum cost (</a:t>
            </a:r>
            <a:r>
              <a:rPr lang="en-US" i="1"/>
              <a:t>purchase of the DBMS, additional hardware/software, changeover costs and staff training</a:t>
            </a:r>
            <a:r>
              <a:rPr lang="en-US"/>
              <a:t>) as there may be need to expand or replace the system.</a:t>
            </a:r>
          </a:p>
          <a:p>
            <a:pPr eaLnBrk="1" hangingPunct="1">
              <a:lnSpc>
                <a:spcPct val="90000"/>
              </a:lnSpc>
              <a:buFontTx/>
              <a:buNone/>
            </a:pPr>
            <a:endParaRPr lang="en-GB" sz="2800"/>
          </a:p>
          <a:p>
            <a:pPr eaLnBrk="1" hangingPunct="1">
              <a:lnSpc>
                <a:spcPct val="90000"/>
              </a:lnSpc>
            </a:pPr>
            <a:r>
              <a:rPr lang="en-US">
                <a:latin typeface="Times" pitchFamily="18" charset="0"/>
                <a:cs typeface="Times New Roman" pitchFamily="18" charset="0"/>
              </a:rPr>
              <a:t>Main steps to selecting a DBMS:</a:t>
            </a:r>
          </a:p>
          <a:p>
            <a:pPr marL="914400" lvl="1" indent="-404813" eaLnBrk="1" hangingPunct="1">
              <a:lnSpc>
                <a:spcPct val="90000"/>
              </a:lnSpc>
              <a:buClr>
                <a:schemeClr val="bg2"/>
              </a:buClr>
              <a:buSzPct val="100000"/>
              <a:buFont typeface="Wingdings" pitchFamily="2" charset="2"/>
              <a:buChar char="ü"/>
            </a:pPr>
            <a:r>
              <a:rPr lang="en-US" b="1" i="1"/>
              <a:t>Define terms of reference of study</a:t>
            </a:r>
          </a:p>
          <a:p>
            <a:pPr marL="914400" lvl="1" indent="-404813" eaLnBrk="1" hangingPunct="1">
              <a:lnSpc>
                <a:spcPct val="90000"/>
              </a:lnSpc>
              <a:buClr>
                <a:schemeClr val="bg2"/>
              </a:buClr>
              <a:buSzPct val="100000"/>
              <a:buFont typeface="Wingdings" pitchFamily="2" charset="2"/>
              <a:buChar char="ü"/>
            </a:pPr>
            <a:r>
              <a:rPr lang="en-US" b="1" i="1"/>
              <a:t>Shortlist two or three products</a:t>
            </a:r>
          </a:p>
          <a:p>
            <a:pPr marL="914400" lvl="1" indent="-404813" eaLnBrk="1" hangingPunct="1">
              <a:lnSpc>
                <a:spcPct val="90000"/>
              </a:lnSpc>
              <a:buClr>
                <a:schemeClr val="bg2"/>
              </a:buClr>
              <a:buSzPct val="100000"/>
              <a:buFont typeface="Wingdings" pitchFamily="2" charset="2"/>
              <a:buChar char="ü"/>
            </a:pPr>
            <a:r>
              <a:rPr lang="en-US" b="1" i="1"/>
              <a:t>Evaluate products</a:t>
            </a:r>
          </a:p>
          <a:p>
            <a:pPr marL="914400" lvl="1" indent="-404813" eaLnBrk="1" hangingPunct="1">
              <a:lnSpc>
                <a:spcPct val="90000"/>
              </a:lnSpc>
              <a:buClr>
                <a:schemeClr val="bg2"/>
              </a:buClr>
              <a:buSzPct val="100000"/>
              <a:buFont typeface="Wingdings" pitchFamily="2" charset="2"/>
              <a:buChar char="ü"/>
            </a:pPr>
            <a:r>
              <a:rPr lang="en-US" b="1" i="1"/>
              <a:t>Recommend selection and produce report</a:t>
            </a:r>
            <a:r>
              <a:rPr lang="en-GB" b="1" i="1"/>
              <a:t>.</a:t>
            </a:r>
          </a:p>
        </p:txBody>
      </p:sp>
      <p:sp>
        <p:nvSpPr>
          <p:cNvPr id="68612" name="Slide Number Placeholder 5"/>
          <p:cNvSpPr>
            <a:spLocks noGrp="1"/>
          </p:cNvSpPr>
          <p:nvPr>
            <p:ph type="sldNum" sz="quarter" idx="12"/>
          </p:nvPr>
        </p:nvSpPr>
        <p:spPr>
          <a:xfrm>
            <a:off x="7092950" y="6165850"/>
            <a:ext cx="2895600" cy="457200"/>
          </a:xfrm>
          <a:noFill/>
        </p:spPr>
        <p:txBody>
          <a:bodyPr/>
          <a:lstStyle/>
          <a:p>
            <a:pPr algn="ctr"/>
            <a:fld id="{2A91EEF2-1823-47CA-BDB4-E7F4139B0E12}" type="slidenum">
              <a:rPr lang="en-US" smtClean="0">
                <a:latin typeface="Arial" pitchFamily="34" charset="0"/>
                <a:ea typeface="ＭＳ Ｐゴシック" pitchFamily="34" charset="-128"/>
              </a:rPr>
              <a:pPr algn="ctr"/>
              <a:t>72</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24610DA8-E093-492E-8A2B-D7B32BBF699C}"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5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454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60388" y="1209675"/>
            <a:ext cx="7467600" cy="563563"/>
          </a:xfrm>
        </p:spPr>
        <p:txBody>
          <a:bodyPr lIns="90488" tIns="44450" rIns="90488" bIns="44450"/>
          <a:lstStyle/>
          <a:p>
            <a:pPr eaLnBrk="1" hangingPunct="1"/>
            <a:r>
              <a:rPr lang="en-GB" b="1"/>
              <a:t>STEP 6: Application Design</a:t>
            </a:r>
          </a:p>
        </p:txBody>
      </p:sp>
      <p:sp>
        <p:nvSpPr>
          <p:cNvPr id="27651" name="Rectangle 3"/>
          <p:cNvSpPr>
            <a:spLocks noGrp="1" noChangeArrowheads="1"/>
          </p:cNvSpPr>
          <p:nvPr>
            <p:ph sz="quarter" idx="1"/>
          </p:nvPr>
        </p:nvSpPr>
        <p:spPr>
          <a:xfrm>
            <a:off x="685800" y="1773238"/>
            <a:ext cx="7727950" cy="4800600"/>
          </a:xfrm>
        </p:spPr>
        <p:txBody>
          <a:bodyPr lIns="90488" tIns="44450" rIns="90488" bIns="44450"/>
          <a:lstStyle/>
          <a:p>
            <a:pPr eaLnBrk="1" hangingPunct="1">
              <a:buFontTx/>
              <a:buNone/>
            </a:pPr>
            <a:r>
              <a:rPr lang="en-GB" b="1"/>
              <a:t>Design of user interface and application programs that use and process the database.</a:t>
            </a:r>
          </a:p>
          <a:p>
            <a:pPr eaLnBrk="1" hangingPunct="1">
              <a:lnSpc>
                <a:spcPct val="30000"/>
              </a:lnSpc>
            </a:pPr>
            <a:endParaRPr lang="en-GB"/>
          </a:p>
          <a:p>
            <a:pPr eaLnBrk="1" hangingPunct="1"/>
            <a:r>
              <a:rPr lang="en-GB"/>
              <a:t>Database and application design are parallel activities, since a database exists to support applications.</a:t>
            </a:r>
          </a:p>
          <a:p>
            <a:pPr eaLnBrk="1" hangingPunct="1">
              <a:lnSpc>
                <a:spcPct val="30000"/>
              </a:lnSpc>
            </a:pPr>
            <a:endParaRPr lang="en-GB"/>
          </a:p>
          <a:p>
            <a:pPr eaLnBrk="1" hangingPunct="1"/>
            <a:r>
              <a:rPr lang="en-GB"/>
              <a:t>Includes two important activities:</a:t>
            </a:r>
          </a:p>
          <a:p>
            <a:pPr lvl="1" eaLnBrk="1" hangingPunct="1">
              <a:buClr>
                <a:schemeClr val="bg2"/>
              </a:buClr>
              <a:buSzPct val="100000"/>
              <a:buFont typeface="Wingdings" pitchFamily="2" charset="2"/>
              <a:buChar char="ü"/>
            </a:pPr>
            <a:r>
              <a:rPr lang="en-GB" b="1" i="1"/>
              <a:t>transaction design</a:t>
            </a:r>
          </a:p>
          <a:p>
            <a:pPr lvl="1" eaLnBrk="1" hangingPunct="1">
              <a:buClr>
                <a:schemeClr val="bg2"/>
              </a:buClr>
              <a:buSzPct val="100000"/>
              <a:buFont typeface="Wingdings" pitchFamily="2" charset="2"/>
              <a:buChar char="ü"/>
            </a:pPr>
            <a:r>
              <a:rPr lang="en-GB" b="1" i="1"/>
              <a:t>user interface design.</a:t>
            </a:r>
          </a:p>
        </p:txBody>
      </p:sp>
      <p:sp>
        <p:nvSpPr>
          <p:cNvPr id="69636" name="Slide Number Placeholder 5"/>
          <p:cNvSpPr>
            <a:spLocks noGrp="1"/>
          </p:cNvSpPr>
          <p:nvPr>
            <p:ph type="sldNum" sz="quarter" idx="12"/>
          </p:nvPr>
        </p:nvSpPr>
        <p:spPr>
          <a:xfrm>
            <a:off x="3124200" y="6248400"/>
            <a:ext cx="2895600" cy="457200"/>
          </a:xfrm>
          <a:noFill/>
        </p:spPr>
        <p:txBody>
          <a:bodyPr/>
          <a:lstStyle/>
          <a:p>
            <a:pPr algn="ctr"/>
            <a:fld id="{09A2C46F-F2D8-4ACE-81BB-65A2E1928D68}" type="slidenum">
              <a:rPr lang="en-US" smtClean="0">
                <a:latin typeface="Arial" pitchFamily="34" charset="0"/>
                <a:ea typeface="ＭＳ Ｐゴシック" pitchFamily="34" charset="-128"/>
              </a:rPr>
              <a:pPr algn="ctr"/>
              <a:t>73</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871BD5FF-693D-49C4-8762-2A456CD07F04}"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76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65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765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2765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68313" y="981075"/>
            <a:ext cx="7467600" cy="774700"/>
          </a:xfrm>
        </p:spPr>
        <p:txBody>
          <a:bodyPr lIns="90488" tIns="44450" rIns="90488" bIns="44450"/>
          <a:lstStyle/>
          <a:p>
            <a:pPr eaLnBrk="1" hangingPunct="1"/>
            <a:r>
              <a:rPr lang="en-GB" b="1"/>
              <a:t>Application Design: Transactions</a:t>
            </a:r>
          </a:p>
        </p:txBody>
      </p:sp>
      <p:sp>
        <p:nvSpPr>
          <p:cNvPr id="44035" name="Rectangle 3"/>
          <p:cNvSpPr>
            <a:spLocks noGrp="1" noChangeArrowheads="1"/>
          </p:cNvSpPr>
          <p:nvPr>
            <p:ph sz="quarter" idx="1"/>
          </p:nvPr>
        </p:nvSpPr>
        <p:spPr>
          <a:xfrm>
            <a:off x="609600" y="1773238"/>
            <a:ext cx="8139113" cy="4392612"/>
          </a:xfrm>
        </p:spPr>
        <p:txBody>
          <a:bodyPr lIns="90488" tIns="44450" rIns="90488" bIns="44450"/>
          <a:lstStyle/>
          <a:p>
            <a:pPr eaLnBrk="1" hangingPunct="1"/>
            <a:r>
              <a:rPr lang="en-US"/>
              <a:t>This involves designing the application programs that access the database and the transactions (access methods). </a:t>
            </a:r>
          </a:p>
          <a:p>
            <a:pPr eaLnBrk="1" hangingPunct="1"/>
            <a:endParaRPr lang="en-US"/>
          </a:p>
          <a:p>
            <a:pPr eaLnBrk="1" hangingPunct="1"/>
            <a:r>
              <a:rPr lang="en-US"/>
              <a:t> This design provides a description of how the functionality of the database application will be achieved.</a:t>
            </a:r>
          </a:p>
          <a:p>
            <a:pPr eaLnBrk="1" hangingPunct="1"/>
            <a:endParaRPr lang="en-GB" b="1"/>
          </a:p>
          <a:p>
            <a:pPr eaLnBrk="1" hangingPunct="1"/>
            <a:r>
              <a:rPr lang="en-GB" b="1"/>
              <a:t>A transaction is an action, or series of actions, carried out by a single user or application program, which accesses or changes content of the database, f</a:t>
            </a:r>
            <a:r>
              <a:rPr lang="en-GB"/>
              <a:t>or example, cash withdrawal, cash deposit, etc</a:t>
            </a:r>
          </a:p>
        </p:txBody>
      </p:sp>
      <p:sp>
        <p:nvSpPr>
          <p:cNvPr id="70660" name="Slide Number Placeholder 5"/>
          <p:cNvSpPr>
            <a:spLocks noGrp="1"/>
          </p:cNvSpPr>
          <p:nvPr>
            <p:ph type="sldNum" sz="quarter" idx="12"/>
          </p:nvPr>
        </p:nvSpPr>
        <p:spPr>
          <a:xfrm>
            <a:off x="3124200" y="6248400"/>
            <a:ext cx="2895600" cy="457200"/>
          </a:xfrm>
          <a:noFill/>
        </p:spPr>
        <p:txBody>
          <a:bodyPr/>
          <a:lstStyle/>
          <a:p>
            <a:pPr algn="ctr"/>
            <a:fld id="{DCFE732C-0BB6-4A77-85D8-5975FF69F114}" type="slidenum">
              <a:rPr lang="en-US" smtClean="0">
                <a:latin typeface="Arial" pitchFamily="34" charset="0"/>
                <a:ea typeface="ＭＳ Ｐゴシック" pitchFamily="34" charset="-128"/>
              </a:rPr>
              <a:pPr algn="ctr"/>
              <a:t>74</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F3777291-60C6-4CD9-B761-8109C88C7507}"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40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4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eaLnBrk="1" hangingPunct="1"/>
            <a:r>
              <a:rPr lang="en-GB" b="1"/>
              <a:t>Application Design: Transactions</a:t>
            </a:r>
            <a:endParaRPr lang="en-US"/>
          </a:p>
        </p:txBody>
      </p:sp>
      <p:sp>
        <p:nvSpPr>
          <p:cNvPr id="71683" name="Content Placeholder 2"/>
          <p:cNvSpPr>
            <a:spLocks noGrp="1"/>
          </p:cNvSpPr>
          <p:nvPr>
            <p:ph sz="quarter" idx="1"/>
          </p:nvPr>
        </p:nvSpPr>
        <p:spPr>
          <a:xfrm>
            <a:off x="457200" y="1773238"/>
            <a:ext cx="8291513" cy="4873625"/>
          </a:xfrm>
        </p:spPr>
        <p:txBody>
          <a:bodyPr/>
          <a:lstStyle/>
          <a:p>
            <a:pPr eaLnBrk="1" hangingPunct="1"/>
            <a:r>
              <a:rPr lang="en-GB"/>
              <a:t>Three main types of transactions</a:t>
            </a:r>
            <a:r>
              <a:rPr lang="en-GB" b="1"/>
              <a:t>: retrieval, update and mixed.</a:t>
            </a:r>
            <a:endParaRPr lang="en-US"/>
          </a:p>
          <a:p>
            <a:pPr lvl="1" eaLnBrk="1" hangingPunct="1">
              <a:buClr>
                <a:schemeClr val="bg2"/>
              </a:buClr>
              <a:buSzPct val="100000"/>
              <a:buFont typeface="Wingdings" pitchFamily="2" charset="2"/>
              <a:buChar char="ü"/>
            </a:pPr>
            <a:r>
              <a:rPr lang="en-US" b="1"/>
              <a:t>Retrieval; </a:t>
            </a:r>
            <a:r>
              <a:rPr lang="en-US"/>
              <a:t>these are used to retrieve data from a database and display it on the screen. They are used for reporting purposes. </a:t>
            </a:r>
          </a:p>
          <a:p>
            <a:pPr lvl="1" eaLnBrk="1" hangingPunct="1">
              <a:buClr>
                <a:schemeClr val="bg2"/>
              </a:buClr>
              <a:buSzPct val="100000"/>
              <a:buFont typeface="Wingdings" pitchFamily="2" charset="2"/>
              <a:buChar char="ü"/>
            </a:pPr>
            <a:endParaRPr lang="en-US"/>
          </a:p>
          <a:p>
            <a:pPr lvl="1" eaLnBrk="1" hangingPunct="1">
              <a:buClr>
                <a:schemeClr val="bg2"/>
              </a:buClr>
              <a:buSzPct val="100000"/>
              <a:buFont typeface="Wingdings" pitchFamily="2" charset="2"/>
              <a:buChar char="ü"/>
            </a:pPr>
            <a:r>
              <a:rPr lang="en-US" b="1"/>
              <a:t>Update; </a:t>
            </a:r>
            <a:r>
              <a:rPr lang="en-US"/>
              <a:t>these are used to insert new records, deleting old records and modifying existing records in the database. </a:t>
            </a:r>
          </a:p>
          <a:p>
            <a:pPr lvl="1" eaLnBrk="1" hangingPunct="1">
              <a:buClr>
                <a:schemeClr val="bg2"/>
              </a:buClr>
              <a:buSzPct val="100000"/>
              <a:buFont typeface="Wingdings" pitchFamily="2" charset="2"/>
              <a:buChar char="ü"/>
            </a:pPr>
            <a:endParaRPr lang="en-US"/>
          </a:p>
          <a:p>
            <a:pPr lvl="1" eaLnBrk="1" hangingPunct="1">
              <a:buClr>
                <a:schemeClr val="bg2"/>
              </a:buClr>
              <a:buSzPct val="100000"/>
              <a:buFont typeface="Wingdings" pitchFamily="2" charset="2"/>
              <a:buChar char="ü"/>
            </a:pPr>
            <a:r>
              <a:rPr lang="en-US"/>
              <a:t> </a:t>
            </a:r>
            <a:r>
              <a:rPr lang="en-US" b="1"/>
              <a:t>Mixed; </a:t>
            </a:r>
            <a:r>
              <a:rPr lang="en-US"/>
              <a:t>these are used for retrieval and updating of data in a database. </a:t>
            </a:r>
          </a:p>
          <a:p>
            <a:pPr eaLnBrk="1" hangingPunct="1"/>
            <a:endParaRPr lang="en-US"/>
          </a:p>
        </p:txBody>
      </p:sp>
      <p:sp>
        <p:nvSpPr>
          <p:cNvPr id="71684" name="Slide Number Placeholder 3"/>
          <p:cNvSpPr>
            <a:spLocks noGrp="1"/>
          </p:cNvSpPr>
          <p:nvPr>
            <p:ph type="sldNum" sz="quarter" idx="12"/>
          </p:nvPr>
        </p:nvSpPr>
        <p:spPr>
          <a:xfrm>
            <a:off x="3124200" y="6248400"/>
            <a:ext cx="2895600" cy="457200"/>
          </a:xfrm>
          <a:noFill/>
        </p:spPr>
        <p:txBody>
          <a:bodyPr/>
          <a:lstStyle/>
          <a:p>
            <a:pPr algn="ctr"/>
            <a:fld id="{21808B11-415F-400B-86AE-7710D30D84E4}" type="slidenum">
              <a:rPr lang="en-US" smtClean="0">
                <a:latin typeface="Arial" pitchFamily="34" charset="0"/>
                <a:ea typeface="ＭＳ Ｐゴシック" pitchFamily="34" charset="-128"/>
              </a:rPr>
              <a:pPr algn="ctr"/>
              <a:t>75</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EC36529C-BCCD-49E4-82E4-C7D39B7E7718}"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lIns="90488" tIns="44450" rIns="90488" bIns="44450"/>
          <a:lstStyle/>
          <a:p>
            <a:pPr eaLnBrk="1" hangingPunct="1"/>
            <a:r>
              <a:rPr lang="en-GB" b="1"/>
              <a:t>Application Design: Transactions</a:t>
            </a:r>
          </a:p>
        </p:txBody>
      </p:sp>
      <p:sp>
        <p:nvSpPr>
          <p:cNvPr id="45059" name="Rectangle 3"/>
          <p:cNvSpPr>
            <a:spLocks noGrp="1" noChangeArrowheads="1"/>
          </p:cNvSpPr>
          <p:nvPr>
            <p:ph sz="quarter" idx="1"/>
          </p:nvPr>
        </p:nvSpPr>
        <p:spPr>
          <a:xfrm>
            <a:off x="609600" y="1741488"/>
            <a:ext cx="7727950" cy="4495800"/>
          </a:xfrm>
        </p:spPr>
        <p:txBody>
          <a:bodyPr lIns="90488" tIns="44450" rIns="90488" bIns="44450"/>
          <a:lstStyle/>
          <a:p>
            <a:pPr eaLnBrk="1" hangingPunct="1">
              <a:lnSpc>
                <a:spcPct val="90000"/>
              </a:lnSpc>
              <a:defRPr/>
            </a:pPr>
            <a:r>
              <a:rPr lang="en-US" dirty="0"/>
              <a:t>The purpose of the transaction design is to define and document the high-level characteristics of the transactions required</a:t>
            </a:r>
            <a:endParaRPr lang="en-GB" b="1" dirty="0"/>
          </a:p>
          <a:p>
            <a:pPr eaLnBrk="1" hangingPunct="1">
              <a:lnSpc>
                <a:spcPct val="90000"/>
              </a:lnSpc>
              <a:defRPr/>
            </a:pPr>
            <a:endParaRPr lang="en-GB" b="1" dirty="0"/>
          </a:p>
          <a:p>
            <a:pPr eaLnBrk="1" hangingPunct="1">
              <a:lnSpc>
                <a:spcPct val="90000"/>
              </a:lnSpc>
              <a:defRPr/>
            </a:pPr>
            <a:r>
              <a:rPr lang="en-GB" b="1" dirty="0"/>
              <a:t>Important characteristics of transactions:</a:t>
            </a:r>
          </a:p>
          <a:p>
            <a:pPr lvl="1" eaLnBrk="1" hangingPunct="1">
              <a:lnSpc>
                <a:spcPct val="90000"/>
              </a:lnSpc>
              <a:buClr>
                <a:schemeClr val="bg2"/>
              </a:buClr>
              <a:buSzPct val="100000"/>
              <a:buFont typeface="Wingdings" pitchFamily="2" charset="2"/>
              <a:buChar char="ü"/>
              <a:defRPr/>
            </a:pPr>
            <a:r>
              <a:rPr lang="en-GB" dirty="0">
                <a:ea typeface="+mn-ea"/>
              </a:rPr>
              <a:t>data to be used by the transaction</a:t>
            </a:r>
          </a:p>
          <a:p>
            <a:pPr lvl="1" eaLnBrk="1" hangingPunct="1">
              <a:lnSpc>
                <a:spcPct val="90000"/>
              </a:lnSpc>
              <a:buClr>
                <a:schemeClr val="bg2"/>
              </a:buClr>
              <a:buSzPct val="100000"/>
              <a:buFont typeface="Wingdings" pitchFamily="2" charset="2"/>
              <a:buChar char="ü"/>
              <a:defRPr/>
            </a:pPr>
            <a:r>
              <a:rPr lang="en-GB" dirty="0">
                <a:ea typeface="+mn-ea"/>
              </a:rPr>
              <a:t>functional characteristics of the transaction</a:t>
            </a:r>
          </a:p>
          <a:p>
            <a:pPr lvl="1" eaLnBrk="1" hangingPunct="1">
              <a:lnSpc>
                <a:spcPct val="90000"/>
              </a:lnSpc>
              <a:buClr>
                <a:schemeClr val="bg2"/>
              </a:buClr>
              <a:buSzPct val="100000"/>
              <a:buFont typeface="Wingdings" pitchFamily="2" charset="2"/>
              <a:buChar char="ü"/>
              <a:defRPr/>
            </a:pPr>
            <a:r>
              <a:rPr lang="en-GB" dirty="0">
                <a:ea typeface="+mn-ea"/>
              </a:rPr>
              <a:t>output of the transaction</a:t>
            </a:r>
          </a:p>
          <a:p>
            <a:pPr lvl="1" eaLnBrk="1" hangingPunct="1">
              <a:lnSpc>
                <a:spcPct val="90000"/>
              </a:lnSpc>
              <a:buClr>
                <a:schemeClr val="bg2"/>
              </a:buClr>
              <a:buSzPct val="100000"/>
              <a:buFont typeface="Wingdings" pitchFamily="2" charset="2"/>
              <a:buChar char="ü"/>
              <a:defRPr/>
            </a:pPr>
            <a:r>
              <a:rPr lang="en-GB" dirty="0">
                <a:ea typeface="+mn-ea"/>
              </a:rPr>
              <a:t>importance to the users</a:t>
            </a:r>
          </a:p>
          <a:p>
            <a:pPr lvl="1" eaLnBrk="1" hangingPunct="1">
              <a:lnSpc>
                <a:spcPct val="90000"/>
              </a:lnSpc>
              <a:buClr>
                <a:schemeClr val="bg2"/>
              </a:buClr>
              <a:buSzPct val="100000"/>
              <a:buFont typeface="Wingdings" pitchFamily="2" charset="2"/>
              <a:buChar char="ü"/>
              <a:defRPr/>
            </a:pPr>
            <a:r>
              <a:rPr lang="en-GB" dirty="0">
                <a:ea typeface="+mn-ea"/>
              </a:rPr>
              <a:t>expected rate of usage.</a:t>
            </a:r>
          </a:p>
          <a:p>
            <a:pPr lvl="1" eaLnBrk="1" hangingPunct="1">
              <a:lnSpc>
                <a:spcPct val="90000"/>
              </a:lnSpc>
              <a:buFont typeface="Wingdings 2" pitchFamily="18" charset="2"/>
              <a:buNone/>
              <a:defRPr/>
            </a:pPr>
            <a:endParaRPr lang="en-GB" dirty="0"/>
          </a:p>
          <a:p>
            <a:pPr eaLnBrk="1" hangingPunct="1">
              <a:lnSpc>
                <a:spcPct val="30000"/>
              </a:lnSpc>
              <a:defRPr/>
            </a:pPr>
            <a:endParaRPr lang="en-GB" dirty="0"/>
          </a:p>
        </p:txBody>
      </p:sp>
      <p:sp>
        <p:nvSpPr>
          <p:cNvPr id="72708" name="Slide Number Placeholder 5"/>
          <p:cNvSpPr>
            <a:spLocks noGrp="1"/>
          </p:cNvSpPr>
          <p:nvPr>
            <p:ph type="sldNum" sz="quarter" idx="12"/>
          </p:nvPr>
        </p:nvSpPr>
        <p:spPr>
          <a:xfrm>
            <a:off x="3124200" y="6248400"/>
            <a:ext cx="2895600" cy="457200"/>
          </a:xfrm>
          <a:noFill/>
        </p:spPr>
        <p:txBody>
          <a:bodyPr/>
          <a:lstStyle/>
          <a:p>
            <a:pPr algn="ctr"/>
            <a:fld id="{70051D2D-1721-4DFD-B633-68E222C26812}" type="slidenum">
              <a:rPr lang="en-US" smtClean="0">
                <a:latin typeface="Arial" pitchFamily="34" charset="0"/>
                <a:ea typeface="ＭＳ Ｐゴシック" pitchFamily="34" charset="-128"/>
              </a:rPr>
              <a:pPr algn="ctr"/>
              <a:t>76</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35B3BAA1-7112-42B6-AB57-F50E95845BDF}"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50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50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4505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4505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5059">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50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pPr eaLnBrk="1" hangingPunct="1"/>
            <a:r>
              <a:rPr lang="en-US"/>
              <a:t>Application design: User Interface</a:t>
            </a:r>
          </a:p>
        </p:txBody>
      </p:sp>
      <p:sp>
        <p:nvSpPr>
          <p:cNvPr id="73731" name="Content Placeholder 2"/>
          <p:cNvSpPr>
            <a:spLocks noGrp="1"/>
          </p:cNvSpPr>
          <p:nvPr>
            <p:ph sz="quarter" idx="1"/>
          </p:nvPr>
        </p:nvSpPr>
        <p:spPr>
          <a:xfrm>
            <a:off x="457200" y="1795463"/>
            <a:ext cx="8291513" cy="4873625"/>
          </a:xfrm>
        </p:spPr>
        <p:txBody>
          <a:bodyPr/>
          <a:lstStyle/>
          <a:p>
            <a:pPr eaLnBrk="1" hangingPunct="1"/>
            <a:r>
              <a:rPr lang="en-US"/>
              <a:t>This involves designing a user-friendly user interface to the database application.</a:t>
            </a:r>
          </a:p>
          <a:p>
            <a:pPr eaLnBrk="1" hangingPunct="1"/>
            <a:endParaRPr lang="en-US"/>
          </a:p>
          <a:p>
            <a:pPr eaLnBrk="1" hangingPunct="1"/>
            <a:r>
              <a:rPr lang="en-US"/>
              <a:t>The user interface that is designed should be easy to learn, simple to use, intuitive and forgiving among other characteristics. </a:t>
            </a:r>
          </a:p>
          <a:p>
            <a:pPr eaLnBrk="1" hangingPunct="1"/>
            <a:endParaRPr lang="en-US"/>
          </a:p>
          <a:p>
            <a:pPr eaLnBrk="1" hangingPunct="1"/>
            <a:r>
              <a:rPr lang="en-US"/>
              <a:t>This is an important activity because it usually determines the acceptability of the database application by the users.</a:t>
            </a:r>
          </a:p>
        </p:txBody>
      </p:sp>
      <p:sp>
        <p:nvSpPr>
          <p:cNvPr id="73732" name="Slide Number Placeholder 3"/>
          <p:cNvSpPr>
            <a:spLocks noGrp="1"/>
          </p:cNvSpPr>
          <p:nvPr>
            <p:ph type="sldNum" sz="quarter" idx="12"/>
          </p:nvPr>
        </p:nvSpPr>
        <p:spPr>
          <a:xfrm>
            <a:off x="3124200" y="6248400"/>
            <a:ext cx="2895600" cy="457200"/>
          </a:xfrm>
          <a:noFill/>
        </p:spPr>
        <p:txBody>
          <a:bodyPr/>
          <a:lstStyle/>
          <a:p>
            <a:pPr algn="ctr"/>
            <a:fld id="{12EC67AA-A193-4353-B9AB-E0201EDC908E}" type="slidenum">
              <a:rPr lang="en-US" smtClean="0">
                <a:latin typeface="Arial" pitchFamily="34" charset="0"/>
                <a:ea typeface="ＭＳ Ｐゴシック" pitchFamily="34" charset="-128"/>
              </a:rPr>
              <a:pPr algn="ctr"/>
              <a:t>77</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8C8C928E-3636-4488-8BB8-E8AF239E795A}"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lIns="90488" tIns="44450" rIns="90488" bIns="44450"/>
          <a:lstStyle/>
          <a:p>
            <a:pPr eaLnBrk="1" hangingPunct="1"/>
            <a:r>
              <a:rPr lang="en-GB" b="1"/>
              <a:t>Step 7: Prototyping (optional)</a:t>
            </a:r>
          </a:p>
        </p:txBody>
      </p:sp>
      <p:sp>
        <p:nvSpPr>
          <p:cNvPr id="28675" name="Rectangle 3"/>
          <p:cNvSpPr>
            <a:spLocks noGrp="1" noChangeArrowheads="1"/>
          </p:cNvSpPr>
          <p:nvPr>
            <p:ph sz="quarter" idx="1"/>
          </p:nvPr>
        </p:nvSpPr>
        <p:spPr>
          <a:xfrm>
            <a:off x="514350" y="1762125"/>
            <a:ext cx="8305800" cy="4114800"/>
          </a:xfrm>
        </p:spPr>
        <p:txBody>
          <a:bodyPr lIns="90488" tIns="44450" rIns="90488" bIns="44450"/>
          <a:lstStyle/>
          <a:p>
            <a:pPr eaLnBrk="1" hangingPunct="1">
              <a:lnSpc>
                <a:spcPct val="90000"/>
              </a:lnSpc>
              <a:buFontTx/>
              <a:buNone/>
              <a:defRPr/>
            </a:pPr>
            <a:r>
              <a:rPr lang="en-GB" b="1" dirty="0"/>
              <a:t>It involves building a working model of a database application.</a:t>
            </a:r>
          </a:p>
          <a:p>
            <a:pPr marL="793750" indent="-284163" eaLnBrk="1" hangingPunct="1">
              <a:lnSpc>
                <a:spcPct val="90000"/>
              </a:lnSpc>
              <a:buSzPct val="100000"/>
              <a:buFont typeface="Wingdings" pitchFamily="2" charset="2"/>
              <a:buChar char="ü"/>
              <a:defRPr/>
            </a:pPr>
            <a:r>
              <a:rPr lang="en-GB" b="1" dirty="0"/>
              <a:t>	</a:t>
            </a:r>
            <a:r>
              <a:rPr lang="en-GB" dirty="0"/>
              <a:t>It does not have all the required features functionality.</a:t>
            </a:r>
          </a:p>
          <a:p>
            <a:pPr eaLnBrk="1" hangingPunct="1">
              <a:lnSpc>
                <a:spcPct val="40000"/>
              </a:lnSpc>
              <a:defRPr/>
            </a:pPr>
            <a:endParaRPr lang="en-GB" b="1" dirty="0"/>
          </a:p>
          <a:p>
            <a:pPr eaLnBrk="1" hangingPunct="1">
              <a:lnSpc>
                <a:spcPct val="90000"/>
              </a:lnSpc>
              <a:defRPr/>
            </a:pPr>
            <a:r>
              <a:rPr lang="en-GB" dirty="0"/>
              <a:t>Purpose</a:t>
            </a:r>
          </a:p>
          <a:p>
            <a:pPr lvl="1" eaLnBrk="1" hangingPunct="1">
              <a:lnSpc>
                <a:spcPct val="90000"/>
              </a:lnSpc>
              <a:buClr>
                <a:schemeClr val="bg2"/>
              </a:buClr>
              <a:buSzPct val="100000"/>
              <a:buFont typeface="Wingdings" pitchFamily="2" charset="2"/>
              <a:buChar char="ü"/>
              <a:defRPr/>
            </a:pPr>
            <a:r>
              <a:rPr lang="en-GB" i="1" dirty="0">
                <a:ea typeface="+mn-ea"/>
              </a:rPr>
              <a:t>to identify features of a system that work well, or are inadequate</a:t>
            </a:r>
          </a:p>
          <a:p>
            <a:pPr lvl="1" eaLnBrk="1" hangingPunct="1">
              <a:lnSpc>
                <a:spcPct val="90000"/>
              </a:lnSpc>
              <a:buClr>
                <a:schemeClr val="bg2"/>
              </a:buClr>
              <a:buSzPct val="100000"/>
              <a:buFont typeface="Wingdings" pitchFamily="2" charset="2"/>
              <a:buChar char="ü"/>
              <a:defRPr/>
            </a:pPr>
            <a:r>
              <a:rPr lang="en-GB" i="1" dirty="0">
                <a:ea typeface="+mn-ea"/>
              </a:rPr>
              <a:t>to suggest improvements or even new features</a:t>
            </a:r>
          </a:p>
          <a:p>
            <a:pPr lvl="1" eaLnBrk="1" hangingPunct="1">
              <a:lnSpc>
                <a:spcPct val="90000"/>
              </a:lnSpc>
              <a:buClr>
                <a:schemeClr val="bg2"/>
              </a:buClr>
              <a:buSzPct val="100000"/>
              <a:buFont typeface="Wingdings" pitchFamily="2" charset="2"/>
              <a:buChar char="ü"/>
              <a:defRPr/>
            </a:pPr>
            <a:r>
              <a:rPr lang="en-GB" i="1" dirty="0">
                <a:ea typeface="+mn-ea"/>
              </a:rPr>
              <a:t>to clarify the users’ requirements </a:t>
            </a:r>
          </a:p>
          <a:p>
            <a:pPr lvl="1" eaLnBrk="1" hangingPunct="1">
              <a:lnSpc>
                <a:spcPct val="90000"/>
              </a:lnSpc>
              <a:buClr>
                <a:schemeClr val="bg2"/>
              </a:buClr>
              <a:buSzPct val="100000"/>
              <a:buFont typeface="Wingdings" pitchFamily="2" charset="2"/>
              <a:buChar char="ü"/>
              <a:defRPr/>
            </a:pPr>
            <a:r>
              <a:rPr lang="en-GB" i="1" dirty="0">
                <a:ea typeface="+mn-ea"/>
              </a:rPr>
              <a:t>to evaluate feasibility of a particular system design. </a:t>
            </a:r>
          </a:p>
        </p:txBody>
      </p:sp>
      <p:sp>
        <p:nvSpPr>
          <p:cNvPr id="74756" name="Slide Number Placeholder 5"/>
          <p:cNvSpPr>
            <a:spLocks noGrp="1"/>
          </p:cNvSpPr>
          <p:nvPr>
            <p:ph type="sldNum" sz="quarter" idx="12"/>
          </p:nvPr>
        </p:nvSpPr>
        <p:spPr>
          <a:xfrm>
            <a:off x="3124200" y="6248400"/>
            <a:ext cx="2895600" cy="457200"/>
          </a:xfrm>
          <a:noFill/>
        </p:spPr>
        <p:txBody>
          <a:bodyPr/>
          <a:lstStyle/>
          <a:p>
            <a:pPr algn="ctr"/>
            <a:fld id="{F2473E38-68EB-4747-93E4-F23DB7446C1C}" type="slidenum">
              <a:rPr lang="en-US" smtClean="0">
                <a:latin typeface="Arial" pitchFamily="34" charset="0"/>
                <a:ea typeface="ＭＳ Ｐゴシック" pitchFamily="34" charset="-128"/>
              </a:rPr>
              <a:pPr algn="ctr"/>
              <a:t>78</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99EF5EAC-EB9E-480F-8B29-A4421026EC57}"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86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6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867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468313" y="1125538"/>
            <a:ext cx="7467600" cy="638175"/>
          </a:xfrm>
        </p:spPr>
        <p:txBody>
          <a:bodyPr/>
          <a:lstStyle/>
          <a:p>
            <a:pPr eaLnBrk="1" hangingPunct="1"/>
            <a:r>
              <a:rPr lang="en-US"/>
              <a:t>Prototyping: Strategies</a:t>
            </a:r>
          </a:p>
        </p:txBody>
      </p:sp>
      <p:sp>
        <p:nvSpPr>
          <p:cNvPr id="75779" name="Content Placeholder 2"/>
          <p:cNvSpPr>
            <a:spLocks noGrp="1"/>
          </p:cNvSpPr>
          <p:nvPr>
            <p:ph sz="quarter" idx="1"/>
          </p:nvPr>
        </p:nvSpPr>
        <p:spPr>
          <a:xfrm>
            <a:off x="457200" y="1773238"/>
            <a:ext cx="8291513" cy="5635625"/>
          </a:xfrm>
        </p:spPr>
        <p:txBody>
          <a:bodyPr/>
          <a:lstStyle/>
          <a:p>
            <a:pPr eaLnBrk="1" hangingPunct="1">
              <a:buFont typeface="Wingdings" pitchFamily="2" charset="2"/>
              <a:buNone/>
            </a:pPr>
            <a:r>
              <a:rPr lang="en-US" b="1"/>
              <a:t>Requirements prototyping; </a:t>
            </a:r>
          </a:p>
          <a:p>
            <a:pPr eaLnBrk="1" hangingPunct="1">
              <a:buFont typeface="Wingdings" pitchFamily="2" charset="2"/>
              <a:buNone/>
            </a:pPr>
            <a:r>
              <a:rPr lang="en-US"/>
              <a:t>	This is the use of a prototype to determine the requirements of the proposed database application. Once the requirements are complete, the prototype is discarded. </a:t>
            </a:r>
          </a:p>
          <a:p>
            <a:pPr lvl="1" eaLnBrk="1" hangingPunct="1"/>
            <a:endParaRPr lang="en-US"/>
          </a:p>
          <a:p>
            <a:pPr eaLnBrk="1" hangingPunct="1">
              <a:buFont typeface="Wingdings" pitchFamily="2" charset="2"/>
              <a:buNone/>
            </a:pPr>
            <a:r>
              <a:rPr lang="en-US" b="1"/>
              <a:t>Evolutionary prototyping; </a:t>
            </a:r>
          </a:p>
          <a:p>
            <a:pPr eaLnBrk="1" hangingPunct="1">
              <a:buFont typeface="Wingdings" pitchFamily="2" charset="2"/>
              <a:buNone/>
            </a:pPr>
            <a:r>
              <a:rPr lang="en-US"/>
              <a:t>	In this strategy, the prototype is also used to determine the database application’s requirements. Once they’ve been identified, the prototype is refined into the fully functional/working database application. </a:t>
            </a:r>
          </a:p>
          <a:p>
            <a:pPr eaLnBrk="1" hangingPunct="1"/>
            <a:endParaRPr lang="en-US"/>
          </a:p>
        </p:txBody>
      </p:sp>
      <p:sp>
        <p:nvSpPr>
          <p:cNvPr id="75780" name="Slide Number Placeholder 3"/>
          <p:cNvSpPr>
            <a:spLocks noGrp="1"/>
          </p:cNvSpPr>
          <p:nvPr>
            <p:ph type="sldNum" sz="quarter" idx="12"/>
          </p:nvPr>
        </p:nvSpPr>
        <p:spPr>
          <a:xfrm>
            <a:off x="3124200" y="6248400"/>
            <a:ext cx="2895600" cy="457200"/>
          </a:xfrm>
          <a:noFill/>
        </p:spPr>
        <p:txBody>
          <a:bodyPr/>
          <a:lstStyle/>
          <a:p>
            <a:pPr algn="ctr"/>
            <a:fld id="{C134B841-0015-4E7E-AABA-06ED34C9FE00}" type="slidenum">
              <a:rPr lang="en-US" smtClean="0">
                <a:latin typeface="Arial" pitchFamily="34" charset="0"/>
                <a:ea typeface="ＭＳ Ｐゴシック" pitchFamily="34" charset="-128"/>
              </a:rPr>
              <a:pPr algn="ctr"/>
              <a:t>79</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65807371-BBB8-4476-B85A-1A2C176F219F}"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lIns="90488" tIns="44450" rIns="90488" bIns="44450"/>
          <a:lstStyle/>
          <a:p>
            <a:pPr eaLnBrk="1" hangingPunct="1"/>
            <a:r>
              <a:rPr lang="en-GB" b="1"/>
              <a:t>Step 8: Implementation</a:t>
            </a:r>
          </a:p>
        </p:txBody>
      </p:sp>
      <p:sp>
        <p:nvSpPr>
          <p:cNvPr id="30723" name="Rectangle 3"/>
          <p:cNvSpPr>
            <a:spLocks noGrp="1" noChangeArrowheads="1"/>
          </p:cNvSpPr>
          <p:nvPr>
            <p:ph sz="quarter" idx="1"/>
          </p:nvPr>
        </p:nvSpPr>
        <p:spPr>
          <a:xfrm>
            <a:off x="457200" y="1773238"/>
            <a:ext cx="8458200" cy="4535487"/>
          </a:xfrm>
        </p:spPr>
        <p:txBody>
          <a:bodyPr lIns="90488" tIns="44450" rIns="90488" bIns="44450"/>
          <a:lstStyle/>
          <a:p>
            <a:pPr eaLnBrk="1" hangingPunct="1">
              <a:buFont typeface="Wingdings" pitchFamily="2" charset="2"/>
              <a:buNone/>
            </a:pPr>
            <a:r>
              <a:rPr lang="en-GB" b="1"/>
              <a:t>Physical realization of the database and application designs.</a:t>
            </a:r>
          </a:p>
          <a:p>
            <a:pPr eaLnBrk="1" hangingPunct="1"/>
            <a:r>
              <a:rPr lang="en-US"/>
              <a:t>Database implementation is achieved using the data definition language (DDL) of the selected DBMS; </a:t>
            </a:r>
            <a:endParaRPr lang="en-GB"/>
          </a:p>
          <a:p>
            <a:pPr marL="927100" lvl="1" indent="-457200" eaLnBrk="1" hangingPunct="1">
              <a:spcAft>
                <a:spcPts val="600"/>
              </a:spcAft>
              <a:buClr>
                <a:schemeClr val="bg2"/>
              </a:buClr>
              <a:buSzPct val="100000"/>
              <a:buFont typeface="Wingdings" pitchFamily="2" charset="2"/>
              <a:buChar char="ü"/>
            </a:pPr>
            <a:r>
              <a:rPr lang="en-GB"/>
              <a:t>Creation of database schemas, empty relational schemas, and any specified user views.</a:t>
            </a:r>
          </a:p>
          <a:p>
            <a:pPr eaLnBrk="1" hangingPunct="1">
              <a:spcAft>
                <a:spcPts val="1200"/>
              </a:spcAft>
            </a:pPr>
            <a:r>
              <a:rPr lang="en-GB"/>
              <a:t>Application programs and database transactions are developed using a programming language, and the DML possibly embedded in the host programming language respectively.</a:t>
            </a:r>
          </a:p>
          <a:p>
            <a:pPr eaLnBrk="1" hangingPunct="1"/>
            <a:r>
              <a:rPr lang="en-US"/>
              <a:t>Security and integrity controls and the other database application components such as forms, menu screens and reports are also implemented in this stage.</a:t>
            </a:r>
          </a:p>
          <a:p>
            <a:pPr marL="927100" lvl="1" indent="-457200" eaLnBrk="1" hangingPunct="1">
              <a:buClr>
                <a:schemeClr val="bg2"/>
              </a:buClr>
              <a:buSzPct val="100000"/>
              <a:buFont typeface="Wingdings" pitchFamily="2" charset="2"/>
              <a:buNone/>
            </a:pPr>
            <a:endParaRPr lang="en-GB"/>
          </a:p>
        </p:txBody>
      </p:sp>
      <p:sp>
        <p:nvSpPr>
          <p:cNvPr id="76804" name="Slide Number Placeholder 5"/>
          <p:cNvSpPr>
            <a:spLocks noGrp="1"/>
          </p:cNvSpPr>
          <p:nvPr>
            <p:ph type="sldNum" sz="quarter" idx="12"/>
          </p:nvPr>
        </p:nvSpPr>
        <p:spPr>
          <a:xfrm>
            <a:off x="8272463" y="6165850"/>
            <a:ext cx="547687" cy="457200"/>
          </a:xfrm>
          <a:noFill/>
        </p:spPr>
        <p:txBody>
          <a:bodyPr/>
          <a:lstStyle/>
          <a:p>
            <a:pPr algn="ctr"/>
            <a:fld id="{01B21840-68F3-4FFC-B3C2-7ACB60D1A538}" type="slidenum">
              <a:rPr lang="en-US" smtClean="0">
                <a:latin typeface="Arial" pitchFamily="34" charset="0"/>
                <a:ea typeface="ＭＳ Ｐゴシック" pitchFamily="34" charset="-128"/>
              </a:rPr>
              <a:pPr algn="ctr"/>
              <a:t>80</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28F669F4-9276-496B-93D2-2D449C30AFA4}"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lIns="90488" tIns="44450" rIns="90488" bIns="44450"/>
          <a:lstStyle/>
          <a:p>
            <a:pPr eaLnBrk="1" hangingPunct="1"/>
            <a:r>
              <a:rPr lang="en-GB" b="1"/>
              <a:t>Step 9: Data Conversion and Loading</a:t>
            </a:r>
          </a:p>
        </p:txBody>
      </p:sp>
      <p:sp>
        <p:nvSpPr>
          <p:cNvPr id="31747" name="Rectangle 3"/>
          <p:cNvSpPr>
            <a:spLocks noGrp="1" noChangeArrowheads="1"/>
          </p:cNvSpPr>
          <p:nvPr>
            <p:ph sz="quarter" idx="1"/>
          </p:nvPr>
        </p:nvSpPr>
        <p:spPr>
          <a:xfrm>
            <a:off x="381000" y="1762125"/>
            <a:ext cx="8534400" cy="4114800"/>
          </a:xfrm>
        </p:spPr>
        <p:txBody>
          <a:bodyPr lIns="90488" tIns="44450" rIns="90488" bIns="44450"/>
          <a:lstStyle/>
          <a:p>
            <a:pPr eaLnBrk="1" hangingPunct="1">
              <a:lnSpc>
                <a:spcPct val="90000"/>
              </a:lnSpc>
              <a:buFontTx/>
              <a:buNone/>
            </a:pPr>
            <a:r>
              <a:rPr lang="en-GB" b="1"/>
              <a:t>Transferring any existing data into new database and converting any existing applications to run on new database.</a:t>
            </a:r>
          </a:p>
          <a:p>
            <a:pPr eaLnBrk="1" hangingPunct="1">
              <a:lnSpc>
                <a:spcPct val="40000"/>
              </a:lnSpc>
              <a:buFontTx/>
              <a:buNone/>
            </a:pPr>
            <a:endParaRPr lang="en-GB"/>
          </a:p>
          <a:p>
            <a:pPr eaLnBrk="1" hangingPunct="1">
              <a:lnSpc>
                <a:spcPct val="90000"/>
              </a:lnSpc>
            </a:pPr>
            <a:r>
              <a:rPr lang="en-GB"/>
              <a:t>Only required when new database system is replacing an old system. </a:t>
            </a:r>
          </a:p>
          <a:p>
            <a:pPr lvl="1" eaLnBrk="1" hangingPunct="1">
              <a:lnSpc>
                <a:spcPct val="90000"/>
              </a:lnSpc>
              <a:buClr>
                <a:schemeClr val="bg2"/>
              </a:buClr>
              <a:buSzPct val="100000"/>
              <a:buFont typeface="Wingdings" pitchFamily="2" charset="2"/>
              <a:buChar char="ü"/>
            </a:pPr>
            <a:r>
              <a:rPr lang="en-GB"/>
              <a:t>DBMS normally has utility that loads existing files into new database. </a:t>
            </a:r>
          </a:p>
          <a:p>
            <a:pPr lvl="1" eaLnBrk="1" hangingPunct="1">
              <a:lnSpc>
                <a:spcPct val="90000"/>
              </a:lnSpc>
            </a:pPr>
            <a:endParaRPr lang="en-GB"/>
          </a:p>
          <a:p>
            <a:pPr eaLnBrk="1" hangingPunct="1">
              <a:lnSpc>
                <a:spcPct val="90000"/>
              </a:lnSpc>
            </a:pPr>
            <a:r>
              <a:rPr lang="en-GB"/>
              <a:t>May be possible to convert and use application programs from old system for use by new system. </a:t>
            </a:r>
          </a:p>
        </p:txBody>
      </p:sp>
      <p:sp>
        <p:nvSpPr>
          <p:cNvPr id="77828" name="Slide Number Placeholder 5"/>
          <p:cNvSpPr>
            <a:spLocks noGrp="1"/>
          </p:cNvSpPr>
          <p:nvPr>
            <p:ph type="sldNum" sz="quarter" idx="12"/>
          </p:nvPr>
        </p:nvSpPr>
        <p:spPr>
          <a:xfrm>
            <a:off x="3124200" y="6248400"/>
            <a:ext cx="2895600" cy="457200"/>
          </a:xfrm>
          <a:noFill/>
        </p:spPr>
        <p:txBody>
          <a:bodyPr/>
          <a:lstStyle/>
          <a:p>
            <a:pPr algn="ctr"/>
            <a:fld id="{0BEC3B36-0E5A-4F10-BFFA-BEC9E0BA32FD}" type="slidenum">
              <a:rPr lang="en-US" smtClean="0">
                <a:latin typeface="Arial" pitchFamily="34" charset="0"/>
                <a:ea typeface="ＭＳ Ｐゴシック" pitchFamily="34" charset="-128"/>
              </a:rPr>
              <a:pPr algn="ctr"/>
              <a:t>81</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64E4E85B-5C78-4320-A4B4-D0E69814A763}"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74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1747">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17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457200" y="1133475"/>
            <a:ext cx="7467600" cy="639763"/>
          </a:xfrm>
        </p:spPr>
        <p:txBody>
          <a:bodyPr lIns="90488" tIns="44450" rIns="90488" bIns="44450"/>
          <a:lstStyle/>
          <a:p>
            <a:pPr eaLnBrk="1" hangingPunct="1"/>
            <a:r>
              <a:rPr lang="en-GB" b="1"/>
              <a:t>Step 10: Testing	</a:t>
            </a:r>
          </a:p>
        </p:txBody>
      </p:sp>
      <p:sp>
        <p:nvSpPr>
          <p:cNvPr id="32771" name="Rectangle 3"/>
          <p:cNvSpPr>
            <a:spLocks noGrp="1" noChangeArrowheads="1"/>
          </p:cNvSpPr>
          <p:nvPr>
            <p:ph sz="quarter" idx="1"/>
          </p:nvPr>
        </p:nvSpPr>
        <p:spPr>
          <a:xfrm>
            <a:off x="457200" y="1792288"/>
            <a:ext cx="8382000" cy="4876800"/>
          </a:xfrm>
        </p:spPr>
        <p:txBody>
          <a:bodyPr lIns="90488" tIns="44450" rIns="90488" bIns="44450"/>
          <a:lstStyle/>
          <a:p>
            <a:pPr eaLnBrk="1" hangingPunct="1">
              <a:lnSpc>
                <a:spcPct val="90000"/>
              </a:lnSpc>
              <a:buFontTx/>
              <a:buNone/>
            </a:pPr>
            <a:r>
              <a:rPr lang="en-GB" b="1"/>
              <a:t>Process of executing application programs with intent of finding errors.</a:t>
            </a:r>
          </a:p>
          <a:p>
            <a:pPr eaLnBrk="1" hangingPunct="1">
              <a:lnSpc>
                <a:spcPct val="40000"/>
              </a:lnSpc>
              <a:buFontTx/>
              <a:buNone/>
            </a:pPr>
            <a:endParaRPr lang="en-GB" b="1"/>
          </a:p>
          <a:p>
            <a:pPr eaLnBrk="1" hangingPunct="1">
              <a:lnSpc>
                <a:spcPct val="90000"/>
              </a:lnSpc>
              <a:spcAft>
                <a:spcPts val="600"/>
              </a:spcAft>
            </a:pPr>
            <a:r>
              <a:rPr lang="en-GB"/>
              <a:t>Use carefully planned test strategies and realistic data. </a:t>
            </a:r>
          </a:p>
          <a:p>
            <a:pPr eaLnBrk="1" hangingPunct="1">
              <a:lnSpc>
                <a:spcPct val="90000"/>
              </a:lnSpc>
              <a:spcAft>
                <a:spcPts val="600"/>
              </a:spcAft>
            </a:pPr>
            <a:r>
              <a:rPr lang="en-GB"/>
              <a:t>Testing cannot show absence of faults; it can show only that software faults are present.</a:t>
            </a:r>
          </a:p>
          <a:p>
            <a:pPr eaLnBrk="1" hangingPunct="1">
              <a:lnSpc>
                <a:spcPct val="90000"/>
              </a:lnSpc>
              <a:spcAft>
                <a:spcPts val="600"/>
              </a:spcAft>
            </a:pPr>
            <a:r>
              <a:rPr lang="en-GB"/>
              <a:t>Demonstrates that database and application programs </a:t>
            </a:r>
            <a:r>
              <a:rPr lang="en-GB" i="1"/>
              <a:t>appear</a:t>
            </a:r>
            <a:r>
              <a:rPr lang="en-GB"/>
              <a:t> to be working according to requirements.</a:t>
            </a:r>
          </a:p>
          <a:p>
            <a:pPr eaLnBrk="1" hangingPunct="1">
              <a:lnSpc>
                <a:spcPct val="90000"/>
              </a:lnSpc>
              <a:spcAft>
                <a:spcPts val="600"/>
              </a:spcAft>
            </a:pPr>
            <a:r>
              <a:rPr lang="en-GB"/>
              <a:t>Important to include users at this stage.</a:t>
            </a:r>
          </a:p>
        </p:txBody>
      </p:sp>
      <p:sp>
        <p:nvSpPr>
          <p:cNvPr id="78852" name="Slide Number Placeholder 5"/>
          <p:cNvSpPr>
            <a:spLocks noGrp="1"/>
          </p:cNvSpPr>
          <p:nvPr>
            <p:ph type="sldNum" sz="quarter" idx="12"/>
          </p:nvPr>
        </p:nvSpPr>
        <p:spPr>
          <a:xfrm>
            <a:off x="3124200" y="6248400"/>
            <a:ext cx="2895600" cy="457200"/>
          </a:xfrm>
          <a:noFill/>
        </p:spPr>
        <p:txBody>
          <a:bodyPr/>
          <a:lstStyle/>
          <a:p>
            <a:pPr algn="ctr"/>
            <a:fld id="{906B2EEB-516B-44A3-B73E-BBC3D873DC49}" type="slidenum">
              <a:rPr lang="en-US" smtClean="0">
                <a:latin typeface="Arial" pitchFamily="34" charset="0"/>
                <a:ea typeface="ＭＳ Ｐゴシック" pitchFamily="34" charset="-128"/>
              </a:rPr>
              <a:pPr algn="ctr"/>
              <a:t>82</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F12302B7-A1FA-48DA-9832-A17FF40E3AC5}"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27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2771">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2771">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27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lIns="90488" tIns="44450" rIns="90488" bIns="44450"/>
          <a:lstStyle/>
          <a:p>
            <a:pPr eaLnBrk="1" hangingPunct="1"/>
            <a:r>
              <a:rPr lang="en-GB" b="1"/>
              <a:t>Step 11: Operational Maintenance</a:t>
            </a:r>
          </a:p>
        </p:txBody>
      </p:sp>
      <p:sp>
        <p:nvSpPr>
          <p:cNvPr id="33795" name="Rectangle 3"/>
          <p:cNvSpPr>
            <a:spLocks noGrp="1" noChangeArrowheads="1"/>
          </p:cNvSpPr>
          <p:nvPr>
            <p:ph sz="quarter" idx="1"/>
          </p:nvPr>
        </p:nvSpPr>
        <p:spPr>
          <a:xfrm>
            <a:off x="588963" y="1773238"/>
            <a:ext cx="7727950" cy="4114800"/>
          </a:xfrm>
        </p:spPr>
        <p:txBody>
          <a:bodyPr lIns="90488" tIns="44450" rIns="90488" bIns="44450"/>
          <a:lstStyle/>
          <a:p>
            <a:pPr eaLnBrk="1" hangingPunct="1">
              <a:lnSpc>
                <a:spcPct val="90000"/>
              </a:lnSpc>
              <a:buFontTx/>
              <a:buNone/>
            </a:pPr>
            <a:r>
              <a:rPr lang="en-GB" b="1"/>
              <a:t>Process of monitoring and maintaining system following installation.</a:t>
            </a:r>
          </a:p>
          <a:p>
            <a:pPr eaLnBrk="1" hangingPunct="1">
              <a:lnSpc>
                <a:spcPct val="30000"/>
              </a:lnSpc>
              <a:buFontTx/>
              <a:buNone/>
            </a:pPr>
            <a:endParaRPr lang="en-GB" b="1"/>
          </a:p>
          <a:p>
            <a:pPr eaLnBrk="1" hangingPunct="1">
              <a:lnSpc>
                <a:spcPct val="90000"/>
              </a:lnSpc>
            </a:pPr>
            <a:r>
              <a:rPr lang="en-GB" b="1"/>
              <a:t>Monitoring performance of system. </a:t>
            </a:r>
          </a:p>
          <a:p>
            <a:pPr lvl="1" eaLnBrk="1" hangingPunct="1">
              <a:lnSpc>
                <a:spcPct val="90000"/>
              </a:lnSpc>
              <a:buClr>
                <a:schemeClr val="bg2"/>
              </a:buClr>
              <a:buSzPct val="100000"/>
              <a:buFont typeface="Wingdings" pitchFamily="2" charset="2"/>
              <a:buChar char="ü"/>
            </a:pPr>
            <a:r>
              <a:rPr lang="en-GB"/>
              <a:t>if performance falls, may require tuning or reorganization of the database.</a:t>
            </a:r>
          </a:p>
          <a:p>
            <a:pPr lvl="1" eaLnBrk="1" hangingPunct="1">
              <a:lnSpc>
                <a:spcPct val="90000"/>
              </a:lnSpc>
            </a:pPr>
            <a:endParaRPr lang="en-GB"/>
          </a:p>
          <a:p>
            <a:pPr eaLnBrk="1" hangingPunct="1">
              <a:lnSpc>
                <a:spcPct val="90000"/>
              </a:lnSpc>
            </a:pPr>
            <a:r>
              <a:rPr lang="en-GB" b="1"/>
              <a:t>Maintaining and upgrading database application (when required). </a:t>
            </a:r>
          </a:p>
          <a:p>
            <a:pPr lvl="1" eaLnBrk="1" hangingPunct="1">
              <a:lnSpc>
                <a:spcPct val="90000"/>
              </a:lnSpc>
              <a:buClr>
                <a:schemeClr val="bg2"/>
              </a:buClr>
              <a:buSzPct val="100000"/>
              <a:buFont typeface="Wingdings" pitchFamily="2" charset="2"/>
              <a:buChar char="ü"/>
            </a:pPr>
            <a:r>
              <a:rPr lang="en-GB"/>
              <a:t>Incorporating new requirements into database application.</a:t>
            </a:r>
          </a:p>
        </p:txBody>
      </p:sp>
      <p:sp>
        <p:nvSpPr>
          <p:cNvPr id="79876" name="Slide Number Placeholder 5"/>
          <p:cNvSpPr>
            <a:spLocks noGrp="1"/>
          </p:cNvSpPr>
          <p:nvPr>
            <p:ph type="sldNum" sz="quarter" idx="12"/>
          </p:nvPr>
        </p:nvSpPr>
        <p:spPr>
          <a:xfrm>
            <a:off x="3124200" y="6248400"/>
            <a:ext cx="2895600" cy="457200"/>
          </a:xfrm>
          <a:noFill/>
        </p:spPr>
        <p:txBody>
          <a:bodyPr/>
          <a:lstStyle/>
          <a:p>
            <a:pPr algn="ctr"/>
            <a:fld id="{9F754205-3B52-4787-AE6C-DE52C355F727}" type="slidenum">
              <a:rPr lang="en-US" smtClean="0">
                <a:latin typeface="Arial" pitchFamily="34" charset="0"/>
                <a:ea typeface="ＭＳ Ｐゴシック" pitchFamily="34" charset="-128"/>
              </a:rPr>
              <a:pPr algn="ctr"/>
              <a:t>83</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B979F38F-D406-4CE5-A462-785D001CC7AF}"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7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37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3795">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379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37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pPr eaLnBrk="1" hangingPunct="1"/>
            <a:r>
              <a:rPr lang="en-US"/>
              <a:t>Operational Maintenance</a:t>
            </a:r>
          </a:p>
        </p:txBody>
      </p:sp>
      <p:sp>
        <p:nvSpPr>
          <p:cNvPr id="80899" name="Content Placeholder 2"/>
          <p:cNvSpPr>
            <a:spLocks noGrp="1"/>
          </p:cNvSpPr>
          <p:nvPr>
            <p:ph sz="quarter" idx="1"/>
          </p:nvPr>
        </p:nvSpPr>
        <p:spPr>
          <a:xfrm>
            <a:off x="560388" y="1795463"/>
            <a:ext cx="7467600" cy="4873625"/>
          </a:xfrm>
        </p:spPr>
        <p:txBody>
          <a:bodyPr/>
          <a:lstStyle/>
          <a:p>
            <a:pPr eaLnBrk="1" hangingPunct="1"/>
            <a:r>
              <a:rPr lang="en-US"/>
              <a:t>The new system and old one should operate in parallel for a while to safeguard against unanticipated problems with the new one.</a:t>
            </a:r>
          </a:p>
          <a:p>
            <a:pPr eaLnBrk="1" hangingPunct="1"/>
            <a:endParaRPr lang="en-US"/>
          </a:p>
          <a:p>
            <a:pPr eaLnBrk="1" hangingPunct="1"/>
            <a:r>
              <a:rPr lang="en-US"/>
              <a:t>Periodic checks on data consistency between the two systems need to be made, and only when the two appear to be producing the same results, should the old one be dropped.</a:t>
            </a:r>
          </a:p>
        </p:txBody>
      </p:sp>
      <p:sp>
        <p:nvSpPr>
          <p:cNvPr id="80900" name="Slide Number Placeholder 3"/>
          <p:cNvSpPr>
            <a:spLocks noGrp="1"/>
          </p:cNvSpPr>
          <p:nvPr>
            <p:ph type="sldNum" sz="quarter" idx="12"/>
          </p:nvPr>
        </p:nvSpPr>
        <p:spPr>
          <a:xfrm>
            <a:off x="3124200" y="6248400"/>
            <a:ext cx="2895600" cy="457200"/>
          </a:xfrm>
          <a:noFill/>
        </p:spPr>
        <p:txBody>
          <a:bodyPr/>
          <a:lstStyle/>
          <a:p>
            <a:pPr algn="ctr"/>
            <a:fld id="{E08A6F10-80D8-4B3B-9359-3CF4E8B10984}" type="slidenum">
              <a:rPr lang="en-US" smtClean="0">
                <a:latin typeface="Arial" pitchFamily="34" charset="0"/>
                <a:ea typeface="ＭＳ Ｐゴシック" pitchFamily="34" charset="-128"/>
              </a:rPr>
              <a:pPr algn="ctr"/>
              <a:t>84</a:t>
            </a:fld>
            <a:endParaRPr lang="en-US">
              <a:latin typeface="Arial" pitchFamily="34" charset="0"/>
              <a:ea typeface="ＭＳ Ｐゴシック" pitchFamily="34" charset="-128"/>
            </a:endParaRPr>
          </a:p>
        </p:txBody>
      </p:sp>
      <p:sp>
        <p:nvSpPr>
          <p:cNvPr id="5" name="Date Placeholder 4"/>
          <p:cNvSpPr>
            <a:spLocks noGrp="1"/>
          </p:cNvSpPr>
          <p:nvPr>
            <p:ph type="dt" sz="half" idx="10"/>
          </p:nvPr>
        </p:nvSpPr>
        <p:spPr/>
        <p:txBody>
          <a:bodyPr/>
          <a:lstStyle/>
          <a:p>
            <a:pPr>
              <a:defRPr/>
            </a:pPr>
            <a:fld id="{13FB1892-19AE-4F56-AEBC-B764382E75D9}" type="datetime1">
              <a:rPr lang="en-US" smtClean="0"/>
              <a:pPr>
                <a:defRPr/>
              </a:pPr>
              <a:t>5/30/2022</a:t>
            </a:fld>
            <a:endParaRPr lang="en-US"/>
          </a:p>
        </p:txBody>
      </p:sp>
      <p:sp>
        <p:nvSpPr>
          <p:cNvPr id="6" name="Footer Placeholder 5"/>
          <p:cNvSpPr>
            <a:spLocks noGrp="1"/>
          </p:cNvSpPr>
          <p:nvPr>
            <p:ph type="ftr" sz="quarter" idx="11"/>
          </p:nvPr>
        </p:nvSpPr>
        <p:spPr/>
        <p:txBody>
          <a:bodyPr/>
          <a:lstStyle/>
          <a:p>
            <a:pPr>
              <a:defRPr/>
            </a:pPr>
            <a:r>
              <a:rPr lang="en-US"/>
              <a:t>BIS1204</a:t>
            </a:r>
          </a:p>
        </p:txBody>
      </p:sp>
    </p:spTree>
  </p:cSld>
  <p:clrMapOvr>
    <a:masterClrMapping/>
  </p:clrMapOvr>
</p:sld>
</file>

<file path=ppt/theme/theme1.xml><?xml version="1.0" encoding="utf-8"?>
<a:theme xmlns:a="http://schemas.openxmlformats.org/drawingml/2006/main" name="Theme1">
  <a:themeElements>
    <a:clrScheme name="Quadrant 4">
      <a:dk1>
        <a:srgbClr val="000000"/>
      </a:dk1>
      <a:lt1>
        <a:srgbClr val="FFFFFF"/>
      </a:lt1>
      <a:dk2>
        <a:srgbClr val="000000"/>
      </a:dk2>
      <a:lt2>
        <a:srgbClr val="CC0000"/>
      </a:lt2>
      <a:accent1>
        <a:srgbClr val="FFCC00"/>
      </a:accent1>
      <a:accent2>
        <a:srgbClr val="3366CC"/>
      </a:accent2>
      <a:accent3>
        <a:srgbClr val="FFFFFF"/>
      </a:accent3>
      <a:accent4>
        <a:srgbClr val="000000"/>
      </a:accent4>
      <a:accent5>
        <a:srgbClr val="FFE2AA"/>
      </a:accent5>
      <a:accent6>
        <a:srgbClr val="2D5CB9"/>
      </a:accent6>
      <a:hlink>
        <a:srgbClr val="666699"/>
      </a:hlink>
      <a:folHlink>
        <a:srgbClr val="C0C0C0"/>
      </a:folHlink>
    </a:clrScheme>
    <a:fontScheme name="Quadrant">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Quadrant 1">
        <a:dk1>
          <a:srgbClr val="5C5674"/>
        </a:dk1>
        <a:lt1>
          <a:srgbClr val="FFFFFF"/>
        </a:lt1>
        <a:dk2>
          <a:srgbClr val="85986A"/>
        </a:dk2>
        <a:lt2>
          <a:srgbClr val="FFFFFF"/>
        </a:lt2>
        <a:accent1>
          <a:srgbClr val="666633"/>
        </a:accent1>
        <a:accent2>
          <a:srgbClr val="ADC5B8"/>
        </a:accent2>
        <a:accent3>
          <a:srgbClr val="C2CAB9"/>
        </a:accent3>
        <a:accent4>
          <a:srgbClr val="DADADA"/>
        </a:accent4>
        <a:accent5>
          <a:srgbClr val="B8B8AD"/>
        </a:accent5>
        <a:accent6>
          <a:srgbClr val="9CB2A6"/>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Quadrant 2">
        <a:dk1>
          <a:srgbClr val="000000"/>
        </a:dk1>
        <a:lt1>
          <a:srgbClr val="FFFFFF"/>
        </a:lt1>
        <a:dk2>
          <a:srgbClr val="420000"/>
        </a:dk2>
        <a:lt2>
          <a:srgbClr val="660000"/>
        </a:lt2>
        <a:accent1>
          <a:srgbClr val="CCCC00"/>
        </a:accent1>
        <a:accent2>
          <a:srgbClr val="999966"/>
        </a:accent2>
        <a:accent3>
          <a:srgbClr val="FFFFFF"/>
        </a:accent3>
        <a:accent4>
          <a:srgbClr val="000000"/>
        </a:accent4>
        <a:accent5>
          <a:srgbClr val="E2E2AA"/>
        </a:accent5>
        <a:accent6>
          <a:srgbClr val="8A8A5C"/>
        </a:accent6>
        <a:hlink>
          <a:srgbClr val="996633"/>
        </a:hlink>
        <a:folHlink>
          <a:srgbClr val="993300"/>
        </a:folHlink>
      </a:clrScheme>
      <a:clrMap bg1="lt1" tx1="dk1" bg2="lt2" tx2="dk2" accent1="accent1" accent2="accent2" accent3="accent3" accent4="accent4" accent5="accent5" accent6="accent6" hlink="hlink" folHlink="folHlink"/>
    </a:extraClrScheme>
    <a:extraClrScheme>
      <a:clrScheme name="Quadrant 3">
        <a:dk1>
          <a:srgbClr val="618052"/>
        </a:dk1>
        <a:lt1>
          <a:srgbClr val="FFFFE3"/>
        </a:lt1>
        <a:dk2>
          <a:srgbClr val="162E36"/>
        </a:dk2>
        <a:lt2>
          <a:srgbClr val="FFFFFF"/>
        </a:lt2>
        <a:accent1>
          <a:srgbClr val="336699"/>
        </a:accent1>
        <a:accent2>
          <a:srgbClr val="69888B"/>
        </a:accent2>
        <a:accent3>
          <a:srgbClr val="ABADAE"/>
        </a:accent3>
        <a:accent4>
          <a:srgbClr val="DADAC2"/>
        </a:accent4>
        <a:accent5>
          <a:srgbClr val="ADB8CA"/>
        </a:accent5>
        <a:accent6>
          <a:srgbClr val="5E7B7D"/>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Quadrant 4">
        <a:dk1>
          <a:srgbClr val="000000"/>
        </a:dk1>
        <a:lt1>
          <a:srgbClr val="FFFFFF"/>
        </a:lt1>
        <a:dk2>
          <a:srgbClr val="000000"/>
        </a:dk2>
        <a:lt2>
          <a:srgbClr val="CC0000"/>
        </a:lt2>
        <a:accent1>
          <a:srgbClr val="FFCC00"/>
        </a:accent1>
        <a:accent2>
          <a:srgbClr val="3366CC"/>
        </a:accent2>
        <a:accent3>
          <a:srgbClr val="FFFFFF"/>
        </a:accent3>
        <a:accent4>
          <a:srgbClr val="000000"/>
        </a:accent4>
        <a:accent5>
          <a:srgbClr val="FFE2AA"/>
        </a:accent5>
        <a:accent6>
          <a:srgbClr val="2D5CB9"/>
        </a:accent6>
        <a:hlink>
          <a:srgbClr val="666699"/>
        </a:hlink>
        <a:folHlink>
          <a:srgbClr val="C0C0C0"/>
        </a:folHlink>
      </a:clrScheme>
      <a:clrMap bg1="lt1" tx1="dk1" bg2="lt2" tx2="dk2" accent1="accent1" accent2="accent2" accent3="accent3" accent4="accent4" accent5="accent5" accent6="accent6" hlink="hlink" folHlink="folHlink"/>
    </a:extraClrScheme>
    <a:extraClrScheme>
      <a:clrScheme name="Quadrant 5">
        <a:dk1>
          <a:srgbClr val="666699"/>
        </a:dk1>
        <a:lt1>
          <a:srgbClr val="FFFFFF"/>
        </a:lt1>
        <a:dk2>
          <a:srgbClr val="000033"/>
        </a:dk2>
        <a:lt2>
          <a:srgbClr val="FFFFFF"/>
        </a:lt2>
        <a:accent1>
          <a:srgbClr val="9966FF"/>
        </a:accent1>
        <a:accent2>
          <a:srgbClr val="CCCCFF"/>
        </a:accent2>
        <a:accent3>
          <a:srgbClr val="AAAAAD"/>
        </a:accent3>
        <a:accent4>
          <a:srgbClr val="DADADA"/>
        </a:accent4>
        <a:accent5>
          <a:srgbClr val="CAB8FF"/>
        </a:accent5>
        <a:accent6>
          <a:srgbClr val="B9B9E7"/>
        </a:accent6>
        <a:hlink>
          <a:srgbClr val="CCCC00"/>
        </a:hlink>
        <a:folHlink>
          <a:srgbClr val="CC9900"/>
        </a:folHlink>
      </a:clrScheme>
      <a:clrMap bg1="dk2" tx1="lt1" bg2="dk1" tx2="lt2" accent1="accent1" accent2="accent2" accent3="accent3" accent4="accent4" accent5="accent5" accent6="accent6" hlink="hlink" folHlink="folHlink"/>
    </a:extraClrScheme>
    <a:extraClrScheme>
      <a:clrScheme name="Quadrant 6">
        <a:dk1>
          <a:srgbClr val="000000"/>
        </a:dk1>
        <a:lt1>
          <a:srgbClr val="FFFFFF"/>
        </a:lt1>
        <a:dk2>
          <a:srgbClr val="000000"/>
        </a:dk2>
        <a:lt2>
          <a:srgbClr val="669966"/>
        </a:lt2>
        <a:accent1>
          <a:srgbClr val="CCCCFF"/>
        </a:accent1>
        <a:accent2>
          <a:srgbClr val="9999CC"/>
        </a:accent2>
        <a:accent3>
          <a:srgbClr val="FFFFFF"/>
        </a:accent3>
        <a:accent4>
          <a:srgbClr val="000000"/>
        </a:accent4>
        <a:accent5>
          <a:srgbClr val="E2E2FF"/>
        </a:accent5>
        <a:accent6>
          <a:srgbClr val="8A8AB9"/>
        </a:accent6>
        <a:hlink>
          <a:srgbClr val="000066"/>
        </a:hlink>
        <a:folHlink>
          <a:srgbClr val="333399"/>
        </a:folHlink>
      </a:clrScheme>
      <a:clrMap bg1="lt1" tx1="dk1" bg2="lt2" tx2="dk2" accent1="accent1" accent2="accent2" accent3="accent3" accent4="accent4" accent5="accent5" accent6="accent6" hlink="hlink" folHlink="folHlink"/>
    </a:extraClrScheme>
    <a:extraClrScheme>
      <a:clrScheme name="Quadrant 7">
        <a:dk1>
          <a:srgbClr val="0099CC"/>
        </a:dk1>
        <a:lt1>
          <a:srgbClr val="FFFFFF"/>
        </a:lt1>
        <a:dk2>
          <a:srgbClr val="000099"/>
        </a:dk2>
        <a:lt2>
          <a:srgbClr val="FFFFFF"/>
        </a:lt2>
        <a:accent1>
          <a:srgbClr val="0099CC"/>
        </a:accent1>
        <a:accent2>
          <a:srgbClr val="6600FF"/>
        </a:accent2>
        <a:accent3>
          <a:srgbClr val="AAAACA"/>
        </a:accent3>
        <a:accent4>
          <a:srgbClr val="DADADA"/>
        </a:accent4>
        <a:accent5>
          <a:srgbClr val="AACAE2"/>
        </a:accent5>
        <a:accent6>
          <a:srgbClr val="5C00E7"/>
        </a:accent6>
        <a:hlink>
          <a:srgbClr val="FFCC00"/>
        </a:hlink>
        <a:folHlink>
          <a:srgbClr val="00CCFF"/>
        </a:folHlink>
      </a:clrScheme>
      <a:clrMap bg1="dk2" tx1="lt1" bg2="dk1" tx2="lt2" accent1="accent1" accent2="accent2" accent3="accent3" accent4="accent4" accent5="accent5" accent6="accent6" hlink="hlink" folHlink="folHlink"/>
    </a:extraClrScheme>
    <a:extraClrScheme>
      <a:clrScheme name="Quadrant 8">
        <a:dk1>
          <a:srgbClr val="000033"/>
        </a:dk1>
        <a:lt1>
          <a:srgbClr val="FFFFFF"/>
        </a:lt1>
        <a:dk2>
          <a:srgbClr val="003366"/>
        </a:dk2>
        <a:lt2>
          <a:srgbClr val="275C6D"/>
        </a:lt2>
        <a:accent1>
          <a:srgbClr val="A7D2DF"/>
        </a:accent1>
        <a:accent2>
          <a:srgbClr val="108DA6"/>
        </a:accent2>
        <a:accent3>
          <a:srgbClr val="FFFFFF"/>
        </a:accent3>
        <a:accent4>
          <a:srgbClr val="00002A"/>
        </a:accent4>
        <a:accent5>
          <a:srgbClr val="D0E5EC"/>
        </a:accent5>
        <a:accent6>
          <a:srgbClr val="0D7F96"/>
        </a:accent6>
        <a:hlink>
          <a:srgbClr val="666699"/>
        </a:hlink>
        <a:folHlink>
          <a:srgbClr val="9999FF"/>
        </a:folHlink>
      </a:clrScheme>
      <a:clrMap bg1="lt1" tx1="dk1" bg2="lt2" tx2="dk2" accent1="accent1" accent2="accent2" accent3="accent3" accent4="accent4" accent5="accent5" accent6="accent6" hlink="hlink" folHlink="folHlink"/>
    </a:extraClrScheme>
    <a:extraClrScheme>
      <a:clrScheme name="Quadrant 9">
        <a:dk1>
          <a:srgbClr val="CC3300"/>
        </a:dk1>
        <a:lt1>
          <a:srgbClr val="FFFFFF"/>
        </a:lt1>
        <a:dk2>
          <a:srgbClr val="000000"/>
        </a:dk2>
        <a:lt2>
          <a:srgbClr val="FFFFCC"/>
        </a:lt2>
        <a:accent1>
          <a:srgbClr val="FF9900"/>
        </a:accent1>
        <a:accent2>
          <a:srgbClr val="993300"/>
        </a:accent2>
        <a:accent3>
          <a:srgbClr val="AAAAAA"/>
        </a:accent3>
        <a:accent4>
          <a:srgbClr val="DADADA"/>
        </a:accent4>
        <a:accent5>
          <a:srgbClr val="FFCAAA"/>
        </a:accent5>
        <a:accent6>
          <a:srgbClr val="8A2D00"/>
        </a:accent6>
        <a:hlink>
          <a:srgbClr val="CEC5A2"/>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database design</Template>
  <TotalTime>2731529</TotalTime>
  <Words>5217</Words>
  <Application>Microsoft Office PowerPoint</Application>
  <PresentationFormat>On-screen Show (4:3)</PresentationFormat>
  <Paragraphs>807</Paragraphs>
  <Slides>84</Slides>
  <Notes>30</Notes>
  <HiddenSlides>1</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84</vt:i4>
      </vt:variant>
    </vt:vector>
  </HeadingPairs>
  <TitlesOfParts>
    <vt:vector size="95" baseType="lpstr">
      <vt:lpstr>ＭＳ Ｐゴシック</vt:lpstr>
      <vt:lpstr>Arial</vt:lpstr>
      <vt:lpstr>Arial Narrow</vt:lpstr>
      <vt:lpstr>Calibri</vt:lpstr>
      <vt:lpstr>Monotype Sorts</vt:lpstr>
      <vt:lpstr>Tahoma</vt:lpstr>
      <vt:lpstr>Times</vt:lpstr>
      <vt:lpstr>Times New Roman</vt:lpstr>
      <vt:lpstr>Wingdings</vt:lpstr>
      <vt:lpstr>Wingdings 2</vt:lpstr>
      <vt:lpstr>Theme1</vt:lpstr>
      <vt:lpstr>LECTURE I </vt:lpstr>
      <vt:lpstr>Objectives</vt:lpstr>
      <vt:lpstr>Data vs. Information</vt:lpstr>
      <vt:lpstr>Data and Information - Relevance</vt:lpstr>
      <vt:lpstr>Data and Information Management</vt:lpstr>
      <vt:lpstr>Manual Filing systems</vt:lpstr>
      <vt:lpstr>FILE-BASED APPROACH</vt:lpstr>
      <vt:lpstr>File-Based Processing</vt:lpstr>
      <vt:lpstr>LIMITATIONS OF FILE-BASED APPROACH</vt:lpstr>
      <vt:lpstr>LIMITATIONS OF FILE-BASED APPROACH</vt:lpstr>
      <vt:lpstr>LECTURE I PART 2 </vt:lpstr>
      <vt:lpstr>Database Approach </vt:lpstr>
      <vt:lpstr>Examples of Database Applications</vt:lpstr>
      <vt:lpstr>DATABASE TERMINOLOGIES</vt:lpstr>
      <vt:lpstr>Examples of DBMS’s </vt:lpstr>
      <vt:lpstr>Characteristics of the Database approach</vt:lpstr>
      <vt:lpstr>Characteristics of the Database approach cont’d</vt:lpstr>
      <vt:lpstr>Database Management System (DBMS)</vt:lpstr>
      <vt:lpstr>DBMS: Database Languages</vt:lpstr>
      <vt:lpstr>Components of DBMS Environment</vt:lpstr>
      <vt:lpstr>Components of DBMS Environment</vt:lpstr>
      <vt:lpstr>Advantages of DBMS</vt:lpstr>
      <vt:lpstr> Disadvantages of DBMS</vt:lpstr>
      <vt:lpstr>ANSI SPARC 3 LEVEL DATABASE ARCHITECTURE</vt:lpstr>
      <vt:lpstr>ANSI-SPARC THREE-LEVEL ARCHITECTURE</vt:lpstr>
      <vt:lpstr>ANSI-SPARC THREE-LEVEL ARCHITECTURE</vt:lpstr>
      <vt:lpstr>ANSI-SPARC THREE-LEVEL ARCHITECTURE</vt:lpstr>
      <vt:lpstr>ANSI-SPARC THREE-LEVEL ARCHITECTURE</vt:lpstr>
      <vt:lpstr>DIFFERENCES BETWEEN THREE LEVELS OF ANSI-SPARC ARCHITECTURE</vt:lpstr>
      <vt:lpstr>Objective of ANSI-SPARC Architecture </vt:lpstr>
      <vt:lpstr>Data Independence, Mapping and the ANSI-SPARC Three-level Architecture</vt:lpstr>
      <vt:lpstr>DATA INDEPENDENCE</vt:lpstr>
      <vt:lpstr>DATA INDEPENDENCE cont’d</vt:lpstr>
      <vt:lpstr>MAPPINGS</vt:lpstr>
      <vt:lpstr>Lecture 1 part 3  Database System Development Life-cycle</vt:lpstr>
      <vt:lpstr>DATABASE SYSTEM DEVELOPMENT LIFECYCLE</vt:lpstr>
      <vt:lpstr>PowerPoint Presentation</vt:lpstr>
      <vt:lpstr>Step 1: Database Planning</vt:lpstr>
      <vt:lpstr>Database Planning – Mission Statement</vt:lpstr>
      <vt:lpstr>Database Planning – Mission Objectives</vt:lpstr>
      <vt:lpstr>Database Planning – Mission Objectives</vt:lpstr>
      <vt:lpstr>Database Planning</vt:lpstr>
      <vt:lpstr>Step 2: System Definition</vt:lpstr>
      <vt:lpstr>System Definition</vt:lpstr>
      <vt:lpstr>System Definition</vt:lpstr>
      <vt:lpstr>Representation of a database application with multiple user views</vt:lpstr>
      <vt:lpstr>Step 3 Requirements Collection and Analysis</vt:lpstr>
      <vt:lpstr>Requirements Collection and Analysis</vt:lpstr>
      <vt:lpstr>Requirements Collection and Analysis</vt:lpstr>
      <vt:lpstr>Requirements Collection and Analysis</vt:lpstr>
      <vt:lpstr>Centralized approach to managing multiple user views </vt:lpstr>
      <vt:lpstr>Requirements Collection and Analysis</vt:lpstr>
      <vt:lpstr>View integration approach to managing multiple user views </vt:lpstr>
      <vt:lpstr>Requirements Collection and Analysis</vt:lpstr>
      <vt:lpstr>Representation of a database application with multiple user views</vt:lpstr>
      <vt:lpstr>What approach wd u use?</vt:lpstr>
      <vt:lpstr>STEP 4: Database Design</vt:lpstr>
      <vt:lpstr>Database Design: Approaches</vt:lpstr>
      <vt:lpstr>Database Design: Data Modeling</vt:lpstr>
      <vt:lpstr>Database Design: Data Modeling</vt:lpstr>
      <vt:lpstr>Database Design: Phases</vt:lpstr>
      <vt:lpstr>Conceptual Database Design</vt:lpstr>
      <vt:lpstr>Conceptual Database Design</vt:lpstr>
      <vt:lpstr>Logical Database Design</vt:lpstr>
      <vt:lpstr>Logical Database Design</vt:lpstr>
      <vt:lpstr>Logical Database Design</vt:lpstr>
      <vt:lpstr>Physical Database Design</vt:lpstr>
      <vt:lpstr>Physical Design Cont’d</vt:lpstr>
      <vt:lpstr>Physical Design Cont’d</vt:lpstr>
      <vt:lpstr>Database Design Conclusion</vt:lpstr>
      <vt:lpstr>Step 5: DBMS Selection (optional)</vt:lpstr>
      <vt:lpstr>DBMS Selection</vt:lpstr>
      <vt:lpstr>STEP 6: Application Design</vt:lpstr>
      <vt:lpstr>Application Design: Transactions</vt:lpstr>
      <vt:lpstr>Application Design: Transactions</vt:lpstr>
      <vt:lpstr>Application Design: Transactions</vt:lpstr>
      <vt:lpstr>Application design: User Interface</vt:lpstr>
      <vt:lpstr>Step 7: Prototyping (optional)</vt:lpstr>
      <vt:lpstr>Prototyping: Strategies</vt:lpstr>
      <vt:lpstr>Step 8: Implementation</vt:lpstr>
      <vt:lpstr>Step 9: Data Conversion and Loading</vt:lpstr>
      <vt:lpstr>Step 10: Testing </vt:lpstr>
      <vt:lpstr>Step 11: Operational Maintenance</vt:lpstr>
      <vt:lpstr>Operational Maintenance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Database Systems</dc:subject>
  <dc:creator>Thomas Connolly &amp; Carolyn Begg</dc:creator>
  <dc:description>Transparencies for Chapter 1 of textbook_x000d_
Database Systems: A Practical Approach to Design, Implementation, and Management</dc:description>
  <cp:lastModifiedBy>user</cp:lastModifiedBy>
  <cp:revision>211</cp:revision>
  <cp:lastPrinted>1997-01-27T16:12:02Z</cp:lastPrinted>
  <dcterms:created xsi:type="dcterms:W3CDTF">2011-09-25T10:10:54Z</dcterms:created>
  <dcterms:modified xsi:type="dcterms:W3CDTF">2022-05-30T11:07:51Z</dcterms:modified>
</cp:coreProperties>
</file>